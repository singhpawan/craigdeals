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promise: FIS already generates every signal it needs to grow margin and cut churn. Today those signals are aggregated into reports. This proposal is about orchestrating them — turning data into decisions and decisions into action, with people firmly in charge of the critical calls. The animation shows it: cyan signals flow in from every source to the brain at the centre, and white actions flow back out. Alternative titles: "The Agentic Organization" or "Heart and Brain: orchestrating intelligence across FIS".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Classic SCR storyline. Situation: the data exists. Complication: it is aggregated, not orchestrated, so value leaks. Resolution: an enterprise brain that senses, decides and acts with humans in the loop. Fill in the value figure once the sizing on the value-at-stake slide is 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staircase left to right. Most organisations, FIS included, are strong at stage 1 and pockets of stage 2. The step change is stage 4: the system does not just tell you what will happen, it takes the next best action and brings people in where judgment matters. Confirm where FIS sits today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signals: contracts, billing, invoicing, tickets, SLAs, incidents, surveys, products, product usage telemetry, vendors, vendor contracts and time tracking. The intelligence layer joins them on a common client, contract and product model, runs five engines, and hands work to ambient agents. Outcomes map to the three goals: margin, retention and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organising framework a practice team would use: each theme answers one executive question and owns a set of use cases. Themes 1 and 4 are about margin, 2 about retention, 3 about growth, and 5 is the steering layer that sits on top. The next five slides take each in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enterprises know revenue by client; few know the true cost to serve. Allocating vendor licensing, contractor time and employee time to contracts, clients and products gives real margin. The matrix then turns that into action: invest, nurture, reprice or exit. This also feeds renewal pricing so we stop renewing unprofitable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client almost always tells us they are unhappy, just not in words. Incidents, SLA breaches, aging tickets, survey dips and falling usage form a chain that precedes escalation. The agent watches that chain against the renewal calendar and intervenes before the client raises the issue. Compression matters as much as churn: a renewal at a lower price or reduced scope is a quiet 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Collaborative filtering is how streaming services recommend what to watch next; here it recommends what each client should buy next, based on what similar clients already own. Each recommendation becomes a ready-made pitch with peer evidence. Aggregating the same analysis across segments, products and regions shows whitespace: where to enter new markets and territories. Replace the placeholders with FIS segments and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usually the fastest, self-funding win. The engine reads what was signed, compares it line by line to what was billed and used, and packages any gap with the evidence a client will accept: the clause, the usage proof and the invoice history. Contract analysis uses the same engine to compare terms across contracts and flag non-standard clauses. Size the recovery from a pilot line of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leadership layer. Because every contract, renewal and risk score is live, the portfolio view, the revenue and cash forecast and the capital allocation decision all draw on the same numbers. Capital moves toward products and segments with expanding margin and renewal strength, and away from those compressing.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wheel clockwise from the top. Signals flow into the enterprise brain. The Client Office uses them to fix product quality and client experience before the client raises an issue. That earns the Commercial Office the right to renew, upsell and cross-sell. Better retention, recovered revenue and true cost-to-serve lift margin and cut churn and compression. The CSO reallocates that freed capital in real time: grow, sustain or fix, and build, partner or buy to close portfolio gaps. Product investment creates better products, more usage and more signal, and the wheel turns faster. Two speeds: the operating loop runs weekly; the strategic loop moves from the annual budget cycle to continuous allocation. Source: BCG, The Widening AI Value Gap, September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human-agent collaboration framework. Ambient agents run continuously in the background. Confidence and business impact decide who acts: the agent alone, the agent with one-click approval, or a person with the agent's evidence. Thresholds are set by policy and every action is auditable, which matters in a regulated business. As agents prove accurate, thresholds can move and autonomy grows.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emotional centre of the story. This is not about replacing people; it is about amplifying them. The brain takes on the monitoring, reconciling and drafting; the heart spends its time with clients and on the calls that need judgment. Together they work as one: a symphony of the heart and the brain.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people × 1,800 productive hours × share of time on the workflow × share agents take over. Client service: 8,800 people, 30% of time on triage, incident and SLA summaries, 40% automated. FP&amp;A, BI and strategy: 1,056 (40% of time, 50% automated). Billing and finance ops: 1,584 (25%, 50%). Renewal and account health: 990 (20%, 50%). Deal desk and legal ops: 360 (50%, 40%). Cross-sell, upsell and sales: 900 (10%, 50%). Procurement and vendor management: 240 (30%, 50%). The total, 1,717 FTEs, is about 4% of FIS's workforce and 12% of the time in scope. How it lands in the value case: only 15% of the $170M capacity is counted as hard EBITDA ($26M), through attrition and hiring avoided as FIS grows. The other 85% is redeployed into proactive client work, which is what delivers the churn, compression and growth levers on the next slide, so it is not counted twice. Position this as capacity released, not headcount 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Baselines come from FIS's FY2025 results: revenue of $10,677M, recurring revenue of $8,543M (80%), adjusted EBITDA of $4,331M at a 40.6% margin, and 6% adjusted revenue growth. Labor capacity comes from the previous slide: 3.09M hours (about 1,720 FTEs) worth $170M at $55 an hour; only 15% ($26M) is counted as hard savings, and the redeployed 85% is what delivers the churn, compression and growth levers, so it is not double counted. Revenue recovery: MGI Research puts revenue leakage at 3 to 5% of revenue. We assume only 2% on recurring revenue because FIS's billing is mature, which is $171M. Recovering 40% gives $68M a year, and BCG finds about 95% of revenue-assurance value flows to the bottom line. A two-year contractual look-back could add a one-time back-bill of roughly $137M, where contracts allow. FIS does not disclose churn and compression, so the 3.0% and 1.0% figures are assumptions to replace with internal data. Volume levers (churn, growth) are converted to EBITDA at the 40.6% average margin, which is conservative because retained revenue usually carries a higher incremental margin. Scale-up: FIS's 2026 outlook of about $13.8B in revenue, including acquisitions, would lift these figures by roughly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Sequence by value and data readiness, compressed into four months on the pilot line of business. Month 1 uses the data that is easiest to join, contracts and billing, to deliver revenue recovery and cost-to-serve: hard dollars that fund what follows. Months 2 and 3 add the operational signals that power prediction. Month 4 hands work to ambient agents under clear guardrails and ends with a scale-up decision for the rest of FIS. This pace assumes data access is granted in week one and a dedicated pilot team; timings should be validated with data owners.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three concrete asks: a sponsor, a pilot line of business and data access. The 30-day revenue recovery pilot, the first step of the four-month roadmap, proves the platform with hard dollars and builds the data foundation for every other theme.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BF9"/>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759420"/>
          </a:xfrm>
          <a:prstGeom prst="rect">
            <a:avLst/>
          </a:prstGeom>
          <a:noFill/>
          <a:ln/>
        </p:spPr>
        <p:txBody>
          <a:bodyPr wrap="square" lIns="0" tIns="0" rIns="0" bIns="0" rtlCol="0" anchor="t"/>
          <a:lstStyle>
            <a:lvl1pPr algn="l" indent="0" marL="0">
              <a:lnSpc>
                <a:spcPct val="115000"/>
              </a:lnSpc>
              <a:buNone/>
              <a:defRPr lang="en-US" sz="2600" dirty="0">
                <a:solidFill>
                  <a:srgbClr val="051C2C"/>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2600" dirty="0"/>
          </a:p>
        </p:txBody>
      </p:sp>
      <p:sp>
        <p:nvSpPr>
          <p:cNvPr id="3" name="Text Placeholder 2"/>
          <p:cNvSpPr/>
          <p:nvPr>
            <p:ph idx="101" type="body"/>
          </p:nvPr>
        </p:nvSpPr>
        <p:spPr>
          <a:xfrm>
            <a:off x="812800" y="2191941"/>
            <a:ext cx="10566400" cy="3853259"/>
          </a:xfrm>
          <a:prstGeom prst="rect">
            <a:avLst/>
          </a:prstGeom>
          <a:noFill/>
          <a:ln/>
        </p:spPr>
        <p:txBody>
          <a:bodyPr wrap="square" lIns="0" tIns="0" rIns="0" bIns="0" rtlCol="0" anchor="t"/>
          <a:lstStyle>
            <a:lvl1pPr algn="l" indent="0" marL="0">
              <a:lnSpc>
                <a:spcPct val="140000"/>
              </a:lnSpc>
              <a:buNone/>
              <a:defRPr lang="en-US" sz="1600" dirty="0">
                <a:solidFill>
                  <a:srgbClr val="051C2C"/>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BF9"/>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759420"/>
          </a:xfrm>
          <a:prstGeom prst="rect">
            <a:avLst/>
          </a:prstGeom>
          <a:noFill/>
          <a:ln/>
        </p:spPr>
        <p:txBody>
          <a:bodyPr wrap="square" lIns="0" tIns="0" rIns="0" bIns="0" rtlCol="0" anchor="t"/>
          <a:lstStyle>
            <a:lvl1pPr algn="l" indent="0" marL="0">
              <a:lnSpc>
                <a:spcPct val="115000"/>
              </a:lnSpc>
              <a:buNone/>
              <a:defRPr lang="en-US" sz="2600" dirty="0">
                <a:solidFill>
                  <a:srgbClr val="051C2C"/>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2600" dirty="0"/>
          </a:p>
        </p:txBody>
      </p:sp>
      <p:sp>
        <p:nvSpPr>
          <p:cNvPr id="3" name="Text Placeholder 2"/>
          <p:cNvSpPr/>
          <p:nvPr>
            <p:ph idx="101" type="body"/>
          </p:nvPr>
        </p:nvSpPr>
        <p:spPr>
          <a:xfrm>
            <a:off x="812800" y="2191941"/>
            <a:ext cx="10566400" cy="3853259"/>
          </a:xfrm>
          <a:prstGeom prst="rect">
            <a:avLst/>
          </a:prstGeom>
          <a:noFill/>
          <a:ln/>
        </p:spPr>
        <p:txBody>
          <a:bodyPr wrap="square" lIns="0" tIns="0" rIns="0" bIns="0" rtlCol="0" anchor="t"/>
          <a:lstStyle>
            <a:lvl1pPr algn="l" indent="0" marL="0">
              <a:lnSpc>
                <a:spcPct val="140000"/>
              </a:lnSpc>
              <a:buNone/>
              <a:defRPr lang="en-US" sz="1600" dirty="0">
                <a:solidFill>
                  <a:srgbClr val="051C2C"/>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1C2C"/>
        </a:solidFill>
      </p:bgPr>
    </p:bg>
    <p:spTree>
      <p:nvGrpSpPr>
        <p:cNvPr id="1" name=""/>
        <p:cNvGrpSpPr/>
        <p:nvPr/>
      </p:nvGrpSpPr>
      <p:grpSpPr>
        <a:xfrm>
          <a:off x="0" y="0"/>
          <a:ext cx="0" cy="0"/>
          <a:chOff x="0" y="0"/>
          <a:chExt cx="0" cy="0"/>
        </a:xfrm>
      </p:grpSpPr>
      <p:pic>
        <p:nvPicPr>
          <p:cNvPr id="2" name="Image 0" descr="web embed">    </p:cNvPr>
          <p:cNvPicPr>
            <a:picLocks noChangeAspect="1"/>
          </p:cNvPicPr>
          <p:nvPr/>
        </p:nvPicPr>
        <p:blipFill>
          <a:blip r:embed="rId1"/>
          <a:srcRect l="0" r="0" t="0" b="0"/>
          <a:stretch/>
        </p:blipFill>
        <p:spPr>
          <a:xfrm>
            <a:off x="7518400" y="1397000"/>
            <a:ext cx="4064000" cy="4064000"/>
          </a:xfrm>
          <a:prstGeom prst="rect">
            <a:avLst/>
          </a:prstGeom>
        </p:spPr>
      </p:pic>
      <p:sp>
        <p:nvSpPr>
          <p:cNvPr id="3" name="Shape 0"/>
          <p:cNvSpPr/>
          <p:nvPr/>
        </p:nvSpPr>
        <p:spPr>
          <a:xfrm>
            <a:off x="812800" y="1506786"/>
            <a:ext cx="762000" cy="38100"/>
          </a:xfrm>
          <a:prstGeom prst="rect">
            <a:avLst/>
          </a:prstGeom>
          <a:solidFill>
            <a:srgbClr val="2251FF"/>
          </a:solidFill>
          <a:ln/>
        </p:spPr>
      </p:sp>
      <p:sp>
        <p:nvSpPr>
          <p:cNvPr id="4" name="Text 1"/>
          <p:cNvSpPr/>
          <p:nvPr/>
        </p:nvSpPr>
        <p:spPr>
          <a:xfrm>
            <a:off x="812800" y="1798886"/>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00A9F4"/>
                </a:solidFill>
                <a:latin typeface="Inter" pitchFamily="34" charset="0"/>
                <a:ea typeface="Inter" pitchFamily="34" charset="-122"/>
                <a:cs typeface="Inter" pitchFamily="34" charset="-120"/>
              </a:rPr>
              <a:t>ENTERPRISE INTELLIGENCE</a:t>
            </a:r>
            <a:endParaRPr lang="en-US" sz="1400" dirty="0"/>
          </a:p>
        </p:txBody>
      </p:sp>
      <p:sp>
        <p:nvSpPr>
          <p:cNvPr id="5" name="Text 2"/>
          <p:cNvSpPr/>
          <p:nvPr>
            <p:ph type="title"/>
          </p:nvPr>
        </p:nvSpPr>
        <p:spPr>
          <a:xfrm>
            <a:off x="812800" y="2301776"/>
            <a:ext cx="6802120" cy="2000498"/>
          </a:xfrm>
          <a:prstGeom prst="rect">
            <a:avLst/>
          </a:prstGeom>
          <a:noFill/>
          <a:ln/>
        </p:spPr>
        <p:txBody>
          <a:bodyPr wrap="square" lIns="0" tIns="0" rIns="0" bIns="0" rtlCol="0" anchor="t">
            <a:normAutofit/>
          </a:bodyPr>
          <a:lstStyle/>
          <a:p>
            <a:pPr algn="l" indent="0" marL="0">
              <a:lnSpc>
                <a:spcPts val="5184"/>
              </a:lnSpc>
              <a:buNone/>
            </a:pPr>
            <a:r>
              <a:rPr lang="en-US" sz="4800" b="0" i="0" dirty="0">
                <a:solidFill>
                  <a:srgbClr val="F4F6F8"/>
                </a:solidFill>
                <a:latin typeface="Source Serif 4" pitchFamily="18" charset="0"/>
                <a:ea typeface="Source Serif 4" pitchFamily="18" charset="-122"/>
                <a:cs typeface="Source Serif 4" pitchFamily="18" charset="-120"/>
              </a:rPr>
              <a:t>From aggregated to orchestrated intelligence</a:t>
            </a:r>
            <a:endParaRPr lang="en-US" sz="4800" dirty="0"/>
          </a:p>
        </p:txBody>
      </p:sp>
      <p:sp>
        <p:nvSpPr>
          <p:cNvPr id="6" name="Text 3"/>
          <p:cNvSpPr/>
          <p:nvPr/>
        </p:nvSpPr>
        <p:spPr>
          <a:xfrm>
            <a:off x="812800" y="4530874"/>
            <a:ext cx="6278880"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C9D4DD"/>
                </a:solidFill>
                <a:latin typeface="Inter" pitchFamily="34" charset="0"/>
                <a:ea typeface="Inter" pitchFamily="34" charset="-122"/>
                <a:cs typeface="Inter" pitchFamily="34" charset="-120"/>
              </a:rPr>
              <a:t>Unlocking FIS by driving commercial and operational excellence</a:t>
            </a:r>
            <a:endParaRPr lang="en-US" sz="1800" dirty="0"/>
          </a:p>
        </p:txBody>
      </p:sp>
      <p:sp>
        <p:nvSpPr>
          <p:cNvPr id="7" name="Text 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3"/>
                </a:solidFill>
                <a:latin typeface="Inter" pitchFamily="34" charset="0"/>
                <a:ea typeface="Inter" pitchFamily="34" charset="-122"/>
                <a:cs typeface="Inter" pitchFamily="34" charset="-120"/>
              </a:rPr>
              <a:t>Pawandeep Singh</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251FF"/>
                </a:solidFill>
                <a:latin typeface="Inter" pitchFamily="34" charset="0"/>
                <a:ea typeface="Inter" pitchFamily="34" charset="-122"/>
                <a:cs typeface="Inter" pitchFamily="34" charset="-120"/>
              </a:rPr>
              <a:t>EXECUTIVE SUMMARY</a:t>
            </a:r>
            <a:endParaRPr lang="en-US" sz="1200" dirty="0"/>
          </a:p>
        </p:txBody>
      </p:sp>
      <p:sp>
        <p:nvSpPr>
          <p:cNvPr id="3" name="Text 1"/>
          <p:cNvSpPr/>
          <p:nvPr>
            <p:ph type="title"/>
          </p:nvPr>
        </p:nvSpPr>
        <p:spPr>
          <a:xfrm>
            <a:off x="812800" y="1127720"/>
            <a:ext cx="10883392" cy="784820"/>
          </a:xfrm>
          <a:prstGeom prst="rect">
            <a:avLst/>
          </a:prstGeom>
          <a:noFill/>
          <a:ln/>
        </p:spPr>
        <p:txBody>
          <a:bodyPr wrap="square" lIns="0" tIns="0" rIns="0" bIns="0" rtlCol="0" anchor="t">
            <a:normAutofit/>
          </a:bodyPr>
          <a:lstStyle/>
          <a:p>
            <a:pPr algn="l" indent="0" marL="0">
              <a:lnSpc>
                <a:spcPts val="2990"/>
              </a:lnSpc>
              <a:buNone/>
            </a:pPr>
            <a:r>
              <a:rPr lang="en-US" sz="2600" b="0" i="0" dirty="0">
                <a:solidFill>
                  <a:srgbClr val="051C2C"/>
                </a:solidFill>
                <a:latin typeface="Source Serif 4" pitchFamily="18" charset="0"/>
                <a:ea typeface="Source Serif 4" pitchFamily="18" charset="-122"/>
                <a:cs typeface="Source Serif 4" pitchFamily="18" charset="-120"/>
              </a:rPr>
              <a:t>FIS already owns the signals to expand margin and reduce churn; an orchestrated intelligence layer turns them into action</a:t>
            </a:r>
            <a:endParaRPr lang="en-US" sz="2600" dirty="0"/>
          </a:p>
        </p:txBody>
      </p:sp>
      <p:sp>
        <p:nvSpPr>
          <p:cNvPr id="4" name="Shape 2"/>
          <p:cNvSpPr/>
          <p:nvPr/>
        </p:nvSpPr>
        <p:spPr>
          <a:xfrm>
            <a:off x="812800" y="2198291"/>
            <a:ext cx="10566400" cy="0"/>
          </a:xfrm>
          <a:prstGeom prst="line">
            <a:avLst/>
          </a:prstGeom>
          <a:noFill/>
          <a:ln w="12700">
            <a:solidFill>
              <a:srgbClr val="051C2C"/>
            </a:solidFill>
            <a:prstDash val="solid"/>
          </a:ln>
        </p:spPr>
      </p:sp>
      <p:sp>
        <p:nvSpPr>
          <p:cNvPr id="5" name="Text 3"/>
          <p:cNvSpPr/>
          <p:nvPr/>
        </p:nvSpPr>
        <p:spPr>
          <a:xfrm>
            <a:off x="812800" y="2357041"/>
            <a:ext cx="1962150" cy="48766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51FF"/>
                </a:solidFill>
                <a:latin typeface="Inter" pitchFamily="34" charset="0"/>
                <a:ea typeface="Inter" pitchFamily="34" charset="-122"/>
                <a:cs typeface="Inter" pitchFamily="34" charset="-120"/>
              </a:rPr>
              <a:t>Situation</a:t>
            </a:r>
            <a:endParaRPr lang="en-US" sz="1300" dirty="0"/>
          </a:p>
        </p:txBody>
      </p:sp>
      <p:sp>
        <p:nvSpPr>
          <p:cNvPr id="6" name="Text 4"/>
          <p:cNvSpPr/>
          <p:nvPr/>
        </p:nvSpPr>
        <p:spPr>
          <a:xfrm>
            <a:off x="2971800" y="2357041"/>
            <a:ext cx="8659622"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4323D"/>
                </a:solidFill>
                <a:latin typeface="Inter" pitchFamily="34" charset="0"/>
                <a:ea typeface="Inter" pitchFamily="34" charset="-122"/>
                <a:cs typeface="Inter" pitchFamily="34" charset="-120"/>
              </a:rPr>
              <a:t>FIS generates rich signals every day: contracts, billing, invoicing, tickets, SLAs, incidents, surveys, product telemetry, vendor costs and time tracking.</a:t>
            </a:r>
            <a:endParaRPr lang="en-US" sz="1300" dirty="0"/>
          </a:p>
        </p:txBody>
      </p:sp>
      <p:sp>
        <p:nvSpPr>
          <p:cNvPr id="7" name="Shape 5"/>
          <p:cNvSpPr/>
          <p:nvPr/>
        </p:nvSpPr>
        <p:spPr>
          <a:xfrm>
            <a:off x="812800" y="2974876"/>
            <a:ext cx="10566400" cy="0"/>
          </a:xfrm>
          <a:prstGeom prst="line">
            <a:avLst/>
          </a:prstGeom>
          <a:noFill/>
          <a:ln w="6350">
            <a:solidFill>
              <a:srgbClr val="C9D1D8"/>
            </a:solidFill>
            <a:prstDash val="solid"/>
          </a:ln>
        </p:spPr>
      </p:sp>
      <p:sp>
        <p:nvSpPr>
          <p:cNvPr id="8" name="Text 6"/>
          <p:cNvSpPr/>
          <p:nvPr/>
        </p:nvSpPr>
        <p:spPr>
          <a:xfrm>
            <a:off x="812800" y="3130451"/>
            <a:ext cx="1962150" cy="48766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51FF"/>
                </a:solidFill>
                <a:latin typeface="Inter" pitchFamily="34" charset="0"/>
                <a:ea typeface="Inter" pitchFamily="34" charset="-122"/>
                <a:cs typeface="Inter" pitchFamily="34" charset="-120"/>
              </a:rPr>
              <a:t>Complication</a:t>
            </a:r>
            <a:endParaRPr lang="en-US" sz="1300" dirty="0"/>
          </a:p>
        </p:txBody>
      </p:sp>
      <p:sp>
        <p:nvSpPr>
          <p:cNvPr id="9" name="Text 7"/>
          <p:cNvSpPr/>
          <p:nvPr/>
        </p:nvSpPr>
        <p:spPr>
          <a:xfrm>
            <a:off x="2971800" y="3130451"/>
            <a:ext cx="8659622"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4323D"/>
                </a:solidFill>
                <a:latin typeface="Inter" pitchFamily="34" charset="0"/>
                <a:ea typeface="Inter" pitchFamily="34" charset="-122"/>
                <a:cs typeface="Inter" pitchFamily="34" charset="-120"/>
              </a:rPr>
              <a:t>The signals sit in silos and are aggregated into backward-looking reports. Margin leaks through unbilled SKUs and unknown cost-to-serve; churn and compression surface only at renewal, too late to act.</a:t>
            </a:r>
            <a:endParaRPr lang="en-US" sz="1300" dirty="0"/>
          </a:p>
        </p:txBody>
      </p:sp>
      <p:sp>
        <p:nvSpPr>
          <p:cNvPr id="10" name="Shape 8"/>
          <p:cNvSpPr/>
          <p:nvPr/>
        </p:nvSpPr>
        <p:spPr>
          <a:xfrm>
            <a:off x="812800" y="3748286"/>
            <a:ext cx="10566400" cy="0"/>
          </a:xfrm>
          <a:prstGeom prst="line">
            <a:avLst/>
          </a:prstGeom>
          <a:noFill/>
          <a:ln w="6350">
            <a:solidFill>
              <a:srgbClr val="C9D1D8"/>
            </a:solidFill>
            <a:prstDash val="solid"/>
          </a:ln>
        </p:spPr>
      </p:sp>
      <p:sp>
        <p:nvSpPr>
          <p:cNvPr id="11" name="Text 9"/>
          <p:cNvSpPr/>
          <p:nvPr/>
        </p:nvSpPr>
        <p:spPr>
          <a:xfrm>
            <a:off x="812800" y="3903861"/>
            <a:ext cx="1962150" cy="48766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51FF"/>
                </a:solidFill>
                <a:latin typeface="Inter" pitchFamily="34" charset="0"/>
                <a:ea typeface="Inter" pitchFamily="34" charset="-122"/>
                <a:cs typeface="Inter" pitchFamily="34" charset="-120"/>
              </a:rPr>
              <a:t>Resolution</a:t>
            </a:r>
            <a:endParaRPr lang="en-US" sz="1300" dirty="0"/>
          </a:p>
        </p:txBody>
      </p:sp>
      <p:sp>
        <p:nvSpPr>
          <p:cNvPr id="12" name="Text 10"/>
          <p:cNvSpPr/>
          <p:nvPr/>
        </p:nvSpPr>
        <p:spPr>
          <a:xfrm>
            <a:off x="2971800" y="3903861"/>
            <a:ext cx="8659622"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4323D"/>
                </a:solidFill>
                <a:latin typeface="Inter" pitchFamily="34" charset="0"/>
                <a:ea typeface="Inter" pitchFamily="34" charset="-122"/>
                <a:cs typeface="Inter" pitchFamily="34" charset="-120"/>
              </a:rPr>
              <a:t>An Enterprise Intelligence layer, an "enterprise brain" of ambient agents, unifies the signals, predicts risk and opportunity, and acts: automatically on high-confidence decisions, with people on critical ones.</a:t>
            </a:r>
            <a:endParaRPr lang="en-US" sz="1300" dirty="0"/>
          </a:p>
        </p:txBody>
      </p:sp>
      <p:sp>
        <p:nvSpPr>
          <p:cNvPr id="13" name="Shape 11"/>
          <p:cNvSpPr/>
          <p:nvPr/>
        </p:nvSpPr>
        <p:spPr>
          <a:xfrm>
            <a:off x="812800" y="4521696"/>
            <a:ext cx="10566400" cy="0"/>
          </a:xfrm>
          <a:prstGeom prst="line">
            <a:avLst/>
          </a:prstGeom>
          <a:noFill/>
          <a:ln w="6350">
            <a:solidFill>
              <a:srgbClr val="C9D1D8"/>
            </a:solidFill>
            <a:prstDash val="solid"/>
          </a:ln>
        </p:spPr>
      </p:sp>
      <p:sp>
        <p:nvSpPr>
          <p:cNvPr id="14" name="Shape 12"/>
          <p:cNvSpPr/>
          <p:nvPr/>
        </p:nvSpPr>
        <p:spPr>
          <a:xfrm>
            <a:off x="812800" y="5295106"/>
            <a:ext cx="10566400" cy="0"/>
          </a:xfrm>
          <a:prstGeom prst="line">
            <a:avLst/>
          </a:prstGeom>
          <a:noFill/>
          <a:ln w="6350">
            <a:solidFill>
              <a:srgbClr val="C9D1D8"/>
            </a:solidFill>
            <a:prstDash val="solid"/>
          </a:ln>
        </p:spPr>
      </p:sp>
      <p:sp>
        <p:nvSpPr>
          <p:cNvPr id="15" name="Text 13"/>
          <p:cNvSpPr/>
          <p:nvPr/>
        </p:nvSpPr>
        <p:spPr>
          <a:xfrm>
            <a:off x="812800" y="4677271"/>
            <a:ext cx="1962150" cy="48766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251FF"/>
                </a:solidFill>
                <a:latin typeface="Inter" pitchFamily="34" charset="0"/>
                <a:ea typeface="Inter" pitchFamily="34" charset="-122"/>
                <a:cs typeface="Inter" pitchFamily="34" charset="-120"/>
              </a:rPr>
              <a:t>Impact</a:t>
            </a:r>
            <a:endParaRPr lang="en-US" sz="1300" dirty="0"/>
          </a:p>
        </p:txBody>
      </p:sp>
      <p:sp>
        <p:nvSpPr>
          <p:cNvPr id="16" name="Text 14"/>
          <p:cNvSpPr/>
          <p:nvPr/>
        </p:nvSpPr>
        <p:spPr>
          <a:xfrm>
            <a:off x="2971800" y="4677271"/>
            <a:ext cx="8659622"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4323D"/>
                </a:solidFill>
                <a:latin typeface="Inter" pitchFamily="34" charset="0"/>
                <a:ea typeface="Inter" pitchFamily="34" charset="-122"/>
                <a:cs typeface="Inter" pitchFamily="34" charset="-120"/>
              </a:rPr>
              <a:t>Five value themes and eleven use cases, sized at </a:t>
            </a:r>
            <a:r>
              <a:rPr lang="en-US" sz="1300" b="1" dirty="0">
                <a:solidFill>
                  <a:srgbClr val="24323D"/>
                </a:solidFill>
                <a:latin typeface="Inter" pitchFamily="34" charset="0"/>
                <a:ea typeface="Inter" pitchFamily="34" charset="-122"/>
                <a:cs typeface="Inter" pitchFamily="34" charset="-120"/>
              </a:rPr>
              <a:t>[$__M]</a:t>
            </a:r>
            <a:r>
              <a:rPr lang="en-US" sz="1300" dirty="0">
                <a:solidFill>
                  <a:srgbClr val="24323D"/>
                </a:solidFill>
                <a:latin typeface="Inter" pitchFamily="34" charset="0"/>
                <a:ea typeface="Inter" pitchFamily="34" charset="-122"/>
                <a:cs typeface="Inter" pitchFamily="34" charset="-120"/>
              </a:rPr>
              <a:t> in annual value, with revenue recovery and cost-to-serve funding the first wave.</a:t>
            </a:r>
            <a:endParaRPr lang="en-US" sz="1300" dirty="0"/>
          </a:p>
        </p:txBody>
      </p:sp>
      <p:sp>
        <p:nvSpPr>
          <p:cNvPr id="17" name="Text 15"/>
          <p:cNvSpPr/>
          <p:nvPr/>
        </p:nvSpPr>
        <p:spPr>
          <a:xfrm>
            <a:off x="812800" y="6238280"/>
            <a:ext cx="23665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0"/>
                </a:solidFill>
                <a:latin typeface="Inter" pitchFamily="34" charset="0"/>
                <a:ea typeface="Inter" pitchFamily="34" charset="-122"/>
                <a:cs typeface="Inter" pitchFamily="34" charset="-120"/>
              </a:rPr>
              <a:t>Enterprise Intelligence | FIS</a:t>
            </a:r>
            <a:endParaRPr lang="en-US" sz="1200" dirty="0"/>
          </a:p>
        </p:txBody>
      </p:sp>
      <p:sp>
        <p:nvSpPr>
          <p:cNvPr id="18" name="Text 16"/>
          <p:cNvSpPr/>
          <p:nvPr/>
        </p:nvSpPr>
        <p:spPr>
          <a:xfrm>
            <a:off x="11235432" y="6238280"/>
            <a:ext cx="14376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0"/>
                </a:solidFill>
                <a:latin typeface="Inter" pitchFamily="34" charset="0"/>
                <a:ea typeface="Inter" pitchFamily="34" charset="-122"/>
                <a:cs typeface="Inter"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251FF"/>
                </a:solidFill>
                <a:latin typeface="Inter" pitchFamily="34" charset="0"/>
                <a:ea typeface="Inter" pitchFamily="34" charset="-122"/>
                <a:cs typeface="Inter" pitchFamily="34" charset="-120"/>
              </a:rPr>
              <a:t>THE SHIFT</a:t>
            </a:r>
            <a:endParaRPr lang="en-US" sz="1200" dirty="0"/>
          </a:p>
        </p:txBody>
      </p:sp>
      <p:sp>
        <p:nvSpPr>
          <p:cNvPr id="3" name="Text 1"/>
          <p:cNvSpPr/>
          <p:nvPr>
            <p:ph type="title"/>
          </p:nvPr>
        </p:nvSpPr>
        <p:spPr>
          <a:xfrm>
            <a:off x="812800" y="1127720"/>
            <a:ext cx="10883392" cy="784820"/>
          </a:xfrm>
          <a:prstGeom prst="rect">
            <a:avLst/>
          </a:prstGeom>
          <a:noFill/>
          <a:ln/>
        </p:spPr>
        <p:txBody>
          <a:bodyPr wrap="square" lIns="0" tIns="0" rIns="0" bIns="0" rtlCol="0" anchor="t">
            <a:normAutofit/>
          </a:bodyPr>
          <a:lstStyle/>
          <a:p>
            <a:pPr algn="l" indent="0" marL="0">
              <a:lnSpc>
                <a:spcPts val="2990"/>
              </a:lnSpc>
              <a:buNone/>
            </a:pPr>
            <a:r>
              <a:rPr lang="en-US" sz="2600" b="0" i="0" dirty="0">
                <a:solidFill>
                  <a:srgbClr val="051C2C"/>
                </a:solidFill>
                <a:latin typeface="Source Serif 4" pitchFamily="18" charset="0"/>
                <a:ea typeface="Source Serif 4" pitchFamily="18" charset="-122"/>
                <a:cs typeface="Source Serif 4" pitchFamily="18" charset="-120"/>
              </a:rPr>
              <a:t>Most enterprises stop at aggregation; the value lies in orchestration</a:t>
            </a:r>
            <a:endParaRPr lang="en-US" sz="2600" dirty="0"/>
          </a:p>
        </p:txBody>
      </p:sp>
      <p:sp>
        <p:nvSpPr>
          <p:cNvPr id="4" name="Text 2"/>
          <p:cNvSpPr/>
          <p:nvPr/>
        </p:nvSpPr>
        <p:spPr>
          <a:xfrm>
            <a:off x="812800" y="4246959"/>
            <a:ext cx="260311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B7680"/>
                </a:solidFill>
                <a:latin typeface="Inter" pitchFamily="34" charset="0"/>
                <a:ea typeface="Inter" pitchFamily="34" charset="-122"/>
                <a:cs typeface="Inter" pitchFamily="34" charset="-120"/>
              </a:rPr>
              <a:t>01</a:t>
            </a:r>
            <a:endParaRPr lang="en-US" sz="1200" dirty="0"/>
          </a:p>
        </p:txBody>
      </p:sp>
      <p:sp>
        <p:nvSpPr>
          <p:cNvPr id="5" name="Text 3"/>
          <p:cNvSpPr/>
          <p:nvPr/>
        </p:nvSpPr>
        <p:spPr>
          <a:xfrm>
            <a:off x="812800" y="4511080"/>
            <a:ext cx="2603119" cy="284460"/>
          </a:xfrm>
          <a:prstGeom prst="rect">
            <a:avLst/>
          </a:prstGeom>
          <a:noFill/>
          <a:ln/>
        </p:spPr>
        <p:txBody>
          <a:bodyPr wrap="square" lIns="0" tIns="0" rIns="0" bIns="0" rtlCol="0" anchor="t">
            <a:normAutofit/>
          </a:bodyPr>
          <a:lstStyle/>
          <a:p>
            <a:pPr algn="l" indent="0" marL="0">
              <a:lnSpc>
                <a:spcPts val="2040"/>
              </a:lnSpc>
              <a:buNone/>
            </a:pPr>
            <a:r>
              <a:rPr lang="en-US" sz="1700" dirty="0">
                <a:solidFill>
                  <a:srgbClr val="051C2C"/>
                </a:solidFill>
                <a:latin typeface="Source Serif 4" pitchFamily="18" charset="0"/>
                <a:ea typeface="Source Serif 4" pitchFamily="18" charset="-122"/>
                <a:cs typeface="Source Serif 4" pitchFamily="18" charset="-120"/>
              </a:rPr>
              <a:t>Aggregated</a:t>
            </a:r>
            <a:endParaRPr lang="en-US" sz="1700" dirty="0"/>
          </a:p>
        </p:txBody>
      </p:sp>
      <p:sp>
        <p:nvSpPr>
          <p:cNvPr id="6" name="Text 4"/>
          <p:cNvSpPr/>
          <p:nvPr/>
        </p:nvSpPr>
        <p:spPr>
          <a:xfrm>
            <a:off x="812800" y="4820940"/>
            <a:ext cx="2603119" cy="436860"/>
          </a:xfrm>
          <a:prstGeom prst="rect">
            <a:avLst/>
          </a:prstGeom>
          <a:noFill/>
          <a:ln/>
        </p:spPr>
        <p:txBody>
          <a:bodyPr wrap="square" lIns="0" tIns="0" rIns="0" bIns="0" rtlCol="0" anchor="t">
            <a:normAutofit/>
          </a:bodyPr>
          <a:lstStyle/>
          <a:p>
            <a:pPr algn="l" indent="0" marL="0">
              <a:lnSpc>
                <a:spcPts val="1620"/>
              </a:lnSpc>
              <a:buNone/>
            </a:pPr>
            <a:r>
              <a:rPr lang="en-US" sz="1200" i="1" dirty="0">
                <a:solidFill>
                  <a:srgbClr val="3C4A55"/>
                </a:solidFill>
                <a:latin typeface="Inter" pitchFamily="34" charset="0"/>
                <a:ea typeface="Inter" pitchFamily="34" charset="-122"/>
                <a:cs typeface="Inter" pitchFamily="34" charset="-120"/>
              </a:rPr>
              <a:t>What happened?</a:t>
            </a:r>
            <a:r>
              <a:rPr lang="en-US" sz="1200" dirty="0">
                <a:solidFill>
                  <a:srgbClr val="3C4A55"/>
                </a:solidFill>
                <a:latin typeface="Inter" pitchFamily="34" charset="0"/>
                <a:ea typeface="Inter" pitchFamily="34" charset="-122"/>
                <a:cs typeface="Inter" pitchFamily="34" charset="-120"/>
              </a:rPr>
              <a:t> Monthly reports and dashboards stitched from silos</a:t>
            </a:r>
            <a:endParaRPr lang="en-US" sz="1200" dirty="0"/>
          </a:p>
        </p:txBody>
      </p:sp>
      <p:sp>
        <p:nvSpPr>
          <p:cNvPr id="7" name="Text 5"/>
          <p:cNvSpPr/>
          <p:nvPr/>
        </p:nvSpPr>
        <p:spPr>
          <a:xfrm>
            <a:off x="812800" y="5334000"/>
            <a:ext cx="2527300" cy="508000"/>
          </a:xfrm>
          <a:prstGeom prst="rect">
            <a:avLst/>
          </a:prstGeom>
          <a:solidFill>
            <a:srgbClr val="DCE3E9"/>
          </a:solidFill>
          <a:ln/>
        </p:spPr>
        <p:txBody>
          <a:bodyPr wrap="square" lIns="152400" tIns="0" rIns="152400" bIns="0" rtlCol="0" anchor="ctr">
            <a:normAutofit/>
          </a:bodyPr>
          <a:lstStyle/>
          <a:p>
            <a:pPr algn="l" indent="0" marL="0">
              <a:lnSpc>
                <a:spcPts val="1680"/>
              </a:lnSpc>
              <a:buNone/>
            </a:pPr>
            <a:r>
              <a:rPr lang="en-US" sz="1200" b="1" dirty="0">
                <a:solidFill>
                  <a:srgbClr val="051C2C"/>
                </a:solidFill>
                <a:latin typeface="Inter" pitchFamily="34" charset="0"/>
                <a:ea typeface="Inter" pitchFamily="34" charset="-122"/>
                <a:cs typeface="Inter" pitchFamily="34" charset="-120"/>
              </a:rPr>
              <a:t>FIS today [confirm]</a:t>
            </a:r>
            <a:endParaRPr lang="en-US" sz="1200" dirty="0"/>
          </a:p>
        </p:txBody>
      </p:sp>
      <p:sp>
        <p:nvSpPr>
          <p:cNvPr id="8" name="Text 6"/>
          <p:cNvSpPr/>
          <p:nvPr/>
        </p:nvSpPr>
        <p:spPr>
          <a:xfrm>
            <a:off x="3492500" y="3738959"/>
            <a:ext cx="260311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B7680"/>
                </a:solidFill>
                <a:latin typeface="Inter" pitchFamily="34" charset="0"/>
                <a:ea typeface="Inter" pitchFamily="34" charset="-122"/>
                <a:cs typeface="Inter" pitchFamily="34" charset="-120"/>
              </a:rPr>
              <a:t>02</a:t>
            </a:r>
            <a:endParaRPr lang="en-US" sz="1200" dirty="0"/>
          </a:p>
        </p:txBody>
      </p:sp>
      <p:sp>
        <p:nvSpPr>
          <p:cNvPr id="9" name="Text 7"/>
          <p:cNvSpPr/>
          <p:nvPr/>
        </p:nvSpPr>
        <p:spPr>
          <a:xfrm>
            <a:off x="3492500" y="4003080"/>
            <a:ext cx="2603119" cy="284460"/>
          </a:xfrm>
          <a:prstGeom prst="rect">
            <a:avLst/>
          </a:prstGeom>
          <a:noFill/>
          <a:ln/>
        </p:spPr>
        <p:txBody>
          <a:bodyPr wrap="square" lIns="0" tIns="0" rIns="0" bIns="0" rtlCol="0" anchor="t">
            <a:normAutofit/>
          </a:bodyPr>
          <a:lstStyle/>
          <a:p>
            <a:pPr algn="l" indent="0" marL="0">
              <a:lnSpc>
                <a:spcPts val="2040"/>
              </a:lnSpc>
              <a:buNone/>
            </a:pPr>
            <a:r>
              <a:rPr lang="en-US" sz="1700" dirty="0">
                <a:solidFill>
                  <a:srgbClr val="051C2C"/>
                </a:solidFill>
                <a:latin typeface="Source Serif 4" pitchFamily="18" charset="0"/>
                <a:ea typeface="Source Serif 4" pitchFamily="18" charset="-122"/>
                <a:cs typeface="Source Serif 4" pitchFamily="18" charset="-120"/>
              </a:rPr>
              <a:t>Analyzed</a:t>
            </a:r>
            <a:endParaRPr lang="en-US" sz="1700" dirty="0"/>
          </a:p>
        </p:txBody>
      </p:sp>
      <p:sp>
        <p:nvSpPr>
          <p:cNvPr id="10" name="Text 8"/>
          <p:cNvSpPr/>
          <p:nvPr/>
        </p:nvSpPr>
        <p:spPr>
          <a:xfrm>
            <a:off x="3492500" y="4312940"/>
            <a:ext cx="2603119" cy="436860"/>
          </a:xfrm>
          <a:prstGeom prst="rect">
            <a:avLst/>
          </a:prstGeom>
          <a:noFill/>
          <a:ln/>
        </p:spPr>
        <p:txBody>
          <a:bodyPr wrap="square" lIns="0" tIns="0" rIns="0" bIns="0" rtlCol="0" anchor="t">
            <a:normAutofit/>
          </a:bodyPr>
          <a:lstStyle/>
          <a:p>
            <a:pPr algn="l" indent="0" marL="0">
              <a:lnSpc>
                <a:spcPts val="1620"/>
              </a:lnSpc>
              <a:buNone/>
            </a:pPr>
            <a:r>
              <a:rPr lang="en-US" sz="1200" i="1" dirty="0">
                <a:solidFill>
                  <a:srgbClr val="3C4A55"/>
                </a:solidFill>
                <a:latin typeface="Inter" pitchFamily="34" charset="0"/>
                <a:ea typeface="Inter" pitchFamily="34" charset="-122"/>
                <a:cs typeface="Inter" pitchFamily="34" charset="-120"/>
              </a:rPr>
              <a:t>Why did it happen?</a:t>
            </a:r>
            <a:r>
              <a:rPr lang="en-US" sz="1200" dirty="0">
                <a:solidFill>
                  <a:srgbClr val="3C4A55"/>
                </a:solidFill>
                <a:latin typeface="Inter" pitchFamily="34" charset="0"/>
                <a:ea typeface="Inter" pitchFamily="34" charset="-122"/>
                <a:cs typeface="Inter" pitchFamily="34" charset="-120"/>
              </a:rPr>
              <a:t> Root cause across clients, products and costs</a:t>
            </a:r>
            <a:endParaRPr lang="en-US" sz="1200" dirty="0"/>
          </a:p>
        </p:txBody>
      </p:sp>
      <p:sp>
        <p:nvSpPr>
          <p:cNvPr id="11" name="Shape 9"/>
          <p:cNvSpPr/>
          <p:nvPr/>
        </p:nvSpPr>
        <p:spPr>
          <a:xfrm>
            <a:off x="3492500" y="4826000"/>
            <a:ext cx="2527300" cy="1016000"/>
          </a:xfrm>
          <a:prstGeom prst="rect">
            <a:avLst/>
          </a:prstGeom>
          <a:solidFill>
            <a:srgbClr val="A9BCCD"/>
          </a:solidFill>
          <a:ln/>
        </p:spPr>
      </p:sp>
      <p:sp>
        <p:nvSpPr>
          <p:cNvPr id="12" name="Text 10"/>
          <p:cNvSpPr/>
          <p:nvPr/>
        </p:nvSpPr>
        <p:spPr>
          <a:xfrm>
            <a:off x="6172200" y="3025229"/>
            <a:ext cx="260311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B7680"/>
                </a:solidFill>
                <a:latin typeface="Inter" pitchFamily="34" charset="0"/>
                <a:ea typeface="Inter" pitchFamily="34" charset="-122"/>
                <a:cs typeface="Inter" pitchFamily="34" charset="-120"/>
              </a:rPr>
              <a:t>03</a:t>
            </a:r>
            <a:endParaRPr lang="en-US" sz="1200" dirty="0"/>
          </a:p>
        </p:txBody>
      </p:sp>
      <p:sp>
        <p:nvSpPr>
          <p:cNvPr id="13" name="Text 11"/>
          <p:cNvSpPr/>
          <p:nvPr/>
        </p:nvSpPr>
        <p:spPr>
          <a:xfrm>
            <a:off x="6172200" y="3289350"/>
            <a:ext cx="2603119" cy="284460"/>
          </a:xfrm>
          <a:prstGeom prst="rect">
            <a:avLst/>
          </a:prstGeom>
          <a:noFill/>
          <a:ln/>
        </p:spPr>
        <p:txBody>
          <a:bodyPr wrap="square" lIns="0" tIns="0" rIns="0" bIns="0" rtlCol="0" anchor="t">
            <a:normAutofit/>
          </a:bodyPr>
          <a:lstStyle/>
          <a:p>
            <a:pPr algn="l" indent="0" marL="0">
              <a:lnSpc>
                <a:spcPts val="2040"/>
              </a:lnSpc>
              <a:buNone/>
            </a:pPr>
            <a:r>
              <a:rPr lang="en-US" sz="1700" dirty="0">
                <a:solidFill>
                  <a:srgbClr val="051C2C"/>
                </a:solidFill>
                <a:latin typeface="Source Serif 4" pitchFamily="18" charset="0"/>
                <a:ea typeface="Source Serif 4" pitchFamily="18" charset="-122"/>
                <a:cs typeface="Source Serif 4" pitchFamily="18" charset="-120"/>
              </a:rPr>
              <a:t>Predictive</a:t>
            </a:r>
            <a:endParaRPr lang="en-US" sz="1700" dirty="0"/>
          </a:p>
        </p:txBody>
      </p:sp>
      <p:sp>
        <p:nvSpPr>
          <p:cNvPr id="14" name="Text 12"/>
          <p:cNvSpPr/>
          <p:nvPr/>
        </p:nvSpPr>
        <p:spPr>
          <a:xfrm>
            <a:off x="6172200" y="3599210"/>
            <a:ext cx="2603119" cy="642590"/>
          </a:xfrm>
          <a:prstGeom prst="rect">
            <a:avLst/>
          </a:prstGeom>
          <a:noFill/>
          <a:ln/>
        </p:spPr>
        <p:txBody>
          <a:bodyPr wrap="square" lIns="0" tIns="0" rIns="0" bIns="0" rtlCol="0" anchor="t">
            <a:normAutofit/>
          </a:bodyPr>
          <a:lstStyle/>
          <a:p>
            <a:pPr algn="l" indent="0" marL="0">
              <a:lnSpc>
                <a:spcPts val="1620"/>
              </a:lnSpc>
              <a:buNone/>
            </a:pPr>
            <a:r>
              <a:rPr lang="en-US" sz="1200" i="1" dirty="0">
                <a:solidFill>
                  <a:srgbClr val="3C4A55"/>
                </a:solidFill>
                <a:latin typeface="Inter" pitchFamily="34" charset="0"/>
                <a:ea typeface="Inter" pitchFamily="34" charset="-122"/>
                <a:cs typeface="Inter" pitchFamily="34" charset="-120"/>
              </a:rPr>
              <a:t>What will happen?</a:t>
            </a:r>
            <a:r>
              <a:rPr lang="en-US" sz="1200" dirty="0">
                <a:solidFill>
                  <a:srgbClr val="3C4A55"/>
                </a:solidFill>
                <a:latin typeface="Inter" pitchFamily="34" charset="0"/>
                <a:ea typeface="Inter" pitchFamily="34" charset="-122"/>
                <a:cs typeface="Inter" pitchFamily="34" charset="-120"/>
              </a:rPr>
              <a:t> Churn, compression, revenue and cash forecasts</a:t>
            </a:r>
            <a:endParaRPr lang="en-US" sz="1200" dirty="0"/>
          </a:p>
        </p:txBody>
      </p:sp>
      <p:sp>
        <p:nvSpPr>
          <p:cNvPr id="15" name="Shape 13"/>
          <p:cNvSpPr/>
          <p:nvPr/>
        </p:nvSpPr>
        <p:spPr>
          <a:xfrm>
            <a:off x="6172200" y="4318000"/>
            <a:ext cx="2527300" cy="1524000"/>
          </a:xfrm>
          <a:prstGeom prst="rect">
            <a:avLst/>
          </a:prstGeom>
          <a:solidFill>
            <a:srgbClr val="5F86B0"/>
          </a:solidFill>
          <a:ln/>
        </p:spPr>
      </p:sp>
      <p:sp>
        <p:nvSpPr>
          <p:cNvPr id="16" name="Text 14"/>
          <p:cNvSpPr/>
          <p:nvPr/>
        </p:nvSpPr>
        <p:spPr>
          <a:xfrm>
            <a:off x="8851900" y="2517229"/>
            <a:ext cx="260311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251FF"/>
                </a:solidFill>
                <a:latin typeface="Inter" pitchFamily="34" charset="0"/>
                <a:ea typeface="Inter" pitchFamily="34" charset="-122"/>
                <a:cs typeface="Inter" pitchFamily="34" charset="-120"/>
              </a:rPr>
              <a:t>04</a:t>
            </a:r>
            <a:endParaRPr lang="en-US" sz="1200" dirty="0"/>
          </a:p>
        </p:txBody>
      </p:sp>
      <p:sp>
        <p:nvSpPr>
          <p:cNvPr id="17" name="Text 15"/>
          <p:cNvSpPr/>
          <p:nvPr/>
        </p:nvSpPr>
        <p:spPr>
          <a:xfrm>
            <a:off x="8851900" y="2781350"/>
            <a:ext cx="2603119"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2251FF"/>
                </a:solidFill>
                <a:latin typeface="Source Serif 4" pitchFamily="18" charset="0"/>
                <a:ea typeface="Source Serif 4" pitchFamily="18" charset="-122"/>
                <a:cs typeface="Source Serif 4" pitchFamily="18" charset="-120"/>
              </a:rPr>
              <a:t>Orchestrated</a:t>
            </a:r>
            <a:endParaRPr lang="en-US" sz="1700" dirty="0"/>
          </a:p>
        </p:txBody>
      </p:sp>
      <p:sp>
        <p:nvSpPr>
          <p:cNvPr id="18" name="Text 16"/>
          <p:cNvSpPr/>
          <p:nvPr/>
        </p:nvSpPr>
        <p:spPr>
          <a:xfrm>
            <a:off x="8851900" y="3091210"/>
            <a:ext cx="2603119" cy="642590"/>
          </a:xfrm>
          <a:prstGeom prst="rect">
            <a:avLst/>
          </a:prstGeom>
          <a:noFill/>
          <a:ln/>
        </p:spPr>
        <p:txBody>
          <a:bodyPr wrap="square" lIns="0" tIns="0" rIns="0" bIns="0" rtlCol="0" anchor="t">
            <a:normAutofit/>
          </a:bodyPr>
          <a:lstStyle/>
          <a:p>
            <a:pPr algn="l" indent="0" marL="0">
              <a:lnSpc>
                <a:spcPts val="1620"/>
              </a:lnSpc>
              <a:buNone/>
            </a:pPr>
            <a:r>
              <a:rPr lang="en-US" sz="1200" i="1" dirty="0">
                <a:solidFill>
                  <a:srgbClr val="3C4A55"/>
                </a:solidFill>
                <a:latin typeface="Inter" pitchFamily="34" charset="0"/>
                <a:ea typeface="Inter" pitchFamily="34" charset="-122"/>
                <a:cs typeface="Inter" pitchFamily="34" charset="-120"/>
              </a:rPr>
              <a:t>What should we do, and do it.</a:t>
            </a:r>
            <a:r>
              <a:rPr lang="en-US" sz="1200" dirty="0">
                <a:solidFill>
                  <a:srgbClr val="3C4A55"/>
                </a:solidFill>
                <a:latin typeface="Inter" pitchFamily="34" charset="0"/>
                <a:ea typeface="Inter" pitchFamily="34" charset="-122"/>
                <a:cs typeface="Inter" pitchFamily="34" charset="-120"/>
              </a:rPr>
              <a:t> Agents act; people decide the critical calls</a:t>
            </a:r>
            <a:endParaRPr lang="en-US" sz="1200" dirty="0"/>
          </a:p>
        </p:txBody>
      </p:sp>
      <p:sp>
        <p:nvSpPr>
          <p:cNvPr id="19" name="Text 17"/>
          <p:cNvSpPr/>
          <p:nvPr/>
        </p:nvSpPr>
        <p:spPr>
          <a:xfrm>
            <a:off x="8851900" y="3810000"/>
            <a:ext cx="2527300" cy="2032000"/>
          </a:xfrm>
          <a:prstGeom prst="rect">
            <a:avLst/>
          </a:prstGeom>
          <a:solidFill>
            <a:srgbClr val="2251FF"/>
          </a:solidFill>
          <a:ln/>
        </p:spPr>
        <p:txBody>
          <a:bodyPr wrap="square" lIns="152400" tIns="152400" rIns="152400" bIns="152400" rtlCol="0" anchor="b">
            <a:normAutofit/>
          </a:bodyPr>
          <a:lstStyle/>
          <a:p>
            <a:pPr algn="l" indent="0" marL="0">
              <a:lnSpc>
                <a:spcPts val="1680"/>
              </a:lnSpc>
              <a:buNone/>
            </a:pPr>
            <a:r>
              <a:rPr lang="en-US" sz="1200" b="1" dirty="0">
                <a:solidFill>
                  <a:srgbClr val="FFFFFF"/>
                </a:solidFill>
                <a:latin typeface="Inter" pitchFamily="34" charset="0"/>
                <a:ea typeface="Inter" pitchFamily="34" charset="-122"/>
                <a:cs typeface="Inter" pitchFamily="34" charset="-120"/>
              </a:rPr>
              <a:t>Target state</a:t>
            </a:r>
            <a:endParaRPr lang="en-US" sz="1200" dirty="0"/>
          </a:p>
        </p:txBody>
      </p:sp>
      <p:sp>
        <p:nvSpPr>
          <p:cNvPr id="20" name="Text 18"/>
          <p:cNvSpPr/>
          <p:nvPr/>
        </p:nvSpPr>
        <p:spPr>
          <a:xfrm>
            <a:off x="812800" y="6238280"/>
            <a:ext cx="23665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0"/>
                </a:solidFill>
                <a:latin typeface="Inter" pitchFamily="34" charset="0"/>
                <a:ea typeface="Inter" pitchFamily="34" charset="-122"/>
                <a:cs typeface="Inter" pitchFamily="34" charset="-120"/>
              </a:rPr>
              <a:t>Enterprise Intelligence | FIS</a:t>
            </a:r>
            <a:endParaRPr lang="en-US" sz="1200" dirty="0"/>
          </a:p>
        </p:txBody>
      </p:sp>
      <p:sp>
        <p:nvSpPr>
          <p:cNvPr id="21" name="Text 19"/>
          <p:cNvSpPr/>
          <p:nvPr/>
        </p:nvSpPr>
        <p:spPr>
          <a:xfrm>
            <a:off x="11234241" y="6238280"/>
            <a:ext cx="1449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0"/>
                </a:solidFill>
                <a:latin typeface="Inter" pitchFamily="34" charset="0"/>
                <a:ea typeface="Inter" pitchFamily="34" charset="-122"/>
                <a:cs typeface="Inter"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251FF"/>
                </a:solidFill>
                <a:latin typeface="Inter" pitchFamily="34" charset="0"/>
                <a:ea typeface="Inter" pitchFamily="34" charset="-122"/>
                <a:cs typeface="Inter" pitchFamily="34" charset="-120"/>
              </a:rPr>
              <a:t>THE PLATFORM</a:t>
            </a:r>
            <a:endParaRPr lang="en-US" sz="1200" dirty="0"/>
          </a:p>
        </p:txBody>
      </p:sp>
      <p:sp>
        <p:nvSpPr>
          <p:cNvPr id="3" name="Text 1"/>
          <p:cNvSpPr/>
          <p:nvPr>
            <p:ph type="title"/>
          </p:nvPr>
        </p:nvSpPr>
        <p:spPr>
          <a:xfrm>
            <a:off x="812800" y="1127720"/>
            <a:ext cx="10883392" cy="784820"/>
          </a:xfrm>
          <a:prstGeom prst="rect">
            <a:avLst/>
          </a:prstGeom>
          <a:noFill/>
          <a:ln/>
        </p:spPr>
        <p:txBody>
          <a:bodyPr wrap="square" lIns="0" tIns="0" rIns="0" bIns="0" rtlCol="0" anchor="t">
            <a:normAutofit/>
          </a:bodyPr>
          <a:lstStyle/>
          <a:p>
            <a:pPr algn="l" indent="0" marL="0">
              <a:lnSpc>
                <a:spcPts val="2990"/>
              </a:lnSpc>
              <a:buNone/>
            </a:pPr>
            <a:r>
              <a:rPr lang="en-US" sz="2600" b="0" i="0" dirty="0">
                <a:solidFill>
                  <a:srgbClr val="051C2C"/>
                </a:solidFill>
                <a:latin typeface="Source Serif 4" pitchFamily="18" charset="0"/>
                <a:ea typeface="Source Serif 4" pitchFamily="18" charset="-122"/>
                <a:cs typeface="Source Serif 4" pitchFamily="18" charset="-120"/>
              </a:rPr>
              <a:t>Twelve operational signals feed one intelligence layer that drives commercial and operational outcomes</a:t>
            </a:r>
            <a:endParaRPr lang="en-US" sz="2600" dirty="0"/>
          </a:p>
        </p:txBody>
      </p:sp>
      <p:sp>
        <p:nvSpPr>
          <p:cNvPr id="4" name="Shape 2"/>
          <p:cNvSpPr/>
          <p:nvPr/>
        </p:nvSpPr>
        <p:spPr>
          <a:xfrm>
            <a:off x="815975" y="2235795"/>
            <a:ext cx="2051050" cy="844451"/>
          </a:xfrm>
          <a:prstGeom prst="rect">
            <a:avLst/>
          </a:prstGeom>
          <a:solidFill>
            <a:srgbClr val="FFFFFF"/>
          </a:solidFill>
          <a:ln w="6350">
            <a:solidFill>
              <a:srgbClr val="D5DCE2"/>
            </a:solidFill>
            <a:prstDash val="solid"/>
          </a:ln>
        </p:spPr>
      </p:sp>
      <p:sp>
        <p:nvSpPr>
          <p:cNvPr id="5" name="Text 3"/>
          <p:cNvSpPr/>
          <p:nvPr/>
        </p:nvSpPr>
        <p:spPr>
          <a:xfrm>
            <a:off x="946150" y="2340570"/>
            <a:ext cx="1844421"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051C2C"/>
                </a:solidFill>
                <a:latin typeface="Inter" pitchFamily="34" charset="0"/>
                <a:ea typeface="Inter" pitchFamily="34" charset="-122"/>
                <a:cs typeface="Inter" pitchFamily="34" charset="-120"/>
              </a:rPr>
              <a:t>Commercial</a:t>
            </a:r>
            <a:endParaRPr lang="en-US" sz="1200" dirty="0"/>
          </a:p>
        </p:txBody>
      </p:sp>
      <p:sp>
        <p:nvSpPr>
          <p:cNvPr id="6" name="Text 4"/>
          <p:cNvSpPr/>
          <p:nvPr/>
        </p:nvSpPr>
        <p:spPr>
          <a:xfrm>
            <a:off x="946150" y="2548830"/>
            <a:ext cx="184442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A55"/>
                </a:solidFill>
                <a:latin typeface="Inter" pitchFamily="34" charset="0"/>
                <a:ea typeface="Inter" pitchFamily="34" charset="-122"/>
                <a:cs typeface="Inter" pitchFamily="34" charset="-120"/>
              </a:rPr>
              <a:t>Contracts · Billing · Invoicing</a:t>
            </a:r>
            <a:endParaRPr lang="en-US" sz="1200" dirty="0"/>
          </a:p>
        </p:txBody>
      </p:sp>
      <p:sp>
        <p:nvSpPr>
          <p:cNvPr id="7" name="Shape 5"/>
          <p:cNvSpPr/>
          <p:nvPr/>
        </p:nvSpPr>
        <p:spPr>
          <a:xfrm>
            <a:off x="2949575" y="2235795"/>
            <a:ext cx="2051050" cy="844451"/>
          </a:xfrm>
          <a:prstGeom prst="rect">
            <a:avLst/>
          </a:prstGeom>
          <a:solidFill>
            <a:srgbClr val="FFFFFF"/>
          </a:solidFill>
          <a:ln w="6350">
            <a:solidFill>
              <a:srgbClr val="D5DCE2"/>
            </a:solidFill>
            <a:prstDash val="solid"/>
          </a:ln>
        </p:spPr>
      </p:sp>
      <p:sp>
        <p:nvSpPr>
          <p:cNvPr id="8" name="Text 6"/>
          <p:cNvSpPr/>
          <p:nvPr/>
        </p:nvSpPr>
        <p:spPr>
          <a:xfrm>
            <a:off x="3079750" y="2340570"/>
            <a:ext cx="1844421"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051C2C"/>
                </a:solidFill>
                <a:latin typeface="Inter" pitchFamily="34" charset="0"/>
                <a:ea typeface="Inter" pitchFamily="34" charset="-122"/>
                <a:cs typeface="Inter" pitchFamily="34" charset="-120"/>
              </a:rPr>
              <a:t>Service</a:t>
            </a:r>
            <a:endParaRPr lang="en-US" sz="1200" dirty="0"/>
          </a:p>
        </p:txBody>
      </p:sp>
      <p:sp>
        <p:nvSpPr>
          <p:cNvPr id="9" name="Text 7"/>
          <p:cNvSpPr/>
          <p:nvPr/>
        </p:nvSpPr>
        <p:spPr>
          <a:xfrm>
            <a:off x="3079750" y="2548830"/>
            <a:ext cx="184442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A55"/>
                </a:solidFill>
                <a:latin typeface="Inter" pitchFamily="34" charset="0"/>
                <a:ea typeface="Inter" pitchFamily="34" charset="-122"/>
                <a:cs typeface="Inter" pitchFamily="34" charset="-120"/>
              </a:rPr>
              <a:t>Tickets · SLAs · Incidents</a:t>
            </a:r>
            <a:endParaRPr lang="en-US" sz="1200" dirty="0"/>
          </a:p>
        </p:txBody>
      </p:sp>
      <p:sp>
        <p:nvSpPr>
          <p:cNvPr id="10" name="Shape 8"/>
          <p:cNvSpPr/>
          <p:nvPr/>
        </p:nvSpPr>
        <p:spPr>
          <a:xfrm>
            <a:off x="815975" y="3162796"/>
            <a:ext cx="2051050" cy="844451"/>
          </a:xfrm>
          <a:prstGeom prst="rect">
            <a:avLst/>
          </a:prstGeom>
          <a:solidFill>
            <a:srgbClr val="FFFFFF"/>
          </a:solidFill>
          <a:ln w="6350">
            <a:solidFill>
              <a:srgbClr val="D5DCE2"/>
            </a:solidFill>
            <a:prstDash val="solid"/>
          </a:ln>
        </p:spPr>
      </p:sp>
      <p:sp>
        <p:nvSpPr>
          <p:cNvPr id="11" name="Text 9"/>
          <p:cNvSpPr/>
          <p:nvPr/>
        </p:nvSpPr>
        <p:spPr>
          <a:xfrm>
            <a:off x="946150" y="3267571"/>
            <a:ext cx="1844421"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051C2C"/>
                </a:solidFill>
                <a:latin typeface="Inter" pitchFamily="34" charset="0"/>
                <a:ea typeface="Inter" pitchFamily="34" charset="-122"/>
                <a:cs typeface="Inter" pitchFamily="34" charset="-120"/>
              </a:rPr>
              <a:t>Client voice</a:t>
            </a:r>
            <a:endParaRPr lang="en-US" sz="1200" dirty="0"/>
          </a:p>
        </p:txBody>
      </p:sp>
      <p:sp>
        <p:nvSpPr>
          <p:cNvPr id="12" name="Text 10"/>
          <p:cNvSpPr/>
          <p:nvPr/>
        </p:nvSpPr>
        <p:spPr>
          <a:xfrm>
            <a:off x="946150" y="3475831"/>
            <a:ext cx="184442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A55"/>
                </a:solidFill>
                <a:latin typeface="Inter" pitchFamily="34" charset="0"/>
                <a:ea typeface="Inter" pitchFamily="34" charset="-122"/>
                <a:cs typeface="Inter" pitchFamily="34" charset="-120"/>
              </a:rPr>
              <a:t>Surveys</a:t>
            </a:r>
            <a:endParaRPr lang="en-US" sz="1200" dirty="0"/>
          </a:p>
        </p:txBody>
      </p:sp>
      <p:sp>
        <p:nvSpPr>
          <p:cNvPr id="13" name="Shape 11"/>
          <p:cNvSpPr/>
          <p:nvPr/>
        </p:nvSpPr>
        <p:spPr>
          <a:xfrm>
            <a:off x="2949575" y="3162796"/>
            <a:ext cx="2051050" cy="844451"/>
          </a:xfrm>
          <a:prstGeom prst="rect">
            <a:avLst/>
          </a:prstGeom>
          <a:solidFill>
            <a:srgbClr val="FFFFFF"/>
          </a:solidFill>
          <a:ln w="6350">
            <a:solidFill>
              <a:srgbClr val="D5DCE2"/>
            </a:solidFill>
            <a:prstDash val="solid"/>
          </a:ln>
        </p:spPr>
      </p:sp>
      <p:sp>
        <p:nvSpPr>
          <p:cNvPr id="14" name="Text 12"/>
          <p:cNvSpPr/>
          <p:nvPr/>
        </p:nvSpPr>
        <p:spPr>
          <a:xfrm>
            <a:off x="3079750" y="3267571"/>
            <a:ext cx="1844421"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051C2C"/>
                </a:solidFill>
                <a:latin typeface="Inter" pitchFamily="34" charset="0"/>
                <a:ea typeface="Inter" pitchFamily="34" charset="-122"/>
                <a:cs typeface="Inter" pitchFamily="34" charset="-120"/>
              </a:rPr>
              <a:t>Product</a:t>
            </a:r>
            <a:endParaRPr lang="en-US" sz="1200" dirty="0"/>
          </a:p>
        </p:txBody>
      </p:sp>
      <p:sp>
        <p:nvSpPr>
          <p:cNvPr id="15" name="Text 13"/>
          <p:cNvSpPr/>
          <p:nvPr/>
        </p:nvSpPr>
        <p:spPr>
          <a:xfrm>
            <a:off x="3079750" y="3475831"/>
            <a:ext cx="184442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A55"/>
                </a:solidFill>
                <a:latin typeface="Inter" pitchFamily="34" charset="0"/>
                <a:ea typeface="Inter" pitchFamily="34" charset="-122"/>
                <a:cs typeface="Inter" pitchFamily="34" charset="-120"/>
              </a:rPr>
              <a:t>Catalog · Usage telemetry</a:t>
            </a:r>
            <a:endParaRPr lang="en-US" sz="1200" dirty="0"/>
          </a:p>
        </p:txBody>
      </p:sp>
      <p:sp>
        <p:nvSpPr>
          <p:cNvPr id="16" name="Shape 14"/>
          <p:cNvSpPr/>
          <p:nvPr/>
        </p:nvSpPr>
        <p:spPr>
          <a:xfrm>
            <a:off x="815975" y="4089797"/>
            <a:ext cx="2051050" cy="844451"/>
          </a:xfrm>
          <a:prstGeom prst="rect">
            <a:avLst/>
          </a:prstGeom>
          <a:solidFill>
            <a:srgbClr val="FFFFFF"/>
          </a:solidFill>
          <a:ln w="6350">
            <a:solidFill>
              <a:srgbClr val="D5DCE2"/>
            </a:solidFill>
            <a:prstDash val="solid"/>
          </a:ln>
        </p:spPr>
      </p:sp>
      <p:sp>
        <p:nvSpPr>
          <p:cNvPr id="17" name="Text 15"/>
          <p:cNvSpPr/>
          <p:nvPr/>
        </p:nvSpPr>
        <p:spPr>
          <a:xfrm>
            <a:off x="946150" y="4194572"/>
            <a:ext cx="1844421"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051C2C"/>
                </a:solidFill>
                <a:latin typeface="Inter" pitchFamily="34" charset="0"/>
                <a:ea typeface="Inter" pitchFamily="34" charset="-122"/>
                <a:cs typeface="Inter" pitchFamily="34" charset="-120"/>
              </a:rPr>
              <a:t>Supply</a:t>
            </a:r>
            <a:endParaRPr lang="en-US" sz="1200" dirty="0"/>
          </a:p>
        </p:txBody>
      </p:sp>
      <p:sp>
        <p:nvSpPr>
          <p:cNvPr id="18" name="Text 16"/>
          <p:cNvSpPr/>
          <p:nvPr/>
        </p:nvSpPr>
        <p:spPr>
          <a:xfrm>
            <a:off x="946150" y="4402832"/>
            <a:ext cx="184442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A55"/>
                </a:solidFill>
                <a:latin typeface="Inter" pitchFamily="34" charset="0"/>
                <a:ea typeface="Inter" pitchFamily="34" charset="-122"/>
                <a:cs typeface="Inter" pitchFamily="34" charset="-120"/>
              </a:rPr>
              <a:t>Vendors · Vendor contracts</a:t>
            </a:r>
            <a:endParaRPr lang="en-US" sz="1200" dirty="0"/>
          </a:p>
        </p:txBody>
      </p:sp>
      <p:sp>
        <p:nvSpPr>
          <p:cNvPr id="19" name="Shape 17"/>
          <p:cNvSpPr/>
          <p:nvPr/>
        </p:nvSpPr>
        <p:spPr>
          <a:xfrm>
            <a:off x="2949575" y="4089797"/>
            <a:ext cx="2051050" cy="844451"/>
          </a:xfrm>
          <a:prstGeom prst="rect">
            <a:avLst/>
          </a:prstGeom>
          <a:solidFill>
            <a:srgbClr val="FFFFFF"/>
          </a:solidFill>
          <a:ln w="6350">
            <a:solidFill>
              <a:srgbClr val="D5DCE2"/>
            </a:solidFill>
            <a:prstDash val="solid"/>
          </a:ln>
        </p:spPr>
      </p:sp>
      <p:sp>
        <p:nvSpPr>
          <p:cNvPr id="20" name="Text 18"/>
          <p:cNvSpPr/>
          <p:nvPr/>
        </p:nvSpPr>
        <p:spPr>
          <a:xfrm>
            <a:off x="3079750" y="4194572"/>
            <a:ext cx="1844421"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051C2C"/>
                </a:solidFill>
                <a:latin typeface="Inter" pitchFamily="34" charset="0"/>
                <a:ea typeface="Inter" pitchFamily="34" charset="-122"/>
                <a:cs typeface="Inter" pitchFamily="34" charset="-120"/>
              </a:rPr>
              <a:t>People</a:t>
            </a:r>
            <a:endParaRPr lang="en-US" sz="1200" dirty="0"/>
          </a:p>
        </p:txBody>
      </p:sp>
      <p:sp>
        <p:nvSpPr>
          <p:cNvPr id="21" name="Text 19"/>
          <p:cNvSpPr/>
          <p:nvPr/>
        </p:nvSpPr>
        <p:spPr>
          <a:xfrm>
            <a:off x="3079750" y="4402832"/>
            <a:ext cx="184442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A55"/>
                </a:solidFill>
                <a:latin typeface="Inter" pitchFamily="34" charset="0"/>
                <a:ea typeface="Inter" pitchFamily="34" charset="-122"/>
                <a:cs typeface="Inter" pitchFamily="34" charset="-120"/>
              </a:rPr>
              <a:t>Time tracking</a:t>
            </a:r>
            <a:endParaRPr lang="en-US" sz="1200" dirty="0"/>
          </a:p>
        </p:txBody>
      </p:sp>
      <p:sp>
        <p:nvSpPr>
          <p:cNvPr id="22" name="Text 20"/>
          <p:cNvSpPr/>
          <p:nvPr/>
        </p:nvSpPr>
        <p:spPr>
          <a:xfrm>
            <a:off x="4978400" y="3371652"/>
            <a:ext cx="406400" cy="452090"/>
          </a:xfrm>
          <a:prstGeom prst="rect">
            <a:avLst/>
          </a:prstGeom>
          <a:noFill/>
          <a:ln/>
        </p:spPr>
        <p:txBody>
          <a:bodyPr wrap="square" lIns="0" tIns="0" rIns="0" bIns="0" rtlCol="0" anchor="t">
            <a:normAutofit/>
          </a:bodyPr>
          <a:lstStyle/>
          <a:p>
            <a:pPr algn="ctr" indent="0" marL="0">
              <a:lnSpc>
                <a:spcPts val="3360"/>
              </a:lnSpc>
              <a:buNone/>
            </a:pPr>
            <a:r>
              <a:rPr lang="en-US" sz="2400" dirty="0">
                <a:solidFill>
                  <a:srgbClr val="2251FF"/>
                </a:solidFill>
                <a:latin typeface="Inter" pitchFamily="34" charset="0"/>
                <a:ea typeface="Inter" pitchFamily="34" charset="-122"/>
                <a:cs typeface="Inter" pitchFamily="34" charset="-120"/>
              </a:rPr>
              <a:t>→</a:t>
            </a:r>
            <a:endParaRPr lang="en-US" sz="2400" dirty="0"/>
          </a:p>
        </p:txBody>
      </p:sp>
      <p:sp>
        <p:nvSpPr>
          <p:cNvPr id="23" name="Shape 21"/>
          <p:cNvSpPr/>
          <p:nvPr/>
        </p:nvSpPr>
        <p:spPr>
          <a:xfrm>
            <a:off x="5359400" y="2141141"/>
            <a:ext cx="3048000" cy="2887762"/>
          </a:xfrm>
          <a:prstGeom prst="rect">
            <a:avLst/>
          </a:prstGeom>
          <a:solidFill>
            <a:srgbClr val="051C2C"/>
          </a:solidFill>
          <a:ln/>
        </p:spPr>
      </p:sp>
      <p:sp>
        <p:nvSpPr>
          <p:cNvPr id="24" name="Text 22"/>
          <p:cNvSpPr/>
          <p:nvPr/>
        </p:nvSpPr>
        <p:spPr>
          <a:xfrm>
            <a:off x="5562600" y="2344341"/>
            <a:ext cx="272084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0A9F4"/>
                </a:solidFill>
                <a:latin typeface="Inter" pitchFamily="34" charset="0"/>
                <a:ea typeface="Inter" pitchFamily="34" charset="-122"/>
                <a:cs typeface="Inter" pitchFamily="34" charset="-120"/>
              </a:rPr>
              <a:t>THE ENTERPRISE BRAIN</a:t>
            </a:r>
            <a:endParaRPr lang="en-US" sz="1200" dirty="0"/>
          </a:p>
        </p:txBody>
      </p:sp>
      <p:sp>
        <p:nvSpPr>
          <p:cNvPr id="25" name="Text 23"/>
          <p:cNvSpPr/>
          <p:nvPr/>
        </p:nvSpPr>
        <p:spPr>
          <a:xfrm>
            <a:off x="5562600" y="2659261"/>
            <a:ext cx="2720848" cy="543520"/>
          </a:xfrm>
          <a:prstGeom prst="rect">
            <a:avLst/>
          </a:prstGeom>
          <a:noFill/>
          <a:ln/>
        </p:spPr>
        <p:txBody>
          <a:bodyPr wrap="square" lIns="0" tIns="0" rIns="0" bIns="0" rtlCol="0" anchor="t">
            <a:normAutofit/>
          </a:bodyPr>
          <a:lstStyle/>
          <a:p>
            <a:pPr algn="l" indent="0" marL="0">
              <a:lnSpc>
                <a:spcPts val="2040"/>
              </a:lnSpc>
              <a:buNone/>
            </a:pPr>
            <a:r>
              <a:rPr lang="en-US" sz="1700" dirty="0">
                <a:solidFill>
                  <a:srgbClr val="F4F6F8"/>
                </a:solidFill>
                <a:latin typeface="Source Serif 4" pitchFamily="18" charset="0"/>
                <a:ea typeface="Source Serif 4" pitchFamily="18" charset="-122"/>
                <a:cs typeface="Source Serif 4" pitchFamily="18" charset="-120"/>
              </a:rPr>
              <a:t>Enterprise Intelligence layer</a:t>
            </a:r>
            <a:endParaRPr lang="en-US" sz="1700" dirty="0"/>
          </a:p>
        </p:txBody>
      </p:sp>
      <p:sp>
        <p:nvSpPr>
          <p:cNvPr id="26" name="Text 24"/>
          <p:cNvSpPr/>
          <p:nvPr/>
        </p:nvSpPr>
        <p:spPr>
          <a:xfrm>
            <a:off x="5591556" y="3278981"/>
            <a:ext cx="2686558" cy="1572121"/>
          </a:xfrm>
          <a:prstGeom prst="rect">
            <a:avLst/>
          </a:prstGeom>
          <a:noFill/>
          <a:ln/>
        </p:spPr>
        <p:txBody>
          <a:bodyPr wrap="square" lIns="0" tIns="0" rIns="0" bIns="0" rtlCol="0" anchor="t">
            <a:normAutofit/>
          </a:bodyPr>
          <a:lstStyle/>
          <a:p>
            <a:pPr algn="l" marL="148844" indent="-148844">
              <a:lnSpc>
                <a:spcPts val="1740"/>
              </a:lnSpc>
              <a:buSzPct val="100000"/>
              <a:buChar char="•"/>
            </a:pPr>
            <a:r>
              <a:rPr lang="en-US" sz="1200" dirty="0">
                <a:solidFill>
                  <a:srgbClr val="C9D4DD"/>
                </a:solidFill>
                <a:latin typeface="Inter" pitchFamily="34" charset="0"/>
                <a:ea typeface="Inter" pitchFamily="34" charset="-122"/>
                <a:cs typeface="Inter" pitchFamily="34" charset="-120"/>
              </a:rPr>
              <a:t>Unified client and contract model</a:t>
            </a:r>
            <a:endParaRPr lang="en-US" sz="1200" dirty="0"/>
          </a:p>
          <a:p>
            <a:pPr algn="l" marL="148844" indent="-148844">
              <a:lnSpc>
                <a:spcPts val="1740"/>
              </a:lnSpc>
              <a:buSzPct val="100000"/>
              <a:buChar char="•"/>
            </a:pPr>
            <a:r>
              <a:rPr lang="en-US" sz="1200" dirty="0">
                <a:solidFill>
                  <a:srgbClr val="C9D4DD"/>
                </a:solidFill>
                <a:latin typeface="Inter" pitchFamily="34" charset="0"/>
                <a:ea typeface="Inter" pitchFamily="34" charset="-122"/>
                <a:cs typeface="Inter" pitchFamily="34" charset="-120"/>
              </a:rPr>
              <a:t>Cost-to-serve engine</a:t>
            </a:r>
            <a:endParaRPr lang="en-US" sz="1200" dirty="0"/>
          </a:p>
          <a:p>
            <a:pPr algn="l" marL="148844" indent="-148844">
              <a:lnSpc>
                <a:spcPts val="1740"/>
              </a:lnSpc>
              <a:buSzPct val="100000"/>
              <a:buChar char="•"/>
            </a:pPr>
            <a:r>
              <a:rPr lang="en-US" sz="1200" dirty="0">
                <a:solidFill>
                  <a:srgbClr val="C9D4DD"/>
                </a:solidFill>
                <a:latin typeface="Inter" pitchFamily="34" charset="0"/>
                <a:ea typeface="Inter" pitchFamily="34" charset="-122"/>
                <a:cs typeface="Inter" pitchFamily="34" charset="-120"/>
              </a:rPr>
              <a:t>Recommendation engine</a:t>
            </a:r>
            <a:endParaRPr lang="en-US" sz="1200" dirty="0"/>
          </a:p>
          <a:p>
            <a:pPr algn="l" marL="148844" indent="-148844">
              <a:lnSpc>
                <a:spcPts val="1740"/>
              </a:lnSpc>
              <a:buSzPct val="100000"/>
              <a:buChar char="•"/>
            </a:pPr>
            <a:r>
              <a:rPr lang="en-US" sz="1200" dirty="0">
                <a:solidFill>
                  <a:srgbClr val="C9D4DD"/>
                </a:solidFill>
                <a:latin typeface="Inter" pitchFamily="34" charset="0"/>
                <a:ea typeface="Inter" pitchFamily="34" charset="-122"/>
                <a:cs typeface="Inter" pitchFamily="34" charset="-120"/>
              </a:rPr>
              <a:t>Reconciliation engine</a:t>
            </a:r>
            <a:endParaRPr lang="en-US" sz="1200" dirty="0"/>
          </a:p>
          <a:p>
            <a:pPr algn="l" marL="148844" indent="-148844">
              <a:lnSpc>
                <a:spcPts val="1740"/>
              </a:lnSpc>
              <a:buSzPct val="100000"/>
              <a:buChar char="•"/>
            </a:pPr>
            <a:r>
              <a:rPr lang="en-US" sz="1200" dirty="0">
                <a:solidFill>
                  <a:srgbClr val="C9D4DD"/>
                </a:solidFill>
                <a:latin typeface="Inter" pitchFamily="34" charset="0"/>
                <a:ea typeface="Inter" pitchFamily="34" charset="-122"/>
                <a:cs typeface="Inter" pitchFamily="34" charset="-120"/>
              </a:rPr>
              <a:t>Revenue and cash forecasting</a:t>
            </a:r>
            <a:endParaRPr lang="en-US" sz="1200" dirty="0"/>
          </a:p>
          <a:p>
            <a:pPr algn="l" marL="148844" indent="-148844">
              <a:lnSpc>
                <a:spcPts val="1740"/>
              </a:lnSpc>
              <a:buSzPct val="100000"/>
              <a:buChar char="•"/>
            </a:pPr>
            <a:r>
              <a:rPr lang="en-US" sz="1200" dirty="0">
                <a:solidFill>
                  <a:srgbClr val="C9D4DD"/>
                </a:solidFill>
                <a:latin typeface="Inter" pitchFamily="34" charset="0"/>
                <a:ea typeface="Inter" pitchFamily="34" charset="-122"/>
                <a:cs typeface="Inter" pitchFamily="34" charset="-120"/>
              </a:rPr>
              <a:t>Ambient agents, human in the loop</a:t>
            </a:r>
            <a:endParaRPr lang="en-US" sz="1200" dirty="0"/>
          </a:p>
        </p:txBody>
      </p:sp>
      <p:sp>
        <p:nvSpPr>
          <p:cNvPr id="27" name="Text 25"/>
          <p:cNvSpPr/>
          <p:nvPr/>
        </p:nvSpPr>
        <p:spPr>
          <a:xfrm>
            <a:off x="8382000" y="3371652"/>
            <a:ext cx="406400" cy="452090"/>
          </a:xfrm>
          <a:prstGeom prst="rect">
            <a:avLst/>
          </a:prstGeom>
          <a:noFill/>
          <a:ln/>
        </p:spPr>
        <p:txBody>
          <a:bodyPr wrap="square" lIns="0" tIns="0" rIns="0" bIns="0" rtlCol="0" anchor="t">
            <a:normAutofit/>
          </a:bodyPr>
          <a:lstStyle/>
          <a:p>
            <a:pPr algn="ctr" indent="0" marL="0">
              <a:lnSpc>
                <a:spcPts val="3360"/>
              </a:lnSpc>
              <a:buNone/>
            </a:pPr>
            <a:r>
              <a:rPr lang="en-US" sz="2400" dirty="0">
                <a:solidFill>
                  <a:srgbClr val="2251FF"/>
                </a:solidFill>
                <a:latin typeface="Inter" pitchFamily="34" charset="0"/>
                <a:ea typeface="Inter" pitchFamily="34" charset="-122"/>
                <a:cs typeface="Inter" pitchFamily="34" charset="-120"/>
              </a:rPr>
              <a:t>→</a:t>
            </a:r>
            <a:endParaRPr lang="en-US" sz="2400" dirty="0"/>
          </a:p>
        </p:txBody>
      </p:sp>
      <p:sp>
        <p:nvSpPr>
          <p:cNvPr id="28" name="Shape 26"/>
          <p:cNvSpPr/>
          <p:nvPr/>
        </p:nvSpPr>
        <p:spPr>
          <a:xfrm>
            <a:off x="8763000" y="2500561"/>
            <a:ext cx="2616200" cy="0"/>
          </a:xfrm>
          <a:prstGeom prst="line">
            <a:avLst/>
          </a:prstGeom>
          <a:noFill/>
          <a:ln w="25400">
            <a:solidFill>
              <a:srgbClr val="2251FF"/>
            </a:solidFill>
            <a:prstDash val="solid"/>
          </a:ln>
        </p:spPr>
      </p:sp>
      <p:sp>
        <p:nvSpPr>
          <p:cNvPr id="29" name="Text 27"/>
          <p:cNvSpPr/>
          <p:nvPr/>
        </p:nvSpPr>
        <p:spPr>
          <a:xfrm>
            <a:off x="8763000" y="2614861"/>
            <a:ext cx="269468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51C2C"/>
                </a:solidFill>
                <a:latin typeface="Inter" pitchFamily="34" charset="0"/>
                <a:ea typeface="Inter" pitchFamily="34" charset="-122"/>
                <a:cs typeface="Inter" pitchFamily="34" charset="-120"/>
              </a:rPr>
              <a:t>Expand margin</a:t>
            </a:r>
            <a:endParaRPr lang="en-US" sz="1400" dirty="0"/>
          </a:p>
        </p:txBody>
      </p:sp>
      <p:sp>
        <p:nvSpPr>
          <p:cNvPr id="30" name="Text 28"/>
          <p:cNvSpPr/>
          <p:nvPr/>
        </p:nvSpPr>
        <p:spPr>
          <a:xfrm>
            <a:off x="8763000" y="2853581"/>
            <a:ext cx="269468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A55"/>
                </a:solidFill>
                <a:latin typeface="Inter" pitchFamily="34" charset="0"/>
                <a:ea typeface="Inter" pitchFamily="34" charset="-122"/>
                <a:cs typeface="Inter" pitchFamily="34" charset="-120"/>
              </a:rPr>
              <a:t>True cost, recovered revenue</a:t>
            </a:r>
            <a:endParaRPr lang="en-US" sz="1200" dirty="0"/>
          </a:p>
        </p:txBody>
      </p:sp>
      <p:sp>
        <p:nvSpPr>
          <p:cNvPr id="31" name="Shape 29"/>
          <p:cNvSpPr/>
          <p:nvPr/>
        </p:nvSpPr>
        <p:spPr>
          <a:xfrm>
            <a:off x="8763000" y="3257401"/>
            <a:ext cx="2616200" cy="0"/>
          </a:xfrm>
          <a:prstGeom prst="line">
            <a:avLst/>
          </a:prstGeom>
          <a:noFill/>
          <a:ln w="25400">
            <a:solidFill>
              <a:srgbClr val="2251FF"/>
            </a:solidFill>
            <a:prstDash val="solid"/>
          </a:ln>
        </p:spPr>
      </p:sp>
      <p:sp>
        <p:nvSpPr>
          <p:cNvPr id="32" name="Text 30"/>
          <p:cNvSpPr/>
          <p:nvPr/>
        </p:nvSpPr>
        <p:spPr>
          <a:xfrm>
            <a:off x="8763000" y="3371701"/>
            <a:ext cx="269468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51C2C"/>
                </a:solidFill>
                <a:latin typeface="Inter" pitchFamily="34" charset="0"/>
                <a:ea typeface="Inter" pitchFamily="34" charset="-122"/>
                <a:cs typeface="Inter" pitchFamily="34" charset="-120"/>
              </a:rPr>
              <a:t>Cut churn and compression</a:t>
            </a:r>
            <a:endParaRPr lang="en-US" sz="1400" dirty="0"/>
          </a:p>
        </p:txBody>
      </p:sp>
      <p:sp>
        <p:nvSpPr>
          <p:cNvPr id="33" name="Text 31"/>
          <p:cNvSpPr/>
          <p:nvPr/>
        </p:nvSpPr>
        <p:spPr>
          <a:xfrm>
            <a:off x="8763000" y="3610421"/>
            <a:ext cx="269468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A55"/>
                </a:solidFill>
                <a:latin typeface="Inter" pitchFamily="34" charset="0"/>
                <a:ea typeface="Inter" pitchFamily="34" charset="-122"/>
                <a:cs typeface="Inter" pitchFamily="34" charset="-120"/>
              </a:rPr>
              <a:t>Act before the client asks</a:t>
            </a:r>
            <a:endParaRPr lang="en-US" sz="1200" dirty="0"/>
          </a:p>
        </p:txBody>
      </p:sp>
      <p:sp>
        <p:nvSpPr>
          <p:cNvPr id="34" name="Shape 32"/>
          <p:cNvSpPr/>
          <p:nvPr/>
        </p:nvSpPr>
        <p:spPr>
          <a:xfrm>
            <a:off x="8763000" y="4014242"/>
            <a:ext cx="2616200" cy="0"/>
          </a:xfrm>
          <a:prstGeom prst="line">
            <a:avLst/>
          </a:prstGeom>
          <a:noFill/>
          <a:ln w="25400">
            <a:solidFill>
              <a:srgbClr val="2251FF"/>
            </a:solidFill>
            <a:prstDash val="solid"/>
          </a:ln>
        </p:spPr>
      </p:sp>
      <p:sp>
        <p:nvSpPr>
          <p:cNvPr id="35" name="Text 33"/>
          <p:cNvSpPr/>
          <p:nvPr/>
        </p:nvSpPr>
        <p:spPr>
          <a:xfrm>
            <a:off x="8763000" y="4128542"/>
            <a:ext cx="269468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51C2C"/>
                </a:solidFill>
                <a:latin typeface="Inter" pitchFamily="34" charset="0"/>
                <a:ea typeface="Inter" pitchFamily="34" charset="-122"/>
                <a:cs typeface="Inter" pitchFamily="34" charset="-120"/>
              </a:rPr>
              <a:t>Grow the base</a:t>
            </a:r>
            <a:endParaRPr lang="en-US" sz="1400" dirty="0"/>
          </a:p>
        </p:txBody>
      </p:sp>
      <p:sp>
        <p:nvSpPr>
          <p:cNvPr id="36" name="Text 34"/>
          <p:cNvSpPr/>
          <p:nvPr/>
        </p:nvSpPr>
        <p:spPr>
          <a:xfrm>
            <a:off x="8763000" y="4367262"/>
            <a:ext cx="269468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A55"/>
                </a:solidFill>
                <a:latin typeface="Inter" pitchFamily="34" charset="0"/>
                <a:ea typeface="Inter" pitchFamily="34" charset="-122"/>
                <a:cs typeface="Inter" pitchFamily="34" charset="-120"/>
              </a:rPr>
              <a:t>Cross-sell, upsell, new markets</a:t>
            </a:r>
            <a:endParaRPr lang="en-US" sz="1200" dirty="0"/>
          </a:p>
        </p:txBody>
      </p:sp>
      <p:sp>
        <p:nvSpPr>
          <p:cNvPr id="37" name="Text 35"/>
          <p:cNvSpPr/>
          <p:nvPr/>
        </p:nvSpPr>
        <p:spPr>
          <a:xfrm>
            <a:off x="812800" y="6238280"/>
            <a:ext cx="23665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0"/>
                </a:solidFill>
                <a:latin typeface="Inter" pitchFamily="34" charset="0"/>
                <a:ea typeface="Inter" pitchFamily="34" charset="-122"/>
                <a:cs typeface="Inter" pitchFamily="34" charset="-120"/>
              </a:rPr>
              <a:t>Enterprise Intelligence | FIS</a:t>
            </a:r>
            <a:endParaRPr lang="en-US" sz="1200" dirty="0"/>
          </a:p>
        </p:txBody>
      </p:sp>
      <p:sp>
        <p:nvSpPr>
          <p:cNvPr id="38" name="Text 36"/>
          <p:cNvSpPr/>
          <p:nvPr/>
        </p:nvSpPr>
        <p:spPr>
          <a:xfrm>
            <a:off x="11229925" y="6238280"/>
            <a:ext cx="14927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0"/>
                </a:solidFill>
                <a:latin typeface="Inter" pitchFamily="34" charset="0"/>
                <a:ea typeface="Inter" pitchFamily="34" charset="-122"/>
                <a:cs typeface="Inter"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251FF"/>
                </a:solidFill>
                <a:latin typeface="Inter" pitchFamily="34" charset="0"/>
                <a:ea typeface="Inter" pitchFamily="34" charset="-122"/>
                <a:cs typeface="Inter" pitchFamily="34" charset="-120"/>
              </a:rPr>
              <a:t>VALUE THEMES</a:t>
            </a:r>
            <a:endParaRPr lang="en-US" sz="1200" dirty="0"/>
          </a:p>
        </p:txBody>
      </p:sp>
      <p:sp>
        <p:nvSpPr>
          <p:cNvPr id="3" name="Text 1"/>
          <p:cNvSpPr/>
          <p:nvPr>
            <p:ph type="title"/>
          </p:nvPr>
        </p:nvSpPr>
        <p:spPr>
          <a:xfrm>
            <a:off x="812800" y="1127720"/>
            <a:ext cx="10883392" cy="784820"/>
          </a:xfrm>
          <a:prstGeom prst="rect">
            <a:avLst/>
          </a:prstGeom>
          <a:noFill/>
          <a:ln/>
        </p:spPr>
        <p:txBody>
          <a:bodyPr wrap="square" lIns="0" tIns="0" rIns="0" bIns="0" rtlCol="0" anchor="t">
            <a:normAutofit/>
          </a:bodyPr>
          <a:lstStyle/>
          <a:p>
            <a:pPr algn="l" indent="0" marL="0">
              <a:lnSpc>
                <a:spcPts val="2990"/>
              </a:lnSpc>
              <a:buNone/>
            </a:pPr>
            <a:r>
              <a:rPr lang="en-US" sz="2600" b="0" i="0" dirty="0">
                <a:solidFill>
                  <a:srgbClr val="051C2C"/>
                </a:solidFill>
                <a:latin typeface="Source Serif 4" pitchFamily="18" charset="0"/>
                <a:ea typeface="Source Serif 4" pitchFamily="18" charset="-122"/>
                <a:cs typeface="Source Serif 4" pitchFamily="18" charset="-120"/>
              </a:rPr>
              <a:t>Five value themes organize eleven use cases across the client lifecycle</a:t>
            </a:r>
            <a:endParaRPr lang="en-US" sz="2600" dirty="0"/>
          </a:p>
        </p:txBody>
      </p:sp>
      <p:sp>
        <p:nvSpPr>
          <p:cNvPr id="4" name="Shape 2"/>
          <p:cNvSpPr/>
          <p:nvPr/>
        </p:nvSpPr>
        <p:spPr>
          <a:xfrm>
            <a:off x="815975" y="2195116"/>
            <a:ext cx="2005310" cy="3643709"/>
          </a:xfrm>
          <a:prstGeom prst="rect">
            <a:avLst/>
          </a:prstGeom>
          <a:solidFill>
            <a:srgbClr val="FFFFFF"/>
          </a:solidFill>
          <a:ln w="6350">
            <a:solidFill>
              <a:srgbClr val="D5DCE2"/>
            </a:solidFill>
            <a:prstDash val="solid"/>
          </a:ln>
        </p:spPr>
      </p:sp>
      <p:sp>
        <p:nvSpPr>
          <p:cNvPr id="5" name="Text 3"/>
          <p:cNvSpPr/>
          <p:nvPr/>
        </p:nvSpPr>
        <p:spPr>
          <a:xfrm>
            <a:off x="971550" y="2376091"/>
            <a:ext cx="174498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251FF"/>
                </a:solidFill>
                <a:latin typeface="Inter" pitchFamily="34" charset="0"/>
                <a:ea typeface="Inter" pitchFamily="34" charset="-122"/>
                <a:cs typeface="Inter" pitchFamily="34" charset="-120"/>
              </a:rPr>
              <a:t>01</a:t>
            </a:r>
            <a:endParaRPr lang="en-US" sz="1200" dirty="0"/>
          </a:p>
        </p:txBody>
      </p:sp>
      <p:sp>
        <p:nvSpPr>
          <p:cNvPr id="6" name="Text 4"/>
          <p:cNvSpPr/>
          <p:nvPr/>
        </p:nvSpPr>
        <p:spPr>
          <a:xfrm>
            <a:off x="971550" y="2691011"/>
            <a:ext cx="1744985" cy="492720"/>
          </a:xfrm>
          <a:prstGeom prst="rect">
            <a:avLst/>
          </a:prstGeom>
          <a:noFill/>
          <a:ln/>
        </p:spPr>
        <p:txBody>
          <a:bodyPr wrap="square" lIns="0" tIns="0" rIns="0" bIns="0" rtlCol="0" anchor="t">
            <a:normAutofit/>
          </a:bodyPr>
          <a:lstStyle/>
          <a:p>
            <a:pPr algn="l" indent="0" marL="0">
              <a:lnSpc>
                <a:spcPts val="1840"/>
              </a:lnSpc>
              <a:buNone/>
            </a:pPr>
            <a:r>
              <a:rPr lang="en-US" sz="1600" dirty="0">
                <a:solidFill>
                  <a:srgbClr val="051C2C"/>
                </a:solidFill>
                <a:latin typeface="Source Serif 4" pitchFamily="18" charset="0"/>
                <a:ea typeface="Source Serif 4" pitchFamily="18" charset="-122"/>
                <a:cs typeface="Source Serif 4" pitchFamily="18" charset="-120"/>
              </a:rPr>
              <a:t>Know the true economics</a:t>
            </a:r>
            <a:endParaRPr lang="en-US" sz="1600" dirty="0"/>
          </a:p>
        </p:txBody>
      </p:sp>
      <p:sp>
        <p:nvSpPr>
          <p:cNvPr id="7" name="Text 5"/>
          <p:cNvSpPr/>
          <p:nvPr/>
        </p:nvSpPr>
        <p:spPr>
          <a:xfrm>
            <a:off x="971550" y="3259931"/>
            <a:ext cx="1744985" cy="642590"/>
          </a:xfrm>
          <a:prstGeom prst="rect">
            <a:avLst/>
          </a:prstGeom>
          <a:noFill/>
          <a:ln/>
        </p:spPr>
        <p:txBody>
          <a:bodyPr wrap="square" lIns="0" tIns="0" rIns="0" bIns="0" rtlCol="0" anchor="t">
            <a:normAutofit/>
          </a:bodyPr>
          <a:lstStyle/>
          <a:p>
            <a:pPr algn="l" indent="0" marL="0">
              <a:lnSpc>
                <a:spcPts val="1620"/>
              </a:lnSpc>
              <a:buNone/>
            </a:pPr>
            <a:r>
              <a:rPr lang="en-US" sz="1200" i="1" dirty="0">
                <a:solidFill>
                  <a:srgbClr val="3C4A55"/>
                </a:solidFill>
                <a:latin typeface="Inter" pitchFamily="34" charset="0"/>
                <a:ea typeface="Inter" pitchFamily="34" charset="-122"/>
                <a:cs typeface="Inter" pitchFamily="34" charset="-120"/>
              </a:rPr>
              <a:t>Which contracts, clients and products make money?</a:t>
            </a:r>
            <a:endParaRPr lang="en-US" sz="1200" dirty="0"/>
          </a:p>
        </p:txBody>
      </p:sp>
      <p:pic>
        <p:nvPicPr>
          <p:cNvPr id="8" name="Image 0" descr="line">    </p:cNvPr>
          <p:cNvPicPr>
            <a:picLocks noChangeAspect="1"/>
          </p:cNvPicPr>
          <p:nvPr/>
        </p:nvPicPr>
        <p:blipFill>
          <a:blip r:embed="rId1"/>
          <a:srcRect l="0" r="0" t="-39" b="-39"/>
          <a:stretch/>
        </p:blipFill>
        <p:spPr>
          <a:xfrm>
            <a:off x="971550" y="3978721"/>
            <a:ext cx="1694160" cy="6350"/>
          </a:xfrm>
          <a:prstGeom prst="rect">
            <a:avLst/>
          </a:prstGeom>
        </p:spPr>
      </p:pic>
      <p:sp>
        <p:nvSpPr>
          <p:cNvPr id="9" name="Text 6"/>
          <p:cNvSpPr/>
          <p:nvPr/>
        </p:nvSpPr>
        <p:spPr>
          <a:xfrm>
            <a:off x="975106" y="4086671"/>
            <a:ext cx="1741404" cy="436860"/>
          </a:xfrm>
          <a:prstGeom prst="rect">
            <a:avLst/>
          </a:prstGeom>
          <a:noFill/>
          <a:ln/>
        </p:spPr>
        <p:txBody>
          <a:bodyPr wrap="square" lIns="0" tIns="0" rIns="0" bIns="0" rtlCol="0" anchor="t">
            <a:normAutofit/>
          </a:bodyPr>
          <a:lstStyle/>
          <a:p>
            <a:pPr algn="l" marL="148844" indent="-148844">
              <a:lnSpc>
                <a:spcPts val="1620"/>
              </a:lnSpc>
              <a:buSzPct val="100000"/>
              <a:buChar char="•"/>
            </a:pPr>
            <a:r>
              <a:rPr lang="en-US" sz="1200" dirty="0">
                <a:solidFill>
                  <a:srgbClr val="051C2C"/>
                </a:solidFill>
                <a:latin typeface="Inter" pitchFamily="34" charset="0"/>
                <a:ea typeface="Inter" pitchFamily="34" charset="-122"/>
                <a:cs typeface="Inter" pitchFamily="34" charset="-120"/>
              </a:rPr>
              <a:t>True cost-to-serve and profitability</a:t>
            </a:r>
            <a:endParaRPr lang="en-US" sz="1200" dirty="0"/>
          </a:p>
        </p:txBody>
      </p:sp>
      <p:sp>
        <p:nvSpPr>
          <p:cNvPr id="10" name="Shape 7"/>
          <p:cNvSpPr/>
          <p:nvPr/>
        </p:nvSpPr>
        <p:spPr>
          <a:xfrm>
            <a:off x="2954635" y="2195116"/>
            <a:ext cx="2005310" cy="3643709"/>
          </a:xfrm>
          <a:prstGeom prst="rect">
            <a:avLst/>
          </a:prstGeom>
          <a:solidFill>
            <a:srgbClr val="FFFFFF"/>
          </a:solidFill>
          <a:ln w="6350">
            <a:solidFill>
              <a:srgbClr val="D5DCE2"/>
            </a:solidFill>
            <a:prstDash val="solid"/>
          </a:ln>
        </p:spPr>
      </p:sp>
      <p:sp>
        <p:nvSpPr>
          <p:cNvPr id="11" name="Text 8"/>
          <p:cNvSpPr/>
          <p:nvPr/>
        </p:nvSpPr>
        <p:spPr>
          <a:xfrm>
            <a:off x="3110210" y="2376091"/>
            <a:ext cx="174498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251FF"/>
                </a:solidFill>
                <a:latin typeface="Inter" pitchFamily="34" charset="0"/>
                <a:ea typeface="Inter" pitchFamily="34" charset="-122"/>
                <a:cs typeface="Inter" pitchFamily="34" charset="-120"/>
              </a:rPr>
              <a:t>02</a:t>
            </a:r>
            <a:endParaRPr lang="en-US" sz="1200" dirty="0"/>
          </a:p>
        </p:txBody>
      </p:sp>
      <p:sp>
        <p:nvSpPr>
          <p:cNvPr id="12" name="Text 9"/>
          <p:cNvSpPr/>
          <p:nvPr/>
        </p:nvSpPr>
        <p:spPr>
          <a:xfrm>
            <a:off x="3110210" y="2691011"/>
            <a:ext cx="1744985" cy="259060"/>
          </a:xfrm>
          <a:prstGeom prst="rect">
            <a:avLst/>
          </a:prstGeom>
          <a:noFill/>
          <a:ln/>
        </p:spPr>
        <p:txBody>
          <a:bodyPr wrap="square" lIns="0" tIns="0" rIns="0" bIns="0" rtlCol="0" anchor="t">
            <a:normAutofit/>
          </a:bodyPr>
          <a:lstStyle/>
          <a:p>
            <a:pPr algn="l" indent="0" marL="0">
              <a:lnSpc>
                <a:spcPts val="1840"/>
              </a:lnSpc>
              <a:buNone/>
            </a:pPr>
            <a:r>
              <a:rPr lang="en-US" sz="1600" dirty="0">
                <a:solidFill>
                  <a:srgbClr val="051C2C"/>
                </a:solidFill>
                <a:latin typeface="Source Serif 4" pitchFamily="18" charset="0"/>
                <a:ea typeface="Source Serif 4" pitchFamily="18" charset="-122"/>
                <a:cs typeface="Source Serif 4" pitchFamily="18" charset="-120"/>
              </a:rPr>
              <a:t>Protect the base</a:t>
            </a:r>
            <a:endParaRPr lang="en-US" sz="1600" dirty="0"/>
          </a:p>
        </p:txBody>
      </p:sp>
      <p:sp>
        <p:nvSpPr>
          <p:cNvPr id="13" name="Text 10"/>
          <p:cNvSpPr/>
          <p:nvPr/>
        </p:nvSpPr>
        <p:spPr>
          <a:xfrm>
            <a:off x="3110210" y="3026271"/>
            <a:ext cx="1744985" cy="642590"/>
          </a:xfrm>
          <a:prstGeom prst="rect">
            <a:avLst/>
          </a:prstGeom>
          <a:noFill/>
          <a:ln/>
        </p:spPr>
        <p:txBody>
          <a:bodyPr wrap="square" lIns="0" tIns="0" rIns="0" bIns="0" rtlCol="0" anchor="t">
            <a:normAutofit/>
          </a:bodyPr>
          <a:lstStyle/>
          <a:p>
            <a:pPr algn="l" indent="0" marL="0">
              <a:lnSpc>
                <a:spcPts val="1620"/>
              </a:lnSpc>
              <a:buNone/>
            </a:pPr>
            <a:r>
              <a:rPr lang="en-US" sz="1200" i="1" dirty="0">
                <a:solidFill>
                  <a:srgbClr val="3C4A55"/>
                </a:solidFill>
                <a:latin typeface="Inter" pitchFamily="34" charset="0"/>
                <a:ea typeface="Inter" pitchFamily="34" charset="-122"/>
                <a:cs typeface="Inter" pitchFamily="34" charset="-120"/>
              </a:rPr>
              <a:t>Who is at risk, and what do we do before they tell us?</a:t>
            </a:r>
            <a:endParaRPr lang="en-US" sz="1200" dirty="0"/>
          </a:p>
        </p:txBody>
      </p:sp>
      <p:pic>
        <p:nvPicPr>
          <p:cNvPr id="14" name="Image 1" descr="line">    </p:cNvPr>
          <p:cNvPicPr>
            <a:picLocks noChangeAspect="1"/>
          </p:cNvPicPr>
          <p:nvPr/>
        </p:nvPicPr>
        <p:blipFill>
          <a:blip r:embed="rId2"/>
          <a:srcRect l="0" r="0" t="-39" b="-39"/>
          <a:stretch/>
        </p:blipFill>
        <p:spPr>
          <a:xfrm>
            <a:off x="3110210" y="3745061"/>
            <a:ext cx="1694160" cy="6350"/>
          </a:xfrm>
          <a:prstGeom prst="rect">
            <a:avLst/>
          </a:prstGeom>
        </p:spPr>
      </p:pic>
      <p:sp>
        <p:nvSpPr>
          <p:cNvPr id="15" name="Text 11"/>
          <p:cNvSpPr/>
          <p:nvPr/>
        </p:nvSpPr>
        <p:spPr>
          <a:xfrm>
            <a:off x="3113766" y="3853011"/>
            <a:ext cx="1741404" cy="642590"/>
          </a:xfrm>
          <a:prstGeom prst="rect">
            <a:avLst/>
          </a:prstGeom>
          <a:noFill/>
          <a:ln/>
        </p:spPr>
        <p:txBody>
          <a:bodyPr wrap="square" lIns="0" tIns="0" rIns="0" bIns="0" rtlCol="0" anchor="t">
            <a:normAutofit/>
          </a:bodyPr>
          <a:lstStyle/>
          <a:p>
            <a:pPr algn="l" marL="148844" indent="-148844">
              <a:lnSpc>
                <a:spcPts val="1620"/>
              </a:lnSpc>
              <a:buSzPct val="100000"/>
              <a:buChar char="•"/>
            </a:pPr>
            <a:r>
              <a:rPr lang="en-US" sz="1200" dirty="0">
                <a:solidFill>
                  <a:srgbClr val="051C2C"/>
                </a:solidFill>
                <a:latin typeface="Inter" pitchFamily="34" charset="0"/>
                <a:ea typeface="Inter" pitchFamily="34" charset="-122"/>
                <a:cs typeface="Inter" pitchFamily="34" charset="-120"/>
              </a:rPr>
              <a:t>Proactive renewals</a:t>
            </a:r>
            <a:endParaRPr lang="en-US" sz="1200" dirty="0"/>
          </a:p>
          <a:p>
            <a:pPr algn="l" marL="148844" indent="-148844">
              <a:lnSpc>
                <a:spcPts val="1620"/>
              </a:lnSpc>
              <a:buSzPct val="100000"/>
              <a:buChar char="•"/>
            </a:pPr>
            <a:r>
              <a:rPr lang="en-US" sz="1200" dirty="0">
                <a:solidFill>
                  <a:srgbClr val="051C2C"/>
                </a:solidFill>
                <a:latin typeface="Inter" pitchFamily="34" charset="0"/>
                <a:ea typeface="Inter" pitchFamily="34" charset="-122"/>
                <a:cs typeface="Inter" pitchFamily="34" charset="-120"/>
              </a:rPr>
              <a:t>Client-level churn and compression</a:t>
            </a:r>
            <a:endParaRPr lang="en-US" sz="1200" dirty="0"/>
          </a:p>
        </p:txBody>
      </p:sp>
      <p:sp>
        <p:nvSpPr>
          <p:cNvPr id="16" name="Shape 12"/>
          <p:cNvSpPr/>
          <p:nvPr/>
        </p:nvSpPr>
        <p:spPr>
          <a:xfrm>
            <a:off x="5093295" y="2195116"/>
            <a:ext cx="2005360" cy="3643709"/>
          </a:xfrm>
          <a:prstGeom prst="rect">
            <a:avLst/>
          </a:prstGeom>
          <a:solidFill>
            <a:srgbClr val="FFFFFF"/>
          </a:solidFill>
          <a:ln w="6350">
            <a:solidFill>
              <a:srgbClr val="D5DCE2"/>
            </a:solidFill>
            <a:prstDash val="solid"/>
          </a:ln>
        </p:spPr>
      </p:sp>
      <p:sp>
        <p:nvSpPr>
          <p:cNvPr id="17" name="Text 13"/>
          <p:cNvSpPr/>
          <p:nvPr/>
        </p:nvSpPr>
        <p:spPr>
          <a:xfrm>
            <a:off x="5248870" y="2376091"/>
            <a:ext cx="174503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251FF"/>
                </a:solidFill>
                <a:latin typeface="Inter" pitchFamily="34" charset="0"/>
                <a:ea typeface="Inter" pitchFamily="34" charset="-122"/>
                <a:cs typeface="Inter" pitchFamily="34" charset="-120"/>
              </a:rPr>
              <a:t>03</a:t>
            </a:r>
            <a:endParaRPr lang="en-US" sz="1200" dirty="0"/>
          </a:p>
        </p:txBody>
      </p:sp>
      <p:sp>
        <p:nvSpPr>
          <p:cNvPr id="18" name="Text 14"/>
          <p:cNvSpPr/>
          <p:nvPr/>
        </p:nvSpPr>
        <p:spPr>
          <a:xfrm>
            <a:off x="5248870" y="2691011"/>
            <a:ext cx="1745036" cy="259060"/>
          </a:xfrm>
          <a:prstGeom prst="rect">
            <a:avLst/>
          </a:prstGeom>
          <a:noFill/>
          <a:ln/>
        </p:spPr>
        <p:txBody>
          <a:bodyPr wrap="square" lIns="0" tIns="0" rIns="0" bIns="0" rtlCol="0" anchor="t">
            <a:normAutofit/>
          </a:bodyPr>
          <a:lstStyle/>
          <a:p>
            <a:pPr algn="l" indent="0" marL="0">
              <a:lnSpc>
                <a:spcPts val="1840"/>
              </a:lnSpc>
              <a:buNone/>
            </a:pPr>
            <a:r>
              <a:rPr lang="en-US" sz="1600" dirty="0">
                <a:solidFill>
                  <a:srgbClr val="051C2C"/>
                </a:solidFill>
                <a:latin typeface="Source Serif 4" pitchFamily="18" charset="0"/>
                <a:ea typeface="Source Serif 4" pitchFamily="18" charset="-122"/>
                <a:cs typeface="Source Serif 4" pitchFamily="18" charset="-120"/>
              </a:rPr>
              <a:t>Grow the base</a:t>
            </a:r>
            <a:endParaRPr lang="en-US" sz="1600" dirty="0"/>
          </a:p>
        </p:txBody>
      </p:sp>
      <p:sp>
        <p:nvSpPr>
          <p:cNvPr id="19" name="Text 15"/>
          <p:cNvSpPr/>
          <p:nvPr/>
        </p:nvSpPr>
        <p:spPr>
          <a:xfrm>
            <a:off x="5248870" y="3026271"/>
            <a:ext cx="1745036" cy="642590"/>
          </a:xfrm>
          <a:prstGeom prst="rect">
            <a:avLst/>
          </a:prstGeom>
          <a:noFill/>
          <a:ln/>
        </p:spPr>
        <p:txBody>
          <a:bodyPr wrap="square" lIns="0" tIns="0" rIns="0" bIns="0" rtlCol="0" anchor="t">
            <a:normAutofit/>
          </a:bodyPr>
          <a:lstStyle/>
          <a:p>
            <a:pPr algn="l" indent="0" marL="0">
              <a:lnSpc>
                <a:spcPts val="1620"/>
              </a:lnSpc>
              <a:buNone/>
            </a:pPr>
            <a:r>
              <a:rPr lang="en-US" sz="1200" i="1" dirty="0">
                <a:solidFill>
                  <a:srgbClr val="3C4A55"/>
                </a:solidFill>
                <a:latin typeface="Inter" pitchFamily="34" charset="0"/>
                <a:ea typeface="Inter" pitchFamily="34" charset="-122"/>
                <a:cs typeface="Inter" pitchFamily="34" charset="-120"/>
              </a:rPr>
              <a:t>What should each client buy next, and where are the gaps?</a:t>
            </a:r>
            <a:endParaRPr lang="en-US" sz="1200" dirty="0"/>
          </a:p>
        </p:txBody>
      </p:sp>
      <p:pic>
        <p:nvPicPr>
          <p:cNvPr id="20" name="Image 2" descr="line">    </p:cNvPr>
          <p:cNvPicPr>
            <a:picLocks noChangeAspect="1"/>
          </p:cNvPicPr>
          <p:nvPr/>
        </p:nvPicPr>
        <p:blipFill>
          <a:blip r:embed="rId3"/>
          <a:srcRect l="0" r="0" t="-39" b="-39"/>
          <a:stretch/>
        </p:blipFill>
        <p:spPr>
          <a:xfrm>
            <a:off x="5248870" y="3745061"/>
            <a:ext cx="1694210" cy="6350"/>
          </a:xfrm>
          <a:prstGeom prst="rect">
            <a:avLst/>
          </a:prstGeom>
        </p:spPr>
      </p:pic>
      <p:sp>
        <p:nvSpPr>
          <p:cNvPr id="21" name="Text 16"/>
          <p:cNvSpPr/>
          <p:nvPr/>
        </p:nvSpPr>
        <p:spPr>
          <a:xfrm>
            <a:off x="5252426" y="3853011"/>
            <a:ext cx="1741454" cy="1465511"/>
          </a:xfrm>
          <a:prstGeom prst="rect">
            <a:avLst/>
          </a:prstGeom>
          <a:noFill/>
          <a:ln/>
        </p:spPr>
        <p:txBody>
          <a:bodyPr wrap="square" lIns="0" tIns="0" rIns="0" bIns="0" rtlCol="0" anchor="t">
            <a:normAutofit/>
          </a:bodyPr>
          <a:lstStyle/>
          <a:p>
            <a:pPr algn="l" marL="148844" indent="-148844">
              <a:lnSpc>
                <a:spcPts val="1620"/>
              </a:lnSpc>
              <a:buSzPct val="100000"/>
              <a:buChar char="•"/>
            </a:pPr>
            <a:r>
              <a:rPr lang="en-US" sz="1200" dirty="0">
                <a:solidFill>
                  <a:srgbClr val="051C2C"/>
                </a:solidFill>
                <a:latin typeface="Inter" pitchFamily="34" charset="0"/>
                <a:ea typeface="Inter" pitchFamily="34" charset="-122"/>
                <a:cs typeface="Inter" pitchFamily="34" charset="-120"/>
              </a:rPr>
              <a:t>Product recommendations</a:t>
            </a:r>
            <a:endParaRPr lang="en-US" sz="1200" dirty="0"/>
          </a:p>
          <a:p>
            <a:pPr algn="l" marL="148844" indent="-148844">
              <a:lnSpc>
                <a:spcPts val="1620"/>
              </a:lnSpc>
              <a:buSzPct val="100000"/>
              <a:buChar char="•"/>
            </a:pPr>
            <a:r>
              <a:rPr lang="en-US" sz="1200" dirty="0">
                <a:solidFill>
                  <a:srgbClr val="051C2C"/>
                </a:solidFill>
                <a:latin typeface="Inter" pitchFamily="34" charset="0"/>
                <a:ea typeface="Inter" pitchFamily="34" charset="-122"/>
                <a:cs typeface="Inter" pitchFamily="34" charset="-120"/>
              </a:rPr>
              <a:t>New-deal opportunities and pitches</a:t>
            </a:r>
            <a:endParaRPr lang="en-US" sz="1200" dirty="0"/>
          </a:p>
          <a:p>
            <a:pPr algn="l" marL="148844" indent="-148844">
              <a:lnSpc>
                <a:spcPts val="1620"/>
              </a:lnSpc>
              <a:buSzPct val="100000"/>
              <a:buChar char="•"/>
            </a:pPr>
            <a:r>
              <a:rPr lang="en-US" sz="1200" dirty="0">
                <a:solidFill>
                  <a:srgbClr val="051C2C"/>
                </a:solidFill>
                <a:latin typeface="Inter" pitchFamily="34" charset="0"/>
                <a:ea typeface="Inter" pitchFamily="34" charset="-122"/>
                <a:cs typeface="Inter" pitchFamily="34" charset="-120"/>
              </a:rPr>
              <a:t>Product and market whitespace</a:t>
            </a:r>
            <a:endParaRPr lang="en-US" sz="1200" dirty="0"/>
          </a:p>
        </p:txBody>
      </p:sp>
      <p:sp>
        <p:nvSpPr>
          <p:cNvPr id="22" name="Shape 17"/>
          <p:cNvSpPr/>
          <p:nvPr/>
        </p:nvSpPr>
        <p:spPr>
          <a:xfrm>
            <a:off x="7232005" y="2195116"/>
            <a:ext cx="2005310" cy="3643709"/>
          </a:xfrm>
          <a:prstGeom prst="rect">
            <a:avLst/>
          </a:prstGeom>
          <a:solidFill>
            <a:srgbClr val="FFFFFF"/>
          </a:solidFill>
          <a:ln w="6350">
            <a:solidFill>
              <a:srgbClr val="D5DCE2"/>
            </a:solidFill>
            <a:prstDash val="solid"/>
          </a:ln>
        </p:spPr>
      </p:sp>
      <p:sp>
        <p:nvSpPr>
          <p:cNvPr id="23" name="Text 18"/>
          <p:cNvSpPr/>
          <p:nvPr/>
        </p:nvSpPr>
        <p:spPr>
          <a:xfrm>
            <a:off x="7387580" y="2376091"/>
            <a:ext cx="174498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251FF"/>
                </a:solidFill>
                <a:latin typeface="Inter" pitchFamily="34" charset="0"/>
                <a:ea typeface="Inter" pitchFamily="34" charset="-122"/>
                <a:cs typeface="Inter" pitchFamily="34" charset="-120"/>
              </a:rPr>
              <a:t>04</a:t>
            </a:r>
            <a:endParaRPr lang="en-US" sz="1200" dirty="0"/>
          </a:p>
        </p:txBody>
      </p:sp>
      <p:sp>
        <p:nvSpPr>
          <p:cNvPr id="24" name="Text 19"/>
          <p:cNvSpPr/>
          <p:nvPr/>
        </p:nvSpPr>
        <p:spPr>
          <a:xfrm>
            <a:off x="7387580" y="2691011"/>
            <a:ext cx="1744985" cy="492720"/>
          </a:xfrm>
          <a:prstGeom prst="rect">
            <a:avLst/>
          </a:prstGeom>
          <a:noFill/>
          <a:ln/>
        </p:spPr>
        <p:txBody>
          <a:bodyPr wrap="square" lIns="0" tIns="0" rIns="0" bIns="0" rtlCol="0" anchor="t">
            <a:normAutofit/>
          </a:bodyPr>
          <a:lstStyle/>
          <a:p>
            <a:pPr algn="l" indent="0" marL="0">
              <a:lnSpc>
                <a:spcPts val="1840"/>
              </a:lnSpc>
              <a:buNone/>
            </a:pPr>
            <a:r>
              <a:rPr lang="en-US" sz="1600" dirty="0">
                <a:solidFill>
                  <a:srgbClr val="051C2C"/>
                </a:solidFill>
                <a:latin typeface="Source Serif 4" pitchFamily="18" charset="0"/>
                <a:ea typeface="Source Serif 4" pitchFamily="18" charset="-122"/>
                <a:cs typeface="Source Serif 4" pitchFamily="18" charset="-120"/>
              </a:rPr>
              <a:t>Recover what is contracted</a:t>
            </a:r>
            <a:endParaRPr lang="en-US" sz="1600" dirty="0"/>
          </a:p>
        </p:txBody>
      </p:sp>
      <p:sp>
        <p:nvSpPr>
          <p:cNvPr id="25" name="Text 20"/>
          <p:cNvSpPr/>
          <p:nvPr/>
        </p:nvSpPr>
        <p:spPr>
          <a:xfrm>
            <a:off x="7387580" y="3259931"/>
            <a:ext cx="1744985" cy="436860"/>
          </a:xfrm>
          <a:prstGeom prst="rect">
            <a:avLst/>
          </a:prstGeom>
          <a:noFill/>
          <a:ln/>
        </p:spPr>
        <p:txBody>
          <a:bodyPr wrap="square" lIns="0" tIns="0" rIns="0" bIns="0" rtlCol="0" anchor="t">
            <a:normAutofit/>
          </a:bodyPr>
          <a:lstStyle/>
          <a:p>
            <a:pPr algn="l" indent="0" marL="0">
              <a:lnSpc>
                <a:spcPts val="1620"/>
              </a:lnSpc>
              <a:buNone/>
            </a:pPr>
            <a:r>
              <a:rPr lang="en-US" sz="1200" i="1" dirty="0">
                <a:solidFill>
                  <a:srgbClr val="3C4A55"/>
                </a:solidFill>
                <a:latin typeface="Inter" pitchFamily="34" charset="0"/>
                <a:ea typeface="Inter" pitchFamily="34" charset="-122"/>
                <a:cs typeface="Inter" pitchFamily="34" charset="-120"/>
              </a:rPr>
              <a:t>Are we billing for everything we signed?</a:t>
            </a:r>
            <a:endParaRPr lang="en-US" sz="1200" dirty="0"/>
          </a:p>
        </p:txBody>
      </p:sp>
      <p:pic>
        <p:nvPicPr>
          <p:cNvPr id="26" name="Image 3" descr="line">    </p:cNvPr>
          <p:cNvPicPr>
            <a:picLocks noChangeAspect="1"/>
          </p:cNvPicPr>
          <p:nvPr/>
        </p:nvPicPr>
        <p:blipFill>
          <a:blip r:embed="rId4"/>
          <a:srcRect l="0" r="0" t="-39" b="-39"/>
          <a:stretch/>
        </p:blipFill>
        <p:spPr>
          <a:xfrm>
            <a:off x="7387580" y="3772991"/>
            <a:ext cx="1694160" cy="6350"/>
          </a:xfrm>
          <a:prstGeom prst="rect">
            <a:avLst/>
          </a:prstGeom>
        </p:spPr>
      </p:pic>
      <p:sp>
        <p:nvSpPr>
          <p:cNvPr id="27" name="Text 21"/>
          <p:cNvSpPr/>
          <p:nvPr/>
        </p:nvSpPr>
        <p:spPr>
          <a:xfrm>
            <a:off x="7391136" y="3880941"/>
            <a:ext cx="1741404" cy="848320"/>
          </a:xfrm>
          <a:prstGeom prst="rect">
            <a:avLst/>
          </a:prstGeom>
          <a:noFill/>
          <a:ln/>
        </p:spPr>
        <p:txBody>
          <a:bodyPr wrap="square" lIns="0" tIns="0" rIns="0" bIns="0" rtlCol="0" anchor="t">
            <a:normAutofit/>
          </a:bodyPr>
          <a:lstStyle/>
          <a:p>
            <a:pPr algn="l" marL="148844" indent="-148844">
              <a:lnSpc>
                <a:spcPts val="1620"/>
              </a:lnSpc>
              <a:buSzPct val="100000"/>
              <a:buChar char="•"/>
            </a:pPr>
            <a:r>
              <a:rPr lang="en-US" sz="1200" dirty="0">
                <a:solidFill>
                  <a:srgbClr val="051C2C"/>
                </a:solidFill>
                <a:latin typeface="Inter" pitchFamily="34" charset="0"/>
                <a:ea typeface="Inter" pitchFamily="34" charset="-122"/>
                <a:cs typeface="Inter" pitchFamily="34" charset="-120"/>
              </a:rPr>
              <a:t>Contract analysis and comparison</a:t>
            </a:r>
            <a:endParaRPr lang="en-US" sz="1200" dirty="0"/>
          </a:p>
          <a:p>
            <a:pPr algn="l" marL="148844" indent="-148844">
              <a:lnSpc>
                <a:spcPts val="1620"/>
              </a:lnSpc>
              <a:buSzPct val="100000"/>
              <a:buChar char="•"/>
            </a:pPr>
            <a:r>
              <a:rPr lang="en-US" sz="1200" dirty="0">
                <a:solidFill>
                  <a:srgbClr val="051C2C"/>
                </a:solidFill>
                <a:latin typeface="Inter" pitchFamily="34" charset="0"/>
                <a:ea typeface="Inter" pitchFamily="34" charset="-122"/>
                <a:cs typeface="Inter" pitchFamily="34" charset="-120"/>
              </a:rPr>
              <a:t>Revenue recovery and back-billing</a:t>
            </a:r>
            <a:endParaRPr lang="en-US" sz="1200" dirty="0"/>
          </a:p>
        </p:txBody>
      </p:sp>
      <p:sp>
        <p:nvSpPr>
          <p:cNvPr id="28" name="Shape 22"/>
          <p:cNvSpPr/>
          <p:nvPr/>
        </p:nvSpPr>
        <p:spPr>
          <a:xfrm>
            <a:off x="9370665" y="2195116"/>
            <a:ext cx="2005310" cy="3643709"/>
          </a:xfrm>
          <a:prstGeom prst="rect">
            <a:avLst/>
          </a:prstGeom>
          <a:solidFill>
            <a:srgbClr val="FFFFFF"/>
          </a:solidFill>
          <a:ln w="6350">
            <a:solidFill>
              <a:srgbClr val="D5DCE2"/>
            </a:solidFill>
            <a:prstDash val="solid"/>
          </a:ln>
        </p:spPr>
      </p:sp>
      <p:sp>
        <p:nvSpPr>
          <p:cNvPr id="29" name="Text 23"/>
          <p:cNvSpPr/>
          <p:nvPr/>
        </p:nvSpPr>
        <p:spPr>
          <a:xfrm>
            <a:off x="9526240" y="2376091"/>
            <a:ext cx="174498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251FF"/>
                </a:solidFill>
                <a:latin typeface="Inter" pitchFamily="34" charset="0"/>
                <a:ea typeface="Inter" pitchFamily="34" charset="-122"/>
                <a:cs typeface="Inter" pitchFamily="34" charset="-120"/>
              </a:rPr>
              <a:t>05</a:t>
            </a:r>
            <a:endParaRPr lang="en-US" sz="1200" dirty="0"/>
          </a:p>
        </p:txBody>
      </p:sp>
      <p:sp>
        <p:nvSpPr>
          <p:cNvPr id="30" name="Text 24"/>
          <p:cNvSpPr/>
          <p:nvPr/>
        </p:nvSpPr>
        <p:spPr>
          <a:xfrm>
            <a:off x="9526240" y="2691011"/>
            <a:ext cx="1744985" cy="492720"/>
          </a:xfrm>
          <a:prstGeom prst="rect">
            <a:avLst/>
          </a:prstGeom>
          <a:noFill/>
          <a:ln/>
        </p:spPr>
        <p:txBody>
          <a:bodyPr wrap="square" lIns="0" tIns="0" rIns="0" bIns="0" rtlCol="0" anchor="t">
            <a:normAutofit/>
          </a:bodyPr>
          <a:lstStyle/>
          <a:p>
            <a:pPr algn="l" indent="0" marL="0">
              <a:lnSpc>
                <a:spcPts val="1840"/>
              </a:lnSpc>
              <a:buNone/>
            </a:pPr>
            <a:r>
              <a:rPr lang="en-US" sz="1600" dirty="0">
                <a:solidFill>
                  <a:srgbClr val="051C2C"/>
                </a:solidFill>
                <a:latin typeface="Source Serif 4" pitchFamily="18" charset="0"/>
                <a:ea typeface="Source Serif 4" pitchFamily="18" charset="-122"/>
                <a:cs typeface="Source Serif 4" pitchFamily="18" charset="-120"/>
              </a:rPr>
              <a:t>Steer the enterprise</a:t>
            </a:r>
            <a:endParaRPr lang="en-US" sz="1600" dirty="0"/>
          </a:p>
        </p:txBody>
      </p:sp>
      <p:sp>
        <p:nvSpPr>
          <p:cNvPr id="31" name="Text 25"/>
          <p:cNvSpPr/>
          <p:nvPr/>
        </p:nvSpPr>
        <p:spPr>
          <a:xfrm>
            <a:off x="9526240" y="3259931"/>
            <a:ext cx="1744985" cy="436860"/>
          </a:xfrm>
          <a:prstGeom prst="rect">
            <a:avLst/>
          </a:prstGeom>
          <a:noFill/>
          <a:ln/>
        </p:spPr>
        <p:txBody>
          <a:bodyPr wrap="square" lIns="0" tIns="0" rIns="0" bIns="0" rtlCol="0" anchor="t">
            <a:normAutofit/>
          </a:bodyPr>
          <a:lstStyle/>
          <a:p>
            <a:pPr algn="l" indent="0" marL="0">
              <a:lnSpc>
                <a:spcPts val="1620"/>
              </a:lnSpc>
              <a:buNone/>
            </a:pPr>
            <a:r>
              <a:rPr lang="en-US" sz="1200" i="1" dirty="0">
                <a:solidFill>
                  <a:srgbClr val="3C4A55"/>
                </a:solidFill>
                <a:latin typeface="Inter" pitchFamily="34" charset="0"/>
                <a:ea typeface="Inter" pitchFamily="34" charset="-122"/>
                <a:cs typeface="Inter" pitchFamily="34" charset="-120"/>
              </a:rPr>
              <a:t>Where should capital go next quarter?</a:t>
            </a:r>
            <a:endParaRPr lang="en-US" sz="1200" dirty="0"/>
          </a:p>
        </p:txBody>
      </p:sp>
      <p:pic>
        <p:nvPicPr>
          <p:cNvPr id="32" name="Image 4" descr="line">    </p:cNvPr>
          <p:cNvPicPr>
            <a:picLocks noChangeAspect="1"/>
          </p:cNvPicPr>
          <p:nvPr/>
        </p:nvPicPr>
        <p:blipFill>
          <a:blip r:embed="rId5"/>
          <a:srcRect l="0" r="0" t="-39" b="-39"/>
          <a:stretch/>
        </p:blipFill>
        <p:spPr>
          <a:xfrm>
            <a:off x="9526240" y="3772991"/>
            <a:ext cx="1694160" cy="6350"/>
          </a:xfrm>
          <a:prstGeom prst="rect">
            <a:avLst/>
          </a:prstGeom>
        </p:spPr>
      </p:pic>
      <p:sp>
        <p:nvSpPr>
          <p:cNvPr id="33" name="Text 26"/>
          <p:cNvSpPr/>
          <p:nvPr/>
        </p:nvSpPr>
        <p:spPr>
          <a:xfrm>
            <a:off x="9529796" y="3880941"/>
            <a:ext cx="1741404" cy="848320"/>
          </a:xfrm>
          <a:prstGeom prst="rect">
            <a:avLst/>
          </a:prstGeom>
          <a:noFill/>
          <a:ln/>
        </p:spPr>
        <p:txBody>
          <a:bodyPr wrap="square" lIns="0" tIns="0" rIns="0" bIns="0" rtlCol="0" anchor="t">
            <a:normAutofit/>
          </a:bodyPr>
          <a:lstStyle/>
          <a:p>
            <a:pPr algn="l" marL="148844" indent="-148844">
              <a:lnSpc>
                <a:spcPts val="1620"/>
              </a:lnSpc>
              <a:buSzPct val="100000"/>
              <a:buChar char="•"/>
            </a:pPr>
            <a:r>
              <a:rPr lang="en-US" sz="1200" dirty="0">
                <a:solidFill>
                  <a:srgbClr val="051C2C"/>
                </a:solidFill>
                <a:latin typeface="Inter" pitchFamily="34" charset="0"/>
                <a:ea typeface="Inter" pitchFamily="34" charset="-122"/>
                <a:cs typeface="Inter" pitchFamily="34" charset="-120"/>
              </a:rPr>
              <a:t>Portfolio at a glance</a:t>
            </a:r>
            <a:endParaRPr lang="en-US" sz="1200" dirty="0"/>
          </a:p>
          <a:p>
            <a:pPr algn="l" marL="148844" indent="-148844">
              <a:lnSpc>
                <a:spcPts val="1620"/>
              </a:lnSpc>
              <a:buSzPct val="100000"/>
              <a:buChar char="•"/>
            </a:pPr>
            <a:r>
              <a:rPr lang="en-US" sz="1200" dirty="0">
                <a:solidFill>
                  <a:srgbClr val="051C2C"/>
                </a:solidFill>
                <a:latin typeface="Inter" pitchFamily="34" charset="0"/>
                <a:ea typeface="Inter" pitchFamily="34" charset="-122"/>
                <a:cs typeface="Inter" pitchFamily="34" charset="-120"/>
              </a:rPr>
              <a:t>Real-time cash and revenue forecast</a:t>
            </a:r>
            <a:endParaRPr lang="en-US" sz="1200" dirty="0"/>
          </a:p>
          <a:p>
            <a:pPr algn="l" marL="148844" indent="-148844">
              <a:lnSpc>
                <a:spcPts val="1620"/>
              </a:lnSpc>
              <a:buSzPct val="100000"/>
              <a:buChar char="•"/>
            </a:pPr>
            <a:r>
              <a:rPr lang="en-US" sz="1200" dirty="0">
                <a:solidFill>
                  <a:srgbClr val="051C2C"/>
                </a:solidFill>
                <a:latin typeface="Inter" pitchFamily="34" charset="0"/>
                <a:ea typeface="Inter" pitchFamily="34" charset="-122"/>
                <a:cs typeface="Inter" pitchFamily="34" charset="-120"/>
              </a:rPr>
              <a:t>Capital allocation</a:t>
            </a:r>
            <a:endParaRPr lang="en-US" sz="1200" dirty="0"/>
          </a:p>
        </p:txBody>
      </p:sp>
      <p:sp>
        <p:nvSpPr>
          <p:cNvPr id="34" name="Text 27"/>
          <p:cNvSpPr/>
          <p:nvPr/>
        </p:nvSpPr>
        <p:spPr>
          <a:xfrm>
            <a:off x="812800" y="6238280"/>
            <a:ext cx="23665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0"/>
                </a:solidFill>
                <a:latin typeface="Inter" pitchFamily="34" charset="0"/>
                <a:ea typeface="Inter" pitchFamily="34" charset="-122"/>
                <a:cs typeface="Inter" pitchFamily="34" charset="-120"/>
              </a:rPr>
              <a:t>Enterprise Intelligence | FIS</a:t>
            </a:r>
            <a:endParaRPr lang="en-US" sz="1200" dirty="0"/>
          </a:p>
        </p:txBody>
      </p:sp>
      <p:sp>
        <p:nvSpPr>
          <p:cNvPr id="35" name="Text 28"/>
          <p:cNvSpPr/>
          <p:nvPr/>
        </p:nvSpPr>
        <p:spPr>
          <a:xfrm>
            <a:off x="11237962" y="6238280"/>
            <a:ext cx="14123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0"/>
                </a:solidFill>
                <a:latin typeface="Inter" pitchFamily="34" charset="0"/>
                <a:ea typeface="Inter" pitchFamily="34" charset="-122"/>
                <a:cs typeface="Inter"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251FF"/>
                </a:solidFill>
                <a:latin typeface="Inter" pitchFamily="34" charset="0"/>
                <a:ea typeface="Inter" pitchFamily="34" charset="-122"/>
                <a:cs typeface="Inter" pitchFamily="34" charset="-120"/>
              </a:rPr>
              <a:t>01 KNOW THE TRUE ECONOMICS</a:t>
            </a:r>
            <a:endParaRPr lang="en-US" sz="1200" dirty="0"/>
          </a:p>
        </p:txBody>
      </p:sp>
      <p:sp>
        <p:nvSpPr>
          <p:cNvPr id="3" name="Text 1"/>
          <p:cNvSpPr/>
          <p:nvPr>
            <p:ph type="title"/>
          </p:nvPr>
        </p:nvSpPr>
        <p:spPr>
          <a:xfrm>
            <a:off x="812800" y="1127720"/>
            <a:ext cx="10883392" cy="784820"/>
          </a:xfrm>
          <a:prstGeom prst="rect">
            <a:avLst/>
          </a:prstGeom>
          <a:noFill/>
          <a:ln/>
        </p:spPr>
        <p:txBody>
          <a:bodyPr wrap="square" lIns="0" tIns="0" rIns="0" bIns="0" rtlCol="0" anchor="t">
            <a:normAutofit/>
          </a:bodyPr>
          <a:lstStyle/>
          <a:p>
            <a:pPr algn="l" indent="0" marL="0">
              <a:lnSpc>
                <a:spcPts val="2990"/>
              </a:lnSpc>
              <a:buNone/>
            </a:pPr>
            <a:r>
              <a:rPr lang="en-US" sz="2600" b="0" i="0" dirty="0">
                <a:solidFill>
                  <a:srgbClr val="051C2C"/>
                </a:solidFill>
                <a:latin typeface="Source Serif 4" pitchFamily="18" charset="0"/>
                <a:ea typeface="Source Serif 4" pitchFamily="18" charset="-122"/>
                <a:cs typeface="Source Serif 4" pitchFamily="18" charset="-120"/>
              </a:rPr>
              <a:t>True cost-to-serve reveals which contracts, clients and products actually create value</a:t>
            </a:r>
            <a:endParaRPr lang="en-US" sz="2600" dirty="0"/>
          </a:p>
        </p:txBody>
      </p:sp>
      <p:sp>
        <p:nvSpPr>
          <p:cNvPr id="4" name="Text 2"/>
          <p:cNvSpPr/>
          <p:nvPr/>
        </p:nvSpPr>
        <p:spPr>
          <a:xfrm>
            <a:off x="812800" y="2191941"/>
            <a:ext cx="4709160"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51C2C"/>
                </a:solidFill>
                <a:latin typeface="Inter" pitchFamily="34" charset="0"/>
                <a:ea typeface="Inter" pitchFamily="34" charset="-122"/>
                <a:cs typeface="Inter" pitchFamily="34" charset="-120"/>
              </a:rPr>
              <a:t>Build the true input cost</a:t>
            </a:r>
            <a:endParaRPr lang="en-US" sz="1300" dirty="0"/>
          </a:p>
        </p:txBody>
      </p:sp>
      <p:sp>
        <p:nvSpPr>
          <p:cNvPr id="5" name="Shape 3"/>
          <p:cNvSpPr/>
          <p:nvPr/>
        </p:nvSpPr>
        <p:spPr>
          <a:xfrm>
            <a:off x="815975" y="2494806"/>
            <a:ext cx="4565650" cy="491480"/>
          </a:xfrm>
          <a:prstGeom prst="rect">
            <a:avLst/>
          </a:prstGeom>
          <a:solidFill>
            <a:srgbClr val="FFFFFF"/>
          </a:solidFill>
          <a:ln w="6350">
            <a:solidFill>
              <a:srgbClr val="D5DCE2"/>
            </a:solidFill>
            <a:prstDash val="solid"/>
          </a:ln>
        </p:spPr>
      </p:sp>
      <p:sp>
        <p:nvSpPr>
          <p:cNvPr id="6" name="Text 4"/>
          <p:cNvSpPr/>
          <p:nvPr/>
        </p:nvSpPr>
        <p:spPr>
          <a:xfrm>
            <a:off x="971550" y="2624981"/>
            <a:ext cx="1562457"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51C2C"/>
                </a:solidFill>
                <a:latin typeface="Inter" pitchFamily="34" charset="0"/>
                <a:ea typeface="Inter" pitchFamily="34" charset="-122"/>
                <a:cs typeface="Inter" pitchFamily="34" charset="-120"/>
              </a:rPr>
              <a:t>Vendor licensing</a:t>
            </a:r>
            <a:endParaRPr lang="en-US" sz="1300" dirty="0"/>
          </a:p>
        </p:txBody>
      </p:sp>
      <p:sp>
        <p:nvSpPr>
          <p:cNvPr id="7" name="Text 5"/>
          <p:cNvSpPr/>
          <p:nvPr/>
        </p:nvSpPr>
        <p:spPr>
          <a:xfrm>
            <a:off x="3757652" y="2624981"/>
            <a:ext cx="1468398" cy="25653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0"/>
                </a:solidFill>
                <a:latin typeface="Inter" pitchFamily="34" charset="0"/>
                <a:ea typeface="Inter" pitchFamily="34" charset="-122"/>
                <a:cs typeface="Inter" pitchFamily="34" charset="-120"/>
              </a:rPr>
              <a:t>vendor contracts</a:t>
            </a:r>
            <a:endParaRPr lang="en-US" sz="1200" dirty="0"/>
          </a:p>
        </p:txBody>
      </p:sp>
      <p:sp>
        <p:nvSpPr>
          <p:cNvPr id="8" name="Shape 6"/>
          <p:cNvSpPr/>
          <p:nvPr/>
        </p:nvSpPr>
        <p:spPr>
          <a:xfrm>
            <a:off x="815975" y="3094236"/>
            <a:ext cx="4565650" cy="491480"/>
          </a:xfrm>
          <a:prstGeom prst="rect">
            <a:avLst/>
          </a:prstGeom>
          <a:solidFill>
            <a:srgbClr val="FFFFFF"/>
          </a:solidFill>
          <a:ln w="6350">
            <a:solidFill>
              <a:srgbClr val="D5DCE2"/>
            </a:solidFill>
            <a:prstDash val="solid"/>
          </a:ln>
        </p:spPr>
      </p:sp>
      <p:sp>
        <p:nvSpPr>
          <p:cNvPr id="9" name="Text 7"/>
          <p:cNvSpPr/>
          <p:nvPr/>
        </p:nvSpPr>
        <p:spPr>
          <a:xfrm>
            <a:off x="971550" y="3224411"/>
            <a:ext cx="1645087"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51C2C"/>
                </a:solidFill>
                <a:latin typeface="Inter" pitchFamily="34" charset="0"/>
                <a:ea typeface="Inter" pitchFamily="34" charset="-122"/>
                <a:cs typeface="Inter" pitchFamily="34" charset="-120"/>
              </a:rPr>
              <a:t>+ Contractor time</a:t>
            </a:r>
            <a:endParaRPr lang="en-US" sz="1300" dirty="0"/>
          </a:p>
        </p:txBody>
      </p:sp>
      <p:sp>
        <p:nvSpPr>
          <p:cNvPr id="10" name="Text 8"/>
          <p:cNvSpPr/>
          <p:nvPr/>
        </p:nvSpPr>
        <p:spPr>
          <a:xfrm>
            <a:off x="4102933" y="3224411"/>
            <a:ext cx="1123117" cy="25653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0"/>
                </a:solidFill>
                <a:latin typeface="Inter" pitchFamily="34" charset="0"/>
                <a:ea typeface="Inter" pitchFamily="34" charset="-122"/>
                <a:cs typeface="Inter" pitchFamily="34" charset="-120"/>
              </a:rPr>
              <a:t>time tracking</a:t>
            </a:r>
            <a:endParaRPr lang="en-US" sz="1200" dirty="0"/>
          </a:p>
        </p:txBody>
      </p:sp>
      <p:sp>
        <p:nvSpPr>
          <p:cNvPr id="11" name="Shape 9"/>
          <p:cNvSpPr/>
          <p:nvPr/>
        </p:nvSpPr>
        <p:spPr>
          <a:xfrm>
            <a:off x="815975" y="3693666"/>
            <a:ext cx="4565650" cy="491480"/>
          </a:xfrm>
          <a:prstGeom prst="rect">
            <a:avLst/>
          </a:prstGeom>
          <a:solidFill>
            <a:srgbClr val="FFFFFF"/>
          </a:solidFill>
          <a:ln w="6350">
            <a:solidFill>
              <a:srgbClr val="D5DCE2"/>
            </a:solidFill>
            <a:prstDash val="solid"/>
          </a:ln>
        </p:spPr>
      </p:sp>
      <p:sp>
        <p:nvSpPr>
          <p:cNvPr id="12" name="Text 10"/>
          <p:cNvSpPr/>
          <p:nvPr/>
        </p:nvSpPr>
        <p:spPr>
          <a:xfrm>
            <a:off x="971550" y="3823841"/>
            <a:ext cx="1559719"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51C2C"/>
                </a:solidFill>
                <a:latin typeface="Inter" pitchFamily="34" charset="0"/>
                <a:ea typeface="Inter" pitchFamily="34" charset="-122"/>
                <a:cs typeface="Inter" pitchFamily="34" charset="-120"/>
              </a:rPr>
              <a:t>+ Employee time</a:t>
            </a:r>
            <a:endParaRPr lang="en-US" sz="1300" dirty="0"/>
          </a:p>
        </p:txBody>
      </p:sp>
      <p:sp>
        <p:nvSpPr>
          <p:cNvPr id="13" name="Text 11"/>
          <p:cNvSpPr/>
          <p:nvPr/>
        </p:nvSpPr>
        <p:spPr>
          <a:xfrm>
            <a:off x="4102933" y="3823841"/>
            <a:ext cx="1123117" cy="25653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0"/>
                </a:solidFill>
                <a:latin typeface="Inter" pitchFamily="34" charset="0"/>
                <a:ea typeface="Inter" pitchFamily="34" charset="-122"/>
                <a:cs typeface="Inter" pitchFamily="34" charset="-120"/>
              </a:rPr>
              <a:t>time tracking</a:t>
            </a:r>
            <a:endParaRPr lang="en-US" sz="1200" dirty="0"/>
          </a:p>
        </p:txBody>
      </p:sp>
      <p:sp>
        <p:nvSpPr>
          <p:cNvPr id="14" name="Shape 12"/>
          <p:cNvSpPr/>
          <p:nvPr/>
        </p:nvSpPr>
        <p:spPr>
          <a:xfrm>
            <a:off x="812800" y="4289921"/>
            <a:ext cx="4572000" cy="485130"/>
          </a:xfrm>
          <a:prstGeom prst="rect">
            <a:avLst/>
          </a:prstGeom>
          <a:solidFill>
            <a:srgbClr val="051C2C"/>
          </a:solidFill>
          <a:ln/>
        </p:spPr>
      </p:sp>
      <p:sp>
        <p:nvSpPr>
          <p:cNvPr id="15" name="Text 13"/>
          <p:cNvSpPr/>
          <p:nvPr/>
        </p:nvSpPr>
        <p:spPr>
          <a:xfrm>
            <a:off x="965200" y="4416921"/>
            <a:ext cx="1637943"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4F6F8"/>
                </a:solidFill>
                <a:latin typeface="Inter" pitchFamily="34" charset="0"/>
                <a:ea typeface="Inter" pitchFamily="34" charset="-122"/>
                <a:cs typeface="Inter" pitchFamily="34" charset="-120"/>
              </a:rPr>
              <a:t>= True input cost</a:t>
            </a:r>
            <a:endParaRPr lang="en-US" sz="1300" dirty="0"/>
          </a:p>
        </p:txBody>
      </p:sp>
      <p:sp>
        <p:nvSpPr>
          <p:cNvPr id="16" name="Text 14"/>
          <p:cNvSpPr/>
          <p:nvPr/>
        </p:nvSpPr>
        <p:spPr>
          <a:xfrm>
            <a:off x="2827992" y="4416921"/>
            <a:ext cx="2404408" cy="25653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00A9F4"/>
                </a:solidFill>
                <a:latin typeface="Inter" pitchFamily="34" charset="0"/>
                <a:ea typeface="Inter" pitchFamily="34" charset="-122"/>
                <a:cs typeface="Inter" pitchFamily="34" charset="-120"/>
              </a:rPr>
              <a:t>per contract, client, product</a:t>
            </a:r>
            <a:endParaRPr lang="en-US" sz="1200" dirty="0"/>
          </a:p>
        </p:txBody>
      </p:sp>
      <p:sp>
        <p:nvSpPr>
          <p:cNvPr id="17" name="Text 15"/>
          <p:cNvSpPr/>
          <p:nvPr/>
        </p:nvSpPr>
        <p:spPr>
          <a:xfrm>
            <a:off x="812800" y="4876651"/>
            <a:ext cx="47091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A55"/>
                </a:solidFill>
                <a:latin typeface="Inter" pitchFamily="34" charset="0"/>
                <a:ea typeface="Inter" pitchFamily="34" charset="-122"/>
                <a:cs typeface="Inter" pitchFamily="34" charset="-120"/>
              </a:rPr>
              <a:t>Set against contracted and billed revenue, it yields margin at every level of the portfolio.</a:t>
            </a:r>
            <a:endParaRPr lang="en-US" sz="1200" dirty="0"/>
          </a:p>
        </p:txBody>
      </p:sp>
      <p:sp>
        <p:nvSpPr>
          <p:cNvPr id="18" name="Text 16"/>
          <p:cNvSpPr/>
          <p:nvPr/>
        </p:nvSpPr>
        <p:spPr>
          <a:xfrm>
            <a:off x="5892800" y="2191941"/>
            <a:ext cx="5650992"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51C2C"/>
                </a:solidFill>
                <a:latin typeface="Inter" pitchFamily="34" charset="0"/>
                <a:ea typeface="Inter" pitchFamily="34" charset="-122"/>
                <a:cs typeface="Inter" pitchFamily="34" charset="-120"/>
              </a:rPr>
              <a:t>Act on every client and product</a:t>
            </a:r>
            <a:endParaRPr lang="en-US" sz="1300" dirty="0"/>
          </a:p>
        </p:txBody>
      </p:sp>
      <p:sp>
        <p:nvSpPr>
          <p:cNvPr id="19" name="Shape 17"/>
          <p:cNvSpPr/>
          <p:nvPr/>
        </p:nvSpPr>
        <p:spPr>
          <a:xfrm>
            <a:off x="5892800" y="2491631"/>
            <a:ext cx="2717800" cy="1598960"/>
          </a:xfrm>
          <a:prstGeom prst="rect">
            <a:avLst/>
          </a:prstGeom>
          <a:solidFill>
            <a:srgbClr val="DCE3E9"/>
          </a:solidFill>
          <a:ln/>
        </p:spPr>
      </p:sp>
      <p:sp>
        <p:nvSpPr>
          <p:cNvPr id="20" name="Text 18"/>
          <p:cNvSpPr/>
          <p:nvPr/>
        </p:nvSpPr>
        <p:spPr>
          <a:xfrm>
            <a:off x="6045200" y="2644031"/>
            <a:ext cx="248539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51C2C"/>
                </a:solidFill>
                <a:latin typeface="Inter" pitchFamily="34" charset="0"/>
                <a:ea typeface="Inter" pitchFamily="34" charset="-122"/>
                <a:cs typeface="Inter" pitchFamily="34" charset="-120"/>
              </a:rPr>
              <a:t>Nurture</a:t>
            </a:r>
            <a:endParaRPr lang="en-US" sz="1400" dirty="0"/>
          </a:p>
        </p:txBody>
      </p:sp>
      <p:sp>
        <p:nvSpPr>
          <p:cNvPr id="21" name="Text 19"/>
          <p:cNvSpPr/>
          <p:nvPr/>
        </p:nvSpPr>
        <p:spPr>
          <a:xfrm>
            <a:off x="6045200" y="2908151"/>
            <a:ext cx="248539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A55"/>
                </a:solidFill>
                <a:latin typeface="Inter" pitchFamily="34" charset="0"/>
                <a:ea typeface="Inter" pitchFamily="34" charset="-122"/>
                <a:cs typeface="Inter" pitchFamily="34" charset="-120"/>
              </a:rPr>
              <a:t>High margin, low revenue: expand</a:t>
            </a:r>
            <a:endParaRPr lang="en-US" sz="1200" dirty="0"/>
          </a:p>
        </p:txBody>
      </p:sp>
      <p:sp>
        <p:nvSpPr>
          <p:cNvPr id="22" name="Shape 20"/>
          <p:cNvSpPr/>
          <p:nvPr/>
        </p:nvSpPr>
        <p:spPr>
          <a:xfrm>
            <a:off x="8661400" y="2491631"/>
            <a:ext cx="2717800" cy="1598960"/>
          </a:xfrm>
          <a:prstGeom prst="rect">
            <a:avLst/>
          </a:prstGeom>
          <a:solidFill>
            <a:srgbClr val="2251FF"/>
          </a:solidFill>
          <a:ln/>
        </p:spPr>
      </p:sp>
      <p:sp>
        <p:nvSpPr>
          <p:cNvPr id="23" name="Text 21"/>
          <p:cNvSpPr/>
          <p:nvPr/>
        </p:nvSpPr>
        <p:spPr>
          <a:xfrm>
            <a:off x="8813800" y="2644031"/>
            <a:ext cx="248539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FFFFF"/>
                </a:solidFill>
                <a:latin typeface="Inter" pitchFamily="34" charset="0"/>
                <a:ea typeface="Inter" pitchFamily="34" charset="-122"/>
                <a:cs typeface="Inter" pitchFamily="34" charset="-120"/>
              </a:rPr>
              <a:t>Invest and grow</a:t>
            </a:r>
            <a:endParaRPr lang="en-US" sz="1400" dirty="0"/>
          </a:p>
        </p:txBody>
      </p:sp>
      <p:sp>
        <p:nvSpPr>
          <p:cNvPr id="24" name="Text 22"/>
          <p:cNvSpPr/>
          <p:nvPr/>
        </p:nvSpPr>
        <p:spPr>
          <a:xfrm>
            <a:off x="8813800" y="2908151"/>
            <a:ext cx="24853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CFF"/>
                </a:solidFill>
                <a:latin typeface="Inter" pitchFamily="34" charset="0"/>
                <a:ea typeface="Inter" pitchFamily="34" charset="-122"/>
                <a:cs typeface="Inter" pitchFamily="34" charset="-120"/>
              </a:rPr>
              <a:t>High margin, high revenue</a:t>
            </a:r>
            <a:endParaRPr lang="en-US" sz="1200" dirty="0"/>
          </a:p>
        </p:txBody>
      </p:sp>
      <p:sp>
        <p:nvSpPr>
          <p:cNvPr id="25" name="Shape 23"/>
          <p:cNvSpPr/>
          <p:nvPr/>
        </p:nvSpPr>
        <p:spPr>
          <a:xfrm>
            <a:off x="5892800" y="4141391"/>
            <a:ext cx="2717800" cy="1385689"/>
          </a:xfrm>
          <a:prstGeom prst="rect">
            <a:avLst/>
          </a:prstGeom>
          <a:solidFill>
            <a:srgbClr val="EEF1F4"/>
          </a:solidFill>
          <a:ln/>
        </p:spPr>
      </p:sp>
      <p:sp>
        <p:nvSpPr>
          <p:cNvPr id="26" name="Text 24"/>
          <p:cNvSpPr/>
          <p:nvPr/>
        </p:nvSpPr>
        <p:spPr>
          <a:xfrm>
            <a:off x="6045200" y="4293791"/>
            <a:ext cx="248539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51C2C"/>
                </a:solidFill>
                <a:latin typeface="Inter" pitchFamily="34" charset="0"/>
                <a:ea typeface="Inter" pitchFamily="34" charset="-122"/>
                <a:cs typeface="Inter" pitchFamily="34" charset="-120"/>
              </a:rPr>
              <a:t>Exit or migrate</a:t>
            </a:r>
            <a:endParaRPr lang="en-US" sz="1400" dirty="0"/>
          </a:p>
        </p:txBody>
      </p:sp>
      <p:sp>
        <p:nvSpPr>
          <p:cNvPr id="27" name="Text 25"/>
          <p:cNvSpPr/>
          <p:nvPr/>
        </p:nvSpPr>
        <p:spPr>
          <a:xfrm>
            <a:off x="6045200" y="4557911"/>
            <a:ext cx="24853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A55"/>
                </a:solidFill>
                <a:latin typeface="Inter" pitchFamily="34" charset="0"/>
                <a:ea typeface="Inter" pitchFamily="34" charset="-122"/>
                <a:cs typeface="Inter" pitchFamily="34" charset="-120"/>
              </a:rPr>
              <a:t>Low margin, low revenue</a:t>
            </a:r>
            <a:endParaRPr lang="en-US" sz="1200" dirty="0"/>
          </a:p>
        </p:txBody>
      </p:sp>
      <p:sp>
        <p:nvSpPr>
          <p:cNvPr id="28" name="Shape 26"/>
          <p:cNvSpPr/>
          <p:nvPr/>
        </p:nvSpPr>
        <p:spPr>
          <a:xfrm>
            <a:off x="8661400" y="4141391"/>
            <a:ext cx="2717800" cy="1385689"/>
          </a:xfrm>
          <a:prstGeom prst="rect">
            <a:avLst/>
          </a:prstGeom>
          <a:solidFill>
            <a:srgbClr val="A9BCCD"/>
          </a:solidFill>
          <a:ln/>
        </p:spPr>
      </p:sp>
      <p:sp>
        <p:nvSpPr>
          <p:cNvPr id="29" name="Text 27"/>
          <p:cNvSpPr/>
          <p:nvPr/>
        </p:nvSpPr>
        <p:spPr>
          <a:xfrm>
            <a:off x="8813800" y="4293791"/>
            <a:ext cx="248539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51C2C"/>
                </a:solidFill>
                <a:latin typeface="Inter" pitchFamily="34" charset="0"/>
                <a:ea typeface="Inter" pitchFamily="34" charset="-122"/>
                <a:cs typeface="Inter" pitchFamily="34" charset="-120"/>
              </a:rPr>
              <a:t>Reprice or restructure</a:t>
            </a:r>
            <a:endParaRPr lang="en-US" sz="1400" dirty="0"/>
          </a:p>
        </p:txBody>
      </p:sp>
      <p:sp>
        <p:nvSpPr>
          <p:cNvPr id="30" name="Text 28"/>
          <p:cNvSpPr/>
          <p:nvPr/>
        </p:nvSpPr>
        <p:spPr>
          <a:xfrm>
            <a:off x="8813800" y="4557911"/>
            <a:ext cx="24853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4323D"/>
                </a:solidFill>
                <a:latin typeface="Inter" pitchFamily="34" charset="0"/>
                <a:ea typeface="Inter" pitchFamily="34" charset="-122"/>
                <a:cs typeface="Inter" pitchFamily="34" charset="-120"/>
              </a:rPr>
              <a:t>Low margin, high revenue</a:t>
            </a:r>
            <a:endParaRPr lang="en-US" sz="1200" dirty="0"/>
          </a:p>
        </p:txBody>
      </p:sp>
      <p:sp>
        <p:nvSpPr>
          <p:cNvPr id="31" name="Text 29"/>
          <p:cNvSpPr/>
          <p:nvPr/>
        </p:nvSpPr>
        <p:spPr>
          <a:xfrm>
            <a:off x="5892800" y="5628680"/>
            <a:ext cx="80218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0"/>
                </a:solidFill>
                <a:latin typeface="Inter" pitchFamily="34" charset="0"/>
                <a:ea typeface="Inter" pitchFamily="34" charset="-122"/>
                <a:cs typeface="Inter" pitchFamily="34" charset="-120"/>
              </a:rPr>
              <a:t>↑ Margin</a:t>
            </a:r>
            <a:endParaRPr lang="en-US" sz="1200" dirty="0"/>
          </a:p>
        </p:txBody>
      </p:sp>
      <p:sp>
        <p:nvSpPr>
          <p:cNvPr id="32" name="Text 30"/>
          <p:cNvSpPr/>
          <p:nvPr/>
        </p:nvSpPr>
        <p:spPr>
          <a:xfrm>
            <a:off x="10398185" y="5628680"/>
            <a:ext cx="98101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0"/>
                </a:solidFill>
                <a:latin typeface="Inter" pitchFamily="34" charset="0"/>
                <a:ea typeface="Inter" pitchFamily="34" charset="-122"/>
                <a:cs typeface="Inter" pitchFamily="34" charset="-120"/>
              </a:rPr>
              <a:t>Revenue →</a:t>
            </a:r>
            <a:endParaRPr lang="en-US" sz="1200" dirty="0"/>
          </a:p>
        </p:txBody>
      </p:sp>
      <p:sp>
        <p:nvSpPr>
          <p:cNvPr id="33" name="Text 31"/>
          <p:cNvSpPr/>
          <p:nvPr/>
        </p:nvSpPr>
        <p:spPr>
          <a:xfrm>
            <a:off x="812800" y="6238280"/>
            <a:ext cx="23665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0"/>
                </a:solidFill>
                <a:latin typeface="Inter" pitchFamily="34" charset="0"/>
                <a:ea typeface="Inter" pitchFamily="34" charset="-122"/>
                <a:cs typeface="Inter" pitchFamily="34" charset="-120"/>
              </a:rPr>
              <a:t>Enterprise Intelligence | FIS</a:t>
            </a:r>
            <a:endParaRPr lang="en-US" sz="1200" dirty="0"/>
          </a:p>
        </p:txBody>
      </p:sp>
      <p:sp>
        <p:nvSpPr>
          <p:cNvPr id="34" name="Text 32"/>
          <p:cNvSpPr/>
          <p:nvPr/>
        </p:nvSpPr>
        <p:spPr>
          <a:xfrm>
            <a:off x="11233894" y="6238280"/>
            <a:ext cx="145306"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0"/>
                </a:solidFill>
                <a:latin typeface="Inter" pitchFamily="34" charset="0"/>
                <a:ea typeface="Inter" pitchFamily="34" charset="-122"/>
                <a:cs typeface="Inter"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251FF"/>
                </a:solidFill>
                <a:latin typeface="Inter" pitchFamily="34" charset="0"/>
                <a:ea typeface="Inter" pitchFamily="34" charset="-122"/>
                <a:cs typeface="Inter" pitchFamily="34" charset="-120"/>
              </a:rPr>
              <a:t>02 PROTECT THE BASE</a:t>
            </a:r>
            <a:endParaRPr lang="en-US" sz="1200" dirty="0"/>
          </a:p>
        </p:txBody>
      </p:sp>
      <p:sp>
        <p:nvSpPr>
          <p:cNvPr id="3" name="Text 1"/>
          <p:cNvSpPr/>
          <p:nvPr>
            <p:ph type="title"/>
          </p:nvPr>
        </p:nvSpPr>
        <p:spPr>
          <a:xfrm>
            <a:off x="812800" y="1127720"/>
            <a:ext cx="10883392" cy="784820"/>
          </a:xfrm>
          <a:prstGeom prst="rect">
            <a:avLst/>
          </a:prstGeom>
          <a:noFill/>
          <a:ln/>
        </p:spPr>
        <p:txBody>
          <a:bodyPr wrap="square" lIns="0" tIns="0" rIns="0" bIns="0" rtlCol="0" anchor="t">
            <a:normAutofit/>
          </a:bodyPr>
          <a:lstStyle/>
          <a:p>
            <a:pPr algn="l" indent="0" marL="0">
              <a:lnSpc>
                <a:spcPts val="2990"/>
              </a:lnSpc>
              <a:buNone/>
            </a:pPr>
            <a:r>
              <a:rPr lang="en-US" sz="2600" b="0" i="0" dirty="0">
                <a:solidFill>
                  <a:srgbClr val="051C2C"/>
                </a:solidFill>
                <a:latin typeface="Source Serif 4" pitchFamily="18" charset="0"/>
                <a:ea typeface="Source Serif 4" pitchFamily="18" charset="-122"/>
                <a:cs typeface="Source Serif 4" pitchFamily="18" charset="-120"/>
              </a:rPr>
              <a:t>Operational signals flag renewal risk months before the client raises it</a:t>
            </a:r>
            <a:endParaRPr lang="en-US" sz="2600" dirty="0"/>
          </a:p>
        </p:txBody>
      </p:sp>
      <p:sp>
        <p:nvSpPr>
          <p:cNvPr id="4" name="Text 2"/>
          <p:cNvSpPr/>
          <p:nvPr/>
        </p:nvSpPr>
        <p:spPr>
          <a:xfrm>
            <a:off x="812800" y="219194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B7680"/>
                </a:solidFill>
                <a:latin typeface="Inter" pitchFamily="34" charset="0"/>
                <a:ea typeface="Inter" pitchFamily="34" charset="-122"/>
                <a:cs typeface="Inter" pitchFamily="34" charset="-120"/>
              </a:rPr>
              <a:t>EARLY-WARNING CHAIN (illustrative)</a:t>
            </a:r>
            <a:endParaRPr lang="en-US" sz="1200" dirty="0"/>
          </a:p>
        </p:txBody>
      </p:sp>
      <p:sp>
        <p:nvSpPr>
          <p:cNvPr id="5" name="Shape 3"/>
          <p:cNvSpPr/>
          <p:nvPr/>
        </p:nvSpPr>
        <p:spPr>
          <a:xfrm>
            <a:off x="812800" y="2506861"/>
            <a:ext cx="1718717" cy="690811"/>
          </a:xfrm>
          <a:prstGeom prst="rect">
            <a:avLst/>
          </a:prstGeom>
          <a:solidFill>
            <a:srgbClr val="EEF1F4"/>
          </a:solidFill>
          <a:ln/>
        </p:spPr>
      </p:sp>
      <p:sp>
        <p:nvSpPr>
          <p:cNvPr id="6" name="Text 4"/>
          <p:cNvSpPr/>
          <p:nvPr/>
        </p:nvSpPr>
        <p:spPr>
          <a:xfrm>
            <a:off x="939800" y="2633861"/>
            <a:ext cx="1515517"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51C2C"/>
                </a:solidFill>
                <a:latin typeface="Inter" pitchFamily="34" charset="0"/>
                <a:ea typeface="Inter" pitchFamily="34" charset="-122"/>
                <a:cs typeface="Inter" pitchFamily="34" charset="-120"/>
              </a:rPr>
              <a:t>Incident spike</a:t>
            </a:r>
            <a:endParaRPr lang="en-US" sz="1300" dirty="0"/>
          </a:p>
        </p:txBody>
      </p:sp>
      <p:sp>
        <p:nvSpPr>
          <p:cNvPr id="7" name="Text 5"/>
          <p:cNvSpPr/>
          <p:nvPr/>
        </p:nvSpPr>
        <p:spPr>
          <a:xfrm>
            <a:off x="939800" y="2857351"/>
            <a:ext cx="15155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A55"/>
                </a:solidFill>
                <a:latin typeface="Inter" pitchFamily="34" charset="0"/>
                <a:ea typeface="Inter" pitchFamily="34" charset="-122"/>
                <a:cs typeface="Inter" pitchFamily="34" charset="-120"/>
              </a:rPr>
              <a:t>Incidents</a:t>
            </a:r>
            <a:endParaRPr lang="en-US" sz="1200" dirty="0"/>
          </a:p>
        </p:txBody>
      </p:sp>
      <p:sp>
        <p:nvSpPr>
          <p:cNvPr id="8" name="Shape 6"/>
          <p:cNvSpPr/>
          <p:nvPr/>
        </p:nvSpPr>
        <p:spPr>
          <a:xfrm>
            <a:off x="2582317" y="2506861"/>
            <a:ext cx="1718717" cy="690811"/>
          </a:xfrm>
          <a:prstGeom prst="rect">
            <a:avLst/>
          </a:prstGeom>
          <a:solidFill>
            <a:srgbClr val="DCE3E9"/>
          </a:solidFill>
          <a:ln/>
        </p:spPr>
      </p:sp>
      <p:sp>
        <p:nvSpPr>
          <p:cNvPr id="9" name="Text 7"/>
          <p:cNvSpPr/>
          <p:nvPr/>
        </p:nvSpPr>
        <p:spPr>
          <a:xfrm>
            <a:off x="2709317" y="2633861"/>
            <a:ext cx="1515517"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51C2C"/>
                </a:solidFill>
                <a:latin typeface="Inter" pitchFamily="34" charset="0"/>
                <a:ea typeface="Inter" pitchFamily="34" charset="-122"/>
                <a:cs typeface="Inter" pitchFamily="34" charset="-120"/>
              </a:rPr>
              <a:t>SLA breach</a:t>
            </a:r>
            <a:endParaRPr lang="en-US" sz="1300" dirty="0"/>
          </a:p>
        </p:txBody>
      </p:sp>
      <p:sp>
        <p:nvSpPr>
          <p:cNvPr id="10" name="Text 8"/>
          <p:cNvSpPr/>
          <p:nvPr/>
        </p:nvSpPr>
        <p:spPr>
          <a:xfrm>
            <a:off x="2709317" y="2857351"/>
            <a:ext cx="15155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A55"/>
                </a:solidFill>
                <a:latin typeface="Inter" pitchFamily="34" charset="0"/>
                <a:ea typeface="Inter" pitchFamily="34" charset="-122"/>
                <a:cs typeface="Inter" pitchFamily="34" charset="-120"/>
              </a:rPr>
              <a:t>SLAs</a:t>
            </a:r>
            <a:endParaRPr lang="en-US" sz="1200" dirty="0"/>
          </a:p>
        </p:txBody>
      </p:sp>
      <p:sp>
        <p:nvSpPr>
          <p:cNvPr id="11" name="Shape 9"/>
          <p:cNvSpPr/>
          <p:nvPr/>
        </p:nvSpPr>
        <p:spPr>
          <a:xfrm>
            <a:off x="4351834" y="2506861"/>
            <a:ext cx="1718717" cy="690811"/>
          </a:xfrm>
          <a:prstGeom prst="rect">
            <a:avLst/>
          </a:prstGeom>
          <a:solidFill>
            <a:srgbClr val="C6D3DE"/>
          </a:solidFill>
          <a:ln/>
        </p:spPr>
      </p:sp>
      <p:sp>
        <p:nvSpPr>
          <p:cNvPr id="12" name="Text 10"/>
          <p:cNvSpPr/>
          <p:nvPr/>
        </p:nvSpPr>
        <p:spPr>
          <a:xfrm>
            <a:off x="4478834" y="2633861"/>
            <a:ext cx="1515517"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51C2C"/>
                </a:solidFill>
                <a:latin typeface="Inter" pitchFamily="34" charset="0"/>
                <a:ea typeface="Inter" pitchFamily="34" charset="-122"/>
                <a:cs typeface="Inter" pitchFamily="34" charset="-120"/>
              </a:rPr>
              <a:t>Ticket aging</a:t>
            </a:r>
            <a:endParaRPr lang="en-US" sz="1300" dirty="0"/>
          </a:p>
        </p:txBody>
      </p:sp>
      <p:sp>
        <p:nvSpPr>
          <p:cNvPr id="13" name="Text 11"/>
          <p:cNvSpPr/>
          <p:nvPr/>
        </p:nvSpPr>
        <p:spPr>
          <a:xfrm>
            <a:off x="4478834" y="2857351"/>
            <a:ext cx="15155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A55"/>
                </a:solidFill>
                <a:latin typeface="Inter" pitchFamily="34" charset="0"/>
                <a:ea typeface="Inter" pitchFamily="34" charset="-122"/>
                <a:cs typeface="Inter" pitchFamily="34" charset="-120"/>
              </a:rPr>
              <a:t>Tickets</a:t>
            </a:r>
            <a:endParaRPr lang="en-US" sz="1200" dirty="0"/>
          </a:p>
        </p:txBody>
      </p:sp>
      <p:sp>
        <p:nvSpPr>
          <p:cNvPr id="14" name="Shape 12"/>
          <p:cNvSpPr/>
          <p:nvPr/>
        </p:nvSpPr>
        <p:spPr>
          <a:xfrm>
            <a:off x="6121350" y="2506861"/>
            <a:ext cx="1718766" cy="690811"/>
          </a:xfrm>
          <a:prstGeom prst="rect">
            <a:avLst/>
          </a:prstGeom>
          <a:solidFill>
            <a:srgbClr val="A9BCCD"/>
          </a:solidFill>
          <a:ln/>
        </p:spPr>
      </p:sp>
      <p:sp>
        <p:nvSpPr>
          <p:cNvPr id="15" name="Text 13"/>
          <p:cNvSpPr/>
          <p:nvPr/>
        </p:nvSpPr>
        <p:spPr>
          <a:xfrm>
            <a:off x="6248350" y="2633861"/>
            <a:ext cx="1515566"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51C2C"/>
                </a:solidFill>
                <a:latin typeface="Inter" pitchFamily="34" charset="0"/>
                <a:ea typeface="Inter" pitchFamily="34" charset="-122"/>
                <a:cs typeface="Inter" pitchFamily="34" charset="-120"/>
              </a:rPr>
              <a:t>Survey dip</a:t>
            </a:r>
            <a:endParaRPr lang="en-US" sz="1300" dirty="0"/>
          </a:p>
        </p:txBody>
      </p:sp>
      <p:sp>
        <p:nvSpPr>
          <p:cNvPr id="16" name="Text 14"/>
          <p:cNvSpPr/>
          <p:nvPr/>
        </p:nvSpPr>
        <p:spPr>
          <a:xfrm>
            <a:off x="6248350" y="2857351"/>
            <a:ext cx="15155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4323D"/>
                </a:solidFill>
                <a:latin typeface="Inter" pitchFamily="34" charset="0"/>
                <a:ea typeface="Inter" pitchFamily="34" charset="-122"/>
                <a:cs typeface="Inter" pitchFamily="34" charset="-120"/>
              </a:rPr>
              <a:t>Surveys</a:t>
            </a:r>
            <a:endParaRPr lang="en-US" sz="1200" dirty="0"/>
          </a:p>
        </p:txBody>
      </p:sp>
      <p:sp>
        <p:nvSpPr>
          <p:cNvPr id="17" name="Shape 15"/>
          <p:cNvSpPr/>
          <p:nvPr/>
        </p:nvSpPr>
        <p:spPr>
          <a:xfrm>
            <a:off x="7890917" y="2506861"/>
            <a:ext cx="1718717" cy="690811"/>
          </a:xfrm>
          <a:prstGeom prst="rect">
            <a:avLst/>
          </a:prstGeom>
          <a:solidFill>
            <a:srgbClr val="7F9DB8"/>
          </a:solidFill>
          <a:ln/>
        </p:spPr>
      </p:sp>
      <p:sp>
        <p:nvSpPr>
          <p:cNvPr id="18" name="Text 16"/>
          <p:cNvSpPr/>
          <p:nvPr/>
        </p:nvSpPr>
        <p:spPr>
          <a:xfrm>
            <a:off x="8017917" y="2633861"/>
            <a:ext cx="1515517"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51C2C"/>
                </a:solidFill>
                <a:latin typeface="Inter" pitchFamily="34" charset="0"/>
                <a:ea typeface="Inter" pitchFamily="34" charset="-122"/>
                <a:cs typeface="Inter" pitchFamily="34" charset="-120"/>
              </a:rPr>
              <a:t>Usage decline</a:t>
            </a:r>
            <a:endParaRPr lang="en-US" sz="1300" dirty="0"/>
          </a:p>
        </p:txBody>
      </p:sp>
      <p:sp>
        <p:nvSpPr>
          <p:cNvPr id="19" name="Text 17"/>
          <p:cNvSpPr/>
          <p:nvPr/>
        </p:nvSpPr>
        <p:spPr>
          <a:xfrm>
            <a:off x="8017917" y="2857351"/>
            <a:ext cx="15155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51C2C"/>
                </a:solidFill>
                <a:latin typeface="Inter" pitchFamily="34" charset="0"/>
                <a:ea typeface="Inter" pitchFamily="34" charset="-122"/>
                <a:cs typeface="Inter" pitchFamily="34" charset="-120"/>
              </a:rPr>
              <a:t>Telemetry</a:t>
            </a:r>
            <a:endParaRPr lang="en-US" sz="1200" dirty="0"/>
          </a:p>
        </p:txBody>
      </p:sp>
      <p:sp>
        <p:nvSpPr>
          <p:cNvPr id="20" name="Shape 18"/>
          <p:cNvSpPr/>
          <p:nvPr/>
        </p:nvSpPr>
        <p:spPr>
          <a:xfrm>
            <a:off x="9660434" y="2506861"/>
            <a:ext cx="1718717" cy="690811"/>
          </a:xfrm>
          <a:prstGeom prst="rect">
            <a:avLst/>
          </a:prstGeom>
          <a:solidFill>
            <a:srgbClr val="051C2C"/>
          </a:solidFill>
          <a:ln/>
        </p:spPr>
      </p:sp>
      <p:sp>
        <p:nvSpPr>
          <p:cNvPr id="21" name="Text 19"/>
          <p:cNvSpPr/>
          <p:nvPr/>
        </p:nvSpPr>
        <p:spPr>
          <a:xfrm>
            <a:off x="9787434" y="2633861"/>
            <a:ext cx="1515517"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F4F6F8"/>
                </a:solidFill>
                <a:latin typeface="Inter" pitchFamily="34" charset="0"/>
                <a:ea typeface="Inter" pitchFamily="34" charset="-122"/>
                <a:cs typeface="Inter" pitchFamily="34" charset="-120"/>
              </a:rPr>
              <a:t>Renewal at risk</a:t>
            </a:r>
            <a:endParaRPr lang="en-US" sz="1300" dirty="0"/>
          </a:p>
        </p:txBody>
      </p:sp>
      <p:sp>
        <p:nvSpPr>
          <p:cNvPr id="22" name="Text 20"/>
          <p:cNvSpPr/>
          <p:nvPr/>
        </p:nvSpPr>
        <p:spPr>
          <a:xfrm>
            <a:off x="9787434" y="2857351"/>
            <a:ext cx="15155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0A9F4"/>
                </a:solidFill>
                <a:latin typeface="Inter" pitchFamily="34" charset="0"/>
                <a:ea typeface="Inter" pitchFamily="34" charset="-122"/>
                <a:cs typeface="Inter" pitchFamily="34" charset="-120"/>
              </a:rPr>
              <a:t>Contracts</a:t>
            </a:r>
            <a:endParaRPr lang="en-US" sz="1200" dirty="0"/>
          </a:p>
        </p:txBody>
      </p:sp>
      <p:sp>
        <p:nvSpPr>
          <p:cNvPr id="23" name="Shape 21"/>
          <p:cNvSpPr/>
          <p:nvPr/>
        </p:nvSpPr>
        <p:spPr>
          <a:xfrm>
            <a:off x="812800" y="3515171"/>
            <a:ext cx="3420517" cy="0"/>
          </a:xfrm>
          <a:prstGeom prst="line">
            <a:avLst/>
          </a:prstGeom>
          <a:noFill/>
          <a:ln w="25400">
            <a:solidFill>
              <a:srgbClr val="2251FF"/>
            </a:solidFill>
            <a:prstDash val="solid"/>
          </a:ln>
        </p:spPr>
      </p:sp>
      <p:sp>
        <p:nvSpPr>
          <p:cNvPr id="24" name="Text 22"/>
          <p:cNvSpPr/>
          <p:nvPr/>
        </p:nvSpPr>
        <p:spPr>
          <a:xfrm>
            <a:off x="812800" y="3654871"/>
            <a:ext cx="352313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51C2C"/>
                </a:solidFill>
                <a:latin typeface="Inter" pitchFamily="34" charset="0"/>
                <a:ea typeface="Inter" pitchFamily="34" charset="-122"/>
                <a:cs typeface="Inter" pitchFamily="34" charset="-120"/>
              </a:rPr>
              <a:t>Intervene early</a:t>
            </a:r>
            <a:endParaRPr lang="en-US" sz="1400" dirty="0"/>
          </a:p>
        </p:txBody>
      </p:sp>
      <p:sp>
        <p:nvSpPr>
          <p:cNvPr id="25" name="Text 23"/>
          <p:cNvSpPr/>
          <p:nvPr/>
        </p:nvSpPr>
        <p:spPr>
          <a:xfrm>
            <a:off x="812800" y="3944392"/>
            <a:ext cx="3523132"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A55"/>
                </a:solidFill>
                <a:latin typeface="Inter" pitchFamily="34" charset="0"/>
                <a:ea typeface="Inter" pitchFamily="34" charset="-122"/>
                <a:cs typeface="Inter" pitchFamily="34" charset="-120"/>
              </a:rPr>
              <a:t>Agents detect the pattern, diagnose root cause and draft the play: service recovery, executive outreach or a commercial offer.</a:t>
            </a:r>
            <a:endParaRPr lang="en-US" sz="1200" dirty="0"/>
          </a:p>
        </p:txBody>
      </p:sp>
      <p:sp>
        <p:nvSpPr>
          <p:cNvPr id="26" name="Shape 24"/>
          <p:cNvSpPr/>
          <p:nvPr/>
        </p:nvSpPr>
        <p:spPr>
          <a:xfrm>
            <a:off x="4385717" y="3515171"/>
            <a:ext cx="3420517" cy="0"/>
          </a:xfrm>
          <a:prstGeom prst="line">
            <a:avLst/>
          </a:prstGeom>
          <a:noFill/>
          <a:ln w="25400">
            <a:solidFill>
              <a:srgbClr val="2251FF"/>
            </a:solidFill>
            <a:prstDash val="solid"/>
          </a:ln>
        </p:spPr>
      </p:sp>
      <p:sp>
        <p:nvSpPr>
          <p:cNvPr id="27" name="Text 25"/>
          <p:cNvSpPr/>
          <p:nvPr/>
        </p:nvSpPr>
        <p:spPr>
          <a:xfrm>
            <a:off x="4385717" y="3654871"/>
            <a:ext cx="352313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51C2C"/>
                </a:solidFill>
                <a:latin typeface="Inter" pitchFamily="34" charset="0"/>
                <a:ea typeface="Inter" pitchFamily="34" charset="-122"/>
                <a:cs typeface="Inter" pitchFamily="34" charset="-120"/>
              </a:rPr>
              <a:t>Churn and compression</a:t>
            </a:r>
            <a:endParaRPr lang="en-US" sz="1400" dirty="0"/>
          </a:p>
        </p:txBody>
      </p:sp>
      <p:sp>
        <p:nvSpPr>
          <p:cNvPr id="28" name="Text 26"/>
          <p:cNvSpPr/>
          <p:nvPr/>
        </p:nvSpPr>
        <p:spPr>
          <a:xfrm>
            <a:off x="4385717" y="3944392"/>
            <a:ext cx="3523132" cy="66536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C4A55"/>
                </a:solidFill>
                <a:latin typeface="Inter" pitchFamily="34" charset="0"/>
                <a:ea typeface="Inter" pitchFamily="34" charset="-122"/>
                <a:cs typeface="Inter" pitchFamily="34" charset="-120"/>
              </a:rPr>
              <a:t>Churn:</a:t>
            </a:r>
            <a:r>
              <a:rPr lang="en-US" sz="1200" dirty="0">
                <a:solidFill>
                  <a:srgbClr val="3C4A55"/>
                </a:solidFill>
                <a:latin typeface="Inter" pitchFamily="34" charset="0"/>
                <a:ea typeface="Inter" pitchFamily="34" charset="-122"/>
                <a:cs typeface="Inter" pitchFamily="34" charset="-120"/>
              </a:rPr>
              <a:t> the client or product leaves. </a:t>
            </a:r>
            <a:r>
              <a:rPr lang="en-US" sz="1200" b="1" dirty="0">
                <a:solidFill>
                  <a:srgbClr val="3C4A55"/>
                </a:solidFill>
                <a:latin typeface="Inter" pitchFamily="34" charset="0"/>
                <a:ea typeface="Inter" pitchFamily="34" charset="-122"/>
                <a:cs typeface="Inter" pitchFamily="34" charset="-120"/>
              </a:rPr>
              <a:t>Compression:</a:t>
            </a:r>
            <a:r>
              <a:rPr lang="en-US" sz="1200" dirty="0">
                <a:solidFill>
                  <a:srgbClr val="3C4A55"/>
                </a:solidFill>
                <a:latin typeface="Inter" pitchFamily="34" charset="0"/>
                <a:ea typeface="Inter" pitchFamily="34" charset="-122"/>
                <a:cs typeface="Inter" pitchFamily="34" charset="-120"/>
              </a:rPr>
              <a:t> the client stays at a lower price or scope. Both scored per client.</a:t>
            </a:r>
            <a:endParaRPr lang="en-US" sz="1200" dirty="0"/>
          </a:p>
        </p:txBody>
      </p:sp>
      <p:sp>
        <p:nvSpPr>
          <p:cNvPr id="29" name="Shape 27"/>
          <p:cNvSpPr/>
          <p:nvPr/>
        </p:nvSpPr>
        <p:spPr>
          <a:xfrm>
            <a:off x="7958634" y="3515171"/>
            <a:ext cx="3420566" cy="0"/>
          </a:xfrm>
          <a:prstGeom prst="line">
            <a:avLst/>
          </a:prstGeom>
          <a:noFill/>
          <a:ln w="25400">
            <a:solidFill>
              <a:srgbClr val="2251FF"/>
            </a:solidFill>
            <a:prstDash val="solid"/>
          </a:ln>
        </p:spPr>
      </p:sp>
      <p:sp>
        <p:nvSpPr>
          <p:cNvPr id="30" name="Text 28"/>
          <p:cNvSpPr/>
          <p:nvPr/>
        </p:nvSpPr>
        <p:spPr>
          <a:xfrm>
            <a:off x="7958634" y="3654871"/>
            <a:ext cx="352318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51C2C"/>
                </a:solidFill>
                <a:latin typeface="Inter" pitchFamily="34" charset="0"/>
                <a:ea typeface="Inter" pitchFamily="34" charset="-122"/>
                <a:cs typeface="Inter" pitchFamily="34" charset="-120"/>
              </a:rPr>
              <a:t>Renew and expand</a:t>
            </a:r>
            <a:endParaRPr lang="en-US" sz="1400" dirty="0"/>
          </a:p>
        </p:txBody>
      </p:sp>
      <p:sp>
        <p:nvSpPr>
          <p:cNvPr id="31" name="Text 29"/>
          <p:cNvSpPr/>
          <p:nvPr/>
        </p:nvSpPr>
        <p:spPr>
          <a:xfrm>
            <a:off x="7958634" y="3944392"/>
            <a:ext cx="3523183"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A55"/>
                </a:solidFill>
                <a:latin typeface="Inter" pitchFamily="34" charset="0"/>
                <a:ea typeface="Inter" pitchFamily="34" charset="-122"/>
                <a:cs typeface="Inter" pitchFamily="34" charset="-120"/>
              </a:rPr>
              <a:t>Healthy accounts arrive at renewal with next-best upsell and cross-sell offers ready for the account team.</a:t>
            </a:r>
            <a:endParaRPr lang="en-US" sz="1200" dirty="0"/>
          </a:p>
        </p:txBody>
      </p:sp>
      <p:sp>
        <p:nvSpPr>
          <p:cNvPr id="32" name="Text 30"/>
          <p:cNvSpPr/>
          <p:nvPr/>
        </p:nvSpPr>
        <p:spPr>
          <a:xfrm>
            <a:off x="812800" y="6238280"/>
            <a:ext cx="23665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0"/>
                </a:solidFill>
                <a:latin typeface="Inter" pitchFamily="34" charset="0"/>
                <a:ea typeface="Inter" pitchFamily="34" charset="-122"/>
                <a:cs typeface="Inter" pitchFamily="34" charset="-120"/>
              </a:rPr>
              <a:t>Enterprise Intelligence | FIS</a:t>
            </a:r>
            <a:endParaRPr lang="en-US" sz="1200" dirty="0"/>
          </a:p>
        </p:txBody>
      </p:sp>
      <p:sp>
        <p:nvSpPr>
          <p:cNvPr id="33" name="Text 31"/>
          <p:cNvSpPr/>
          <p:nvPr/>
        </p:nvSpPr>
        <p:spPr>
          <a:xfrm>
            <a:off x="11242129" y="6238280"/>
            <a:ext cx="13707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0"/>
                </a:solidFill>
                <a:latin typeface="Inter" pitchFamily="34" charset="0"/>
                <a:ea typeface="Inter" pitchFamily="34" charset="-122"/>
                <a:cs typeface="Inter"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251FF"/>
                </a:solidFill>
                <a:latin typeface="Inter" pitchFamily="34" charset="0"/>
                <a:ea typeface="Inter" pitchFamily="34" charset="-122"/>
                <a:cs typeface="Inter" pitchFamily="34" charset="-120"/>
              </a:rPr>
              <a:t>03 GROW THE BASE</a:t>
            </a:r>
            <a:endParaRPr lang="en-US" sz="1200" dirty="0"/>
          </a:p>
        </p:txBody>
      </p:sp>
      <p:sp>
        <p:nvSpPr>
          <p:cNvPr id="3" name="Text 1"/>
          <p:cNvSpPr/>
          <p:nvPr>
            <p:ph type="title"/>
          </p:nvPr>
        </p:nvSpPr>
        <p:spPr>
          <a:xfrm>
            <a:off x="812800" y="1127720"/>
            <a:ext cx="10883392" cy="784820"/>
          </a:xfrm>
          <a:prstGeom prst="rect">
            <a:avLst/>
          </a:prstGeom>
          <a:noFill/>
          <a:ln/>
        </p:spPr>
        <p:txBody>
          <a:bodyPr wrap="square" lIns="0" tIns="0" rIns="0" bIns="0" rtlCol="0" anchor="t">
            <a:normAutofit/>
          </a:bodyPr>
          <a:lstStyle/>
          <a:p>
            <a:pPr algn="l" indent="0" marL="0">
              <a:lnSpc>
                <a:spcPts val="2990"/>
              </a:lnSpc>
              <a:buNone/>
            </a:pPr>
            <a:r>
              <a:rPr lang="en-US" sz="2600" b="0" i="0" dirty="0">
                <a:solidFill>
                  <a:srgbClr val="051C2C"/>
                </a:solidFill>
                <a:latin typeface="Source Serif 4" pitchFamily="18" charset="0"/>
                <a:ea typeface="Source Serif 4" pitchFamily="18" charset="-122"/>
                <a:cs typeface="Source Serif 4" pitchFamily="18" charset="-120"/>
              </a:rPr>
              <a:t>"Clients like you bought this": the installed base becomes a pipeline and a map of whitespace</a:t>
            </a:r>
            <a:endParaRPr lang="en-US" sz="2600" dirty="0"/>
          </a:p>
        </p:txBody>
      </p:sp>
      <p:sp>
        <p:nvSpPr>
          <p:cNvPr id="4" name="Text 2"/>
          <p:cNvSpPr/>
          <p:nvPr/>
        </p:nvSpPr>
        <p:spPr>
          <a:xfrm>
            <a:off x="812800" y="2191941"/>
            <a:ext cx="4185920"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51C2C"/>
                </a:solidFill>
                <a:latin typeface="Inter" pitchFamily="34" charset="0"/>
                <a:ea typeface="Inter" pitchFamily="34" charset="-122"/>
                <a:cs typeface="Inter" pitchFamily="34" charset="-120"/>
              </a:rPr>
              <a:t>Recommendation engine</a:t>
            </a:r>
            <a:endParaRPr lang="en-US" sz="1300" dirty="0"/>
          </a:p>
        </p:txBody>
      </p:sp>
      <p:sp>
        <p:nvSpPr>
          <p:cNvPr id="5" name="Text 3"/>
          <p:cNvSpPr/>
          <p:nvPr/>
        </p:nvSpPr>
        <p:spPr>
          <a:xfrm>
            <a:off x="812800" y="2517031"/>
            <a:ext cx="406400" cy="304800"/>
          </a:xfrm>
          <a:prstGeom prst="rect">
            <a:avLst/>
          </a:prstGeom>
          <a:noFill/>
          <a:ln/>
        </p:spPr>
        <p:txBody>
          <a:bodyPr wrap="square" lIns="0" tIns="0" rIns="0" bIns="0" rtlCol="0" anchor="t">
            <a:normAutofit/>
          </a:bodyPr>
          <a:lstStyle/>
          <a:p>
            <a:pPr algn="l" indent="0" marL="0">
              <a:lnSpc>
                <a:spcPts val="2200"/>
              </a:lnSpc>
              <a:buNone/>
            </a:pPr>
            <a:r>
              <a:rPr lang="en-US" sz="2200" dirty="0">
                <a:solidFill>
                  <a:srgbClr val="2251FF"/>
                </a:solidFill>
                <a:latin typeface="Source Serif 4" pitchFamily="18" charset="0"/>
                <a:ea typeface="Source Serif 4" pitchFamily="18" charset="-122"/>
                <a:cs typeface="Source Serif 4" pitchFamily="18" charset="-120"/>
              </a:rPr>
              <a:t>1</a:t>
            </a:r>
            <a:endParaRPr lang="en-US" sz="2200" dirty="0"/>
          </a:p>
        </p:txBody>
      </p:sp>
      <p:sp>
        <p:nvSpPr>
          <p:cNvPr id="6" name="Text 4"/>
          <p:cNvSpPr/>
          <p:nvPr/>
        </p:nvSpPr>
        <p:spPr>
          <a:xfrm>
            <a:off x="1270000" y="2517031"/>
            <a:ext cx="3715004"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323D"/>
                </a:solidFill>
                <a:latin typeface="Inter" pitchFamily="34" charset="0"/>
                <a:ea typeface="Inter" pitchFamily="34" charset="-122"/>
                <a:cs typeface="Inter" pitchFamily="34" charset="-120"/>
              </a:rPr>
              <a:t>Find look-alike clients</a:t>
            </a:r>
            <a:r>
              <a:rPr lang="en-US" sz="1200" dirty="0">
                <a:solidFill>
                  <a:srgbClr val="24323D"/>
                </a:solidFill>
                <a:latin typeface="Inter" pitchFamily="34" charset="0"/>
                <a:ea typeface="Inter" pitchFamily="34" charset="-122"/>
                <a:cs typeface="Inter" pitchFamily="34" charset="-120"/>
              </a:rPr>
              <a:t> by product mix, segment, size and usage</a:t>
            </a:r>
            <a:endParaRPr lang="en-US" sz="1200" dirty="0"/>
          </a:p>
        </p:txBody>
      </p:sp>
      <p:sp>
        <p:nvSpPr>
          <p:cNvPr id="7" name="Text 5"/>
          <p:cNvSpPr/>
          <p:nvPr/>
        </p:nvSpPr>
        <p:spPr>
          <a:xfrm>
            <a:off x="812800" y="3070671"/>
            <a:ext cx="406400" cy="304800"/>
          </a:xfrm>
          <a:prstGeom prst="rect">
            <a:avLst/>
          </a:prstGeom>
          <a:noFill/>
          <a:ln/>
        </p:spPr>
        <p:txBody>
          <a:bodyPr wrap="square" lIns="0" tIns="0" rIns="0" bIns="0" rtlCol="0" anchor="t">
            <a:normAutofit/>
          </a:bodyPr>
          <a:lstStyle/>
          <a:p>
            <a:pPr algn="l" indent="0" marL="0">
              <a:lnSpc>
                <a:spcPts val="2200"/>
              </a:lnSpc>
              <a:buNone/>
            </a:pPr>
            <a:r>
              <a:rPr lang="en-US" sz="2200" dirty="0">
                <a:solidFill>
                  <a:srgbClr val="2251FF"/>
                </a:solidFill>
                <a:latin typeface="Source Serif 4" pitchFamily="18" charset="0"/>
                <a:ea typeface="Source Serif 4" pitchFamily="18" charset="-122"/>
                <a:cs typeface="Source Serif 4" pitchFamily="18" charset="-120"/>
              </a:rPr>
              <a:t>2</a:t>
            </a:r>
            <a:endParaRPr lang="en-US" sz="2200" dirty="0"/>
          </a:p>
        </p:txBody>
      </p:sp>
      <p:sp>
        <p:nvSpPr>
          <p:cNvPr id="8" name="Text 6"/>
          <p:cNvSpPr/>
          <p:nvPr/>
        </p:nvSpPr>
        <p:spPr>
          <a:xfrm>
            <a:off x="1270000" y="3070671"/>
            <a:ext cx="3715004"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323D"/>
                </a:solidFill>
                <a:latin typeface="Inter" pitchFamily="34" charset="0"/>
                <a:ea typeface="Inter" pitchFamily="34" charset="-122"/>
                <a:cs typeface="Inter" pitchFamily="34" charset="-120"/>
              </a:rPr>
              <a:t>Score products</a:t>
            </a:r>
            <a:r>
              <a:rPr lang="en-US" sz="1200" dirty="0">
                <a:solidFill>
                  <a:srgbClr val="24323D"/>
                </a:solidFill>
                <a:latin typeface="Inter" pitchFamily="34" charset="0"/>
                <a:ea typeface="Inter" pitchFamily="34" charset="-122"/>
                <a:cs typeface="Inter" pitchFamily="34" charset="-120"/>
              </a:rPr>
              <a:t> peers own that the client lacks (collaborative filtering)</a:t>
            </a:r>
            <a:endParaRPr lang="en-US" sz="1200" dirty="0"/>
          </a:p>
        </p:txBody>
      </p:sp>
      <p:sp>
        <p:nvSpPr>
          <p:cNvPr id="9" name="Text 7"/>
          <p:cNvSpPr/>
          <p:nvPr/>
        </p:nvSpPr>
        <p:spPr>
          <a:xfrm>
            <a:off x="812800" y="3624312"/>
            <a:ext cx="406400" cy="304800"/>
          </a:xfrm>
          <a:prstGeom prst="rect">
            <a:avLst/>
          </a:prstGeom>
          <a:noFill/>
          <a:ln/>
        </p:spPr>
        <p:txBody>
          <a:bodyPr wrap="square" lIns="0" tIns="0" rIns="0" bIns="0" rtlCol="0" anchor="t">
            <a:normAutofit/>
          </a:bodyPr>
          <a:lstStyle/>
          <a:p>
            <a:pPr algn="l" indent="0" marL="0">
              <a:lnSpc>
                <a:spcPts val="2200"/>
              </a:lnSpc>
              <a:buNone/>
            </a:pPr>
            <a:r>
              <a:rPr lang="en-US" sz="2200" dirty="0">
                <a:solidFill>
                  <a:srgbClr val="2251FF"/>
                </a:solidFill>
                <a:latin typeface="Source Serif 4" pitchFamily="18" charset="0"/>
                <a:ea typeface="Source Serif 4" pitchFamily="18" charset="-122"/>
                <a:cs typeface="Source Serif 4" pitchFamily="18" charset="-120"/>
              </a:rPr>
              <a:t>3</a:t>
            </a:r>
            <a:endParaRPr lang="en-US" sz="2200" dirty="0"/>
          </a:p>
        </p:txBody>
      </p:sp>
      <p:sp>
        <p:nvSpPr>
          <p:cNvPr id="10" name="Text 8"/>
          <p:cNvSpPr/>
          <p:nvPr/>
        </p:nvSpPr>
        <p:spPr>
          <a:xfrm>
            <a:off x="1270000" y="3624312"/>
            <a:ext cx="3715004"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323D"/>
                </a:solidFill>
                <a:latin typeface="Inter" pitchFamily="34" charset="0"/>
                <a:ea typeface="Inter" pitchFamily="34" charset="-122"/>
                <a:cs typeface="Inter" pitchFamily="34" charset="-120"/>
              </a:rPr>
              <a:t>Generate the pitch</a:t>
            </a:r>
            <a:r>
              <a:rPr lang="en-US" sz="1200" dirty="0">
                <a:solidFill>
                  <a:srgbClr val="24323D"/>
                </a:solidFill>
                <a:latin typeface="Inter" pitchFamily="34" charset="0"/>
                <a:ea typeface="Inter" pitchFamily="34" charset="-122"/>
                <a:cs typeface="Inter" pitchFamily="34" charset="-120"/>
              </a:rPr>
              <a:t> with peer evidence and a value case, routed to the account team</a:t>
            </a:r>
            <a:endParaRPr lang="en-US" sz="1200" dirty="0"/>
          </a:p>
        </p:txBody>
      </p:sp>
      <p:sp>
        <p:nvSpPr>
          <p:cNvPr id="11" name="Text 9"/>
          <p:cNvSpPr/>
          <p:nvPr/>
        </p:nvSpPr>
        <p:spPr>
          <a:xfrm>
            <a:off x="5384800" y="2191941"/>
            <a:ext cx="6174232"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51C2C"/>
                </a:solidFill>
                <a:latin typeface="Inter" pitchFamily="34" charset="0"/>
                <a:ea typeface="Inter" pitchFamily="34" charset="-122"/>
                <a:cs typeface="Inter" pitchFamily="34" charset="-120"/>
              </a:rPr>
              <a:t>Whitespace: segment × product </a:t>
            </a:r>
            <a:r>
              <a:rPr lang="en-US" sz="1300" b="1" dirty="0">
                <a:solidFill>
                  <a:srgbClr val="6B7680"/>
                </a:solidFill>
                <a:latin typeface="Inter" pitchFamily="34" charset="0"/>
                <a:ea typeface="Inter" pitchFamily="34" charset="-122"/>
                <a:cs typeface="Inter" pitchFamily="34" charset="-120"/>
              </a:rPr>
              <a:t>(illustrative)</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397500" y="2478931"/>
          <a:ext cx="5981700" cy="1638102"/>
        </p:xfrm>
        <a:graphic>
          <a:graphicData uri="http://schemas.openxmlformats.org/drawingml/2006/table">
            <a:tbl>
              <a:tblPr/>
              <a:tblGrid>
                <a:gridCol w="1196340"/>
                <a:gridCol w="1196340"/>
                <a:gridCol w="1196340"/>
                <a:gridCol w="1196340"/>
                <a:gridCol w="1196340"/>
              </a:tblGrid>
              <a:tr h="327620">
                <a:tc>
                  <a:txBody>
                    <a:bodyPr/>
                    <a:lstStyle/>
                    <a:p>
                      <a:pPr indent="0" marL="0">
                        <a:lnSpc>
                          <a:spcPts val="1680"/>
                        </a:lnSpc>
                        <a:buNone/>
                      </a:pPr>
                      <a:r>
                        <a:rPr lang="en-US" sz="1200" b="1" dirty="0">
                          <a:solidFill>
                            <a:srgbClr val="6B7680"/>
                          </a:solidFill>
                          <a:latin typeface="Inter" pitchFamily="34" charset="0"/>
                          <a:ea typeface="Inter" pitchFamily="34" charset="-122"/>
                          <a:cs typeface="Inter" pitchFamily="34" charset="-120"/>
                        </a:rPr>
                        <a:t>Segment</a:t>
                      </a:r>
                      <a:endParaRPr lang="en-US" sz="1200" dirty="0">
                        <a:latin typeface="Inter" charset="0"/>
                        <a:ea typeface="Inter" charset="0"/>
                        <a:cs typeface="Inter" charset="0"/>
                      </a:endParaRPr>
                    </a:p>
                  </a:txBody>
                  <a:tcPr marL="50800" marR="50800" marT="50800" marB="50800" anchor="t">
                    <a:lnL w="12700" cap="flat" cmpd="sng" algn="ctr">
                      <a:solidFill>
                        <a:srgbClr val="C8C8C6"/>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7"/>
                    </a:solidFill>
                  </a:tcPr>
                </a:tc>
                <a:tc>
                  <a:txBody>
                    <a:bodyPr/>
                    <a:lstStyle/>
                    <a:p>
                      <a:pPr indent="0" marL="0">
                        <a:lnSpc>
                          <a:spcPts val="1680"/>
                        </a:lnSpc>
                        <a:buNone/>
                      </a:pPr>
                      <a:r>
                        <a:rPr lang="en-US" sz="1200" b="1" dirty="0">
                          <a:solidFill>
                            <a:srgbClr val="6B7680"/>
                          </a:solidFill>
                          <a:latin typeface="Inter" pitchFamily="34" charset="0"/>
                          <a:ea typeface="Inter" pitchFamily="34" charset="-122"/>
                          <a:cs typeface="Inter" pitchFamily="34" charset="-120"/>
                        </a:rPr>
                        <a:t>[Prod A]</a:t>
                      </a:r>
                      <a:endParaRPr lang="en-US" sz="1200" dirty="0">
                        <a:latin typeface="Inter" charset="0"/>
                        <a:ea typeface="Inter" charset="0"/>
                        <a:cs typeface="Inter" charset="0"/>
                      </a:endParaRPr>
                    </a:p>
                  </a:txBody>
                  <a:tcPr marL="50800" marR="50800" marT="50800" marB="50800"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7"/>
                    </a:solidFill>
                  </a:tcPr>
                </a:tc>
                <a:tc>
                  <a:txBody>
                    <a:bodyPr/>
                    <a:lstStyle/>
                    <a:p>
                      <a:pPr indent="0" marL="0">
                        <a:lnSpc>
                          <a:spcPts val="1680"/>
                        </a:lnSpc>
                        <a:buNone/>
                      </a:pPr>
                      <a:r>
                        <a:rPr lang="en-US" sz="1200" b="1" dirty="0">
                          <a:solidFill>
                            <a:srgbClr val="6B7680"/>
                          </a:solidFill>
                          <a:latin typeface="Inter" pitchFamily="34" charset="0"/>
                          <a:ea typeface="Inter" pitchFamily="34" charset="-122"/>
                          <a:cs typeface="Inter" pitchFamily="34" charset="-120"/>
                        </a:rPr>
                        <a:t>[Prod B]</a:t>
                      </a:r>
                      <a:endParaRPr lang="en-US" sz="1200" dirty="0">
                        <a:latin typeface="Inter" charset="0"/>
                        <a:ea typeface="Inter" charset="0"/>
                        <a:cs typeface="Inter" charset="0"/>
                      </a:endParaRPr>
                    </a:p>
                  </a:txBody>
                  <a:tcPr marL="50800" marR="50800" marT="50800" marB="50800"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7"/>
                    </a:solidFill>
                  </a:tcPr>
                </a:tc>
                <a:tc>
                  <a:txBody>
                    <a:bodyPr/>
                    <a:lstStyle/>
                    <a:p>
                      <a:pPr indent="0" marL="0">
                        <a:lnSpc>
                          <a:spcPts val="1680"/>
                        </a:lnSpc>
                        <a:buNone/>
                      </a:pPr>
                      <a:r>
                        <a:rPr lang="en-US" sz="1200" b="1" dirty="0">
                          <a:solidFill>
                            <a:srgbClr val="6B7680"/>
                          </a:solidFill>
                          <a:latin typeface="Inter" pitchFamily="34" charset="0"/>
                          <a:ea typeface="Inter" pitchFamily="34" charset="-122"/>
                          <a:cs typeface="Inter" pitchFamily="34" charset="-120"/>
                        </a:rPr>
                        <a:t>[Prod C]</a:t>
                      </a:r>
                      <a:endParaRPr lang="en-US" sz="1200" dirty="0">
                        <a:latin typeface="Inter" charset="0"/>
                        <a:ea typeface="Inter" charset="0"/>
                        <a:cs typeface="Inter" charset="0"/>
                      </a:endParaRPr>
                    </a:p>
                  </a:txBody>
                  <a:tcPr marL="50800" marR="50800" marT="50800" marB="50800"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7"/>
                    </a:solidFill>
                  </a:tcPr>
                </a:tc>
                <a:tc>
                  <a:txBody>
                    <a:bodyPr/>
                    <a:lstStyle/>
                    <a:p>
                      <a:pPr indent="0" marL="0">
                        <a:lnSpc>
                          <a:spcPts val="1680"/>
                        </a:lnSpc>
                        <a:buNone/>
                      </a:pPr>
                      <a:r>
                        <a:rPr lang="en-US" sz="1200" b="1" dirty="0">
                          <a:solidFill>
                            <a:srgbClr val="6B7680"/>
                          </a:solidFill>
                          <a:latin typeface="Inter" pitchFamily="34" charset="0"/>
                          <a:ea typeface="Inter" pitchFamily="34" charset="-122"/>
                          <a:cs typeface="Inter" pitchFamily="34" charset="-120"/>
                        </a:rPr>
                        <a:t>[Prod D]</a:t>
                      </a:r>
                      <a:endParaRPr lang="en-US" sz="1200" dirty="0">
                        <a:latin typeface="Inter" charset="0"/>
                        <a:ea typeface="Inter" charset="0"/>
                        <a:cs typeface="Inter" charset="0"/>
                      </a:endParaRPr>
                    </a:p>
                  </a:txBody>
                  <a:tcPr marL="50800" marR="50800" marT="50800" marB="50800"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7"/>
                    </a:solidFill>
                  </a:tcPr>
                </a:tc>
              </a:tr>
              <a:tr h="327620">
                <a:tc>
                  <a:txBody>
                    <a:bodyPr/>
                    <a:lstStyle/>
                    <a:p>
                      <a:pPr indent="0" marL="0">
                        <a:lnSpc>
                          <a:spcPts val="1680"/>
                        </a:lnSpc>
                        <a:buNone/>
                      </a:pPr>
                      <a:r>
                        <a:rPr lang="en-US" sz="1200" dirty="0">
                          <a:solidFill>
                            <a:srgbClr val="051C2C"/>
                          </a:solidFill>
                          <a:latin typeface="Inter" pitchFamily="34" charset="0"/>
                          <a:ea typeface="Inter" pitchFamily="34" charset="-122"/>
                          <a:cs typeface="Inter" pitchFamily="34" charset="-120"/>
                        </a:rPr>
                        <a:t>[Segment 1]</a:t>
                      </a:r>
                      <a:endParaRPr lang="en-US" sz="1200" dirty="0">
                        <a:latin typeface="Inter" charset="0"/>
                        <a:ea typeface="Inter" charset="0"/>
                        <a:cs typeface="Inter" charset="0"/>
                      </a:endParaRPr>
                    </a:p>
                  </a:txBody>
                  <a:tcPr marL="50800" marR="50800" marT="50800" marB="508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endParaRPr lang="en-US" sz="1200" dirty="0">
                        <a:latin typeface="Inter" charset="0"/>
                        <a:ea typeface="Inter" charset="0"/>
                        <a:cs typeface="Inter" charset="0"/>
                      </a:endParaRPr>
                    </a:p>
                  </a:txBody>
                  <a:tcPr marL="50800" marR="50800" marT="50800" marB="508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endParaRPr lang="en-US" sz="1200" dirty="0">
                        <a:latin typeface="Inter" charset="0"/>
                        <a:ea typeface="Inter" charset="0"/>
                        <a:cs typeface="Inter" charset="0"/>
                      </a:endParaRPr>
                    </a:p>
                  </a:txBody>
                  <a:tcPr marL="50800" marR="50800" marT="50800" marB="508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endParaRPr lang="en-US" sz="1200" dirty="0">
                        <a:latin typeface="Inter" charset="0"/>
                        <a:ea typeface="Inter" charset="0"/>
                        <a:cs typeface="Inter" charset="0"/>
                      </a:endParaRPr>
                    </a:p>
                  </a:txBody>
                  <a:tcPr marL="50800" marR="50800" marT="50800" marB="508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endParaRPr lang="en-US" sz="1200" dirty="0">
                        <a:latin typeface="Inter" charset="0"/>
                        <a:ea typeface="Inter" charset="0"/>
                        <a:cs typeface="Inter" charset="0"/>
                      </a:endParaRPr>
                    </a:p>
                  </a:txBody>
                  <a:tcPr marL="50800" marR="50800" marT="50800" marB="508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27620">
                <a:tc>
                  <a:txBody>
                    <a:bodyPr/>
                    <a:lstStyle/>
                    <a:p>
                      <a:pPr indent="0" marL="0">
                        <a:lnSpc>
                          <a:spcPts val="1680"/>
                        </a:lnSpc>
                        <a:buNone/>
                      </a:pPr>
                      <a:r>
                        <a:rPr lang="en-US" sz="1200" dirty="0">
                          <a:solidFill>
                            <a:srgbClr val="051C2C"/>
                          </a:solidFill>
                          <a:latin typeface="Inter" pitchFamily="34" charset="0"/>
                          <a:ea typeface="Inter" pitchFamily="34" charset="-122"/>
                          <a:cs typeface="Inter" pitchFamily="34" charset="-120"/>
                        </a:rPr>
                        <a:t>[Segment 2]</a:t>
                      </a:r>
                      <a:endParaRPr lang="en-US" sz="1200" dirty="0">
                        <a:latin typeface="Inter" charset="0"/>
                        <a:ea typeface="Inter" charset="0"/>
                        <a:cs typeface="Inter" charset="0"/>
                      </a:endParaRPr>
                    </a:p>
                  </a:txBody>
                  <a:tcPr marL="50800" marR="50800" marT="50800" marB="508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endParaRPr lang="en-US" sz="1200" dirty="0">
                        <a:latin typeface="Inter" charset="0"/>
                        <a:ea typeface="Inter" charset="0"/>
                        <a:cs typeface="Inter" charset="0"/>
                      </a:endParaRPr>
                    </a:p>
                  </a:txBody>
                  <a:tcPr marL="50800" marR="50800" marT="50800" marB="508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endParaRPr lang="en-US" sz="1200" dirty="0">
                        <a:latin typeface="Inter" charset="0"/>
                        <a:ea typeface="Inter" charset="0"/>
                        <a:cs typeface="Inter" charset="0"/>
                      </a:endParaRPr>
                    </a:p>
                  </a:txBody>
                  <a:tcPr marL="50800" marR="50800" marT="50800" marB="508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endParaRPr lang="en-US" sz="1200" dirty="0">
                        <a:latin typeface="Inter" charset="0"/>
                        <a:ea typeface="Inter" charset="0"/>
                        <a:cs typeface="Inter" charset="0"/>
                      </a:endParaRPr>
                    </a:p>
                  </a:txBody>
                  <a:tcPr marL="50800" marR="50800" marT="50800" marB="508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endParaRPr lang="en-US" sz="1200" dirty="0">
                        <a:latin typeface="Inter" charset="0"/>
                        <a:ea typeface="Inter" charset="0"/>
                        <a:cs typeface="Inter" charset="0"/>
                      </a:endParaRPr>
                    </a:p>
                  </a:txBody>
                  <a:tcPr marL="50800" marR="50800" marT="50800" marB="508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27620">
                <a:tc>
                  <a:txBody>
                    <a:bodyPr/>
                    <a:lstStyle/>
                    <a:p>
                      <a:pPr indent="0" marL="0">
                        <a:lnSpc>
                          <a:spcPts val="1680"/>
                        </a:lnSpc>
                        <a:buNone/>
                      </a:pPr>
                      <a:r>
                        <a:rPr lang="en-US" sz="1200" dirty="0">
                          <a:solidFill>
                            <a:srgbClr val="051C2C"/>
                          </a:solidFill>
                          <a:latin typeface="Inter" pitchFamily="34" charset="0"/>
                          <a:ea typeface="Inter" pitchFamily="34" charset="-122"/>
                          <a:cs typeface="Inter" pitchFamily="34" charset="-120"/>
                        </a:rPr>
                        <a:t>[Segment 3]</a:t>
                      </a:r>
                      <a:endParaRPr lang="en-US" sz="1200" dirty="0">
                        <a:latin typeface="Inter" charset="0"/>
                        <a:ea typeface="Inter" charset="0"/>
                        <a:cs typeface="Inter" charset="0"/>
                      </a:endParaRPr>
                    </a:p>
                  </a:txBody>
                  <a:tcPr marL="50800" marR="50800" marT="50800" marB="508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endParaRPr lang="en-US" sz="1200" dirty="0">
                        <a:latin typeface="Inter" charset="0"/>
                        <a:ea typeface="Inter" charset="0"/>
                        <a:cs typeface="Inter" charset="0"/>
                      </a:endParaRPr>
                    </a:p>
                  </a:txBody>
                  <a:tcPr marL="50800" marR="50800" marT="50800" marB="508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endParaRPr lang="en-US" sz="1200" dirty="0">
                        <a:latin typeface="Inter" charset="0"/>
                        <a:ea typeface="Inter" charset="0"/>
                        <a:cs typeface="Inter" charset="0"/>
                      </a:endParaRPr>
                    </a:p>
                  </a:txBody>
                  <a:tcPr marL="50800" marR="50800" marT="50800" marB="508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endParaRPr lang="en-US" sz="1200" dirty="0">
                        <a:latin typeface="Inter" charset="0"/>
                        <a:ea typeface="Inter" charset="0"/>
                        <a:cs typeface="Inter" charset="0"/>
                      </a:endParaRPr>
                    </a:p>
                  </a:txBody>
                  <a:tcPr marL="50800" marR="50800" marT="50800" marB="508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endParaRPr lang="en-US" sz="1200" dirty="0">
                        <a:latin typeface="Inter" charset="0"/>
                        <a:ea typeface="Inter" charset="0"/>
                        <a:cs typeface="Inter" charset="0"/>
                      </a:endParaRPr>
                    </a:p>
                  </a:txBody>
                  <a:tcPr marL="50800" marR="50800" marT="50800" marB="508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27620">
                <a:tc>
                  <a:txBody>
                    <a:bodyPr/>
                    <a:lstStyle/>
                    <a:p>
                      <a:pPr indent="0" marL="0">
                        <a:lnSpc>
                          <a:spcPts val="1680"/>
                        </a:lnSpc>
                        <a:buNone/>
                      </a:pPr>
                      <a:r>
                        <a:rPr lang="en-US" sz="1200" dirty="0">
                          <a:solidFill>
                            <a:srgbClr val="051C2C"/>
                          </a:solidFill>
                          <a:latin typeface="Inter" pitchFamily="34" charset="0"/>
                          <a:ea typeface="Inter" pitchFamily="34" charset="-122"/>
                          <a:cs typeface="Inter" pitchFamily="34" charset="-120"/>
                        </a:rPr>
                        <a:t>[Region X]</a:t>
                      </a:r>
                      <a:endParaRPr lang="en-US" sz="1200" dirty="0">
                        <a:latin typeface="Inter" charset="0"/>
                        <a:ea typeface="Inter" charset="0"/>
                        <a:cs typeface="Inter" charset="0"/>
                      </a:endParaRPr>
                    </a:p>
                  </a:txBody>
                  <a:tcPr marL="50800" marR="50800" marT="50800" marB="508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endParaRPr lang="en-US" sz="1200" dirty="0">
                        <a:latin typeface="Inter" charset="0"/>
                        <a:ea typeface="Inter" charset="0"/>
                        <a:cs typeface="Inter" charset="0"/>
                      </a:endParaRPr>
                    </a:p>
                  </a:txBody>
                  <a:tcPr marL="50800" marR="50800" marT="50800" marB="508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endParaRPr lang="en-US" sz="1200" dirty="0">
                        <a:latin typeface="Inter" charset="0"/>
                        <a:ea typeface="Inter" charset="0"/>
                        <a:cs typeface="Inter" charset="0"/>
                      </a:endParaRPr>
                    </a:p>
                  </a:txBody>
                  <a:tcPr marL="50800" marR="50800" marT="50800" marB="508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endParaRPr lang="en-US" sz="1200" dirty="0">
                        <a:latin typeface="Inter" charset="0"/>
                        <a:ea typeface="Inter" charset="0"/>
                        <a:cs typeface="Inter" charset="0"/>
                      </a:endParaRPr>
                    </a:p>
                  </a:txBody>
                  <a:tcPr marL="50800" marR="50800" marT="50800" marB="508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endParaRPr lang="en-US" sz="1200" dirty="0">
                        <a:latin typeface="Inter" charset="0"/>
                        <a:ea typeface="Inter" charset="0"/>
                        <a:cs typeface="Inter" charset="0"/>
                      </a:endParaRPr>
                    </a:p>
                  </a:txBody>
                  <a:tcPr marL="50800" marR="50800" marT="50800" marB="508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bl>
          </a:graphicData>
        </a:graphic>
      </p:graphicFrame>
      <p:sp>
        <p:nvSpPr>
          <p:cNvPr id="13" name="Shape 10"/>
          <p:cNvSpPr/>
          <p:nvPr/>
        </p:nvSpPr>
        <p:spPr>
          <a:xfrm>
            <a:off x="5384800" y="4223693"/>
            <a:ext cx="152400" cy="152400"/>
          </a:xfrm>
          <a:prstGeom prst="rect">
            <a:avLst/>
          </a:prstGeom>
          <a:solidFill>
            <a:srgbClr val="2251FF"/>
          </a:solidFill>
          <a:ln/>
        </p:spPr>
      </p:sp>
      <p:sp>
        <p:nvSpPr>
          <p:cNvPr id="14" name="Text 11"/>
          <p:cNvSpPr/>
          <p:nvPr/>
        </p:nvSpPr>
        <p:spPr>
          <a:xfrm>
            <a:off x="5588000" y="4193232"/>
            <a:ext cx="4005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A55"/>
                </a:solidFill>
                <a:latin typeface="Inter" pitchFamily="34" charset="0"/>
                <a:ea typeface="Inter" pitchFamily="34" charset="-122"/>
                <a:cs typeface="Inter" pitchFamily="34" charset="-120"/>
              </a:rPr>
              <a:t>High</a:t>
            </a:r>
            <a:endParaRPr lang="en-US" sz="1200" dirty="0"/>
          </a:p>
        </p:txBody>
      </p:sp>
      <p:sp>
        <p:nvSpPr>
          <p:cNvPr id="15" name="Shape 12"/>
          <p:cNvSpPr/>
          <p:nvPr/>
        </p:nvSpPr>
        <p:spPr>
          <a:xfrm>
            <a:off x="6124972" y="4223693"/>
            <a:ext cx="152400" cy="152400"/>
          </a:xfrm>
          <a:prstGeom prst="rect">
            <a:avLst/>
          </a:prstGeom>
          <a:solidFill>
            <a:srgbClr val="5F86B0"/>
          </a:solidFill>
          <a:ln/>
        </p:spPr>
      </p:sp>
      <p:sp>
        <p:nvSpPr>
          <p:cNvPr id="16" name="Text 13"/>
          <p:cNvSpPr/>
          <p:nvPr/>
        </p:nvSpPr>
        <p:spPr>
          <a:xfrm>
            <a:off x="6328172" y="4193232"/>
            <a:ext cx="6964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A55"/>
                </a:solidFill>
                <a:latin typeface="Inter" pitchFamily="34" charset="0"/>
                <a:ea typeface="Inter" pitchFamily="34" charset="-122"/>
                <a:cs typeface="Inter" pitchFamily="34" charset="-120"/>
              </a:rPr>
              <a:t>Medium</a:t>
            </a:r>
            <a:endParaRPr lang="en-US" sz="1200" dirty="0"/>
          </a:p>
        </p:txBody>
      </p:sp>
      <p:sp>
        <p:nvSpPr>
          <p:cNvPr id="17" name="Shape 14"/>
          <p:cNvSpPr/>
          <p:nvPr/>
        </p:nvSpPr>
        <p:spPr>
          <a:xfrm>
            <a:off x="7111752" y="4223693"/>
            <a:ext cx="152400" cy="152400"/>
          </a:xfrm>
          <a:prstGeom prst="rect">
            <a:avLst/>
          </a:prstGeom>
          <a:solidFill>
            <a:srgbClr val="A9BCCD"/>
          </a:solidFill>
          <a:ln/>
        </p:spPr>
      </p:sp>
      <p:sp>
        <p:nvSpPr>
          <p:cNvPr id="18" name="Text 15"/>
          <p:cNvSpPr/>
          <p:nvPr/>
        </p:nvSpPr>
        <p:spPr>
          <a:xfrm>
            <a:off x="7314952" y="4193232"/>
            <a:ext cx="359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A55"/>
                </a:solidFill>
                <a:latin typeface="Inter" pitchFamily="34" charset="0"/>
                <a:ea typeface="Inter" pitchFamily="34" charset="-122"/>
                <a:cs typeface="Inter" pitchFamily="34" charset="-120"/>
              </a:rPr>
              <a:t>Low</a:t>
            </a:r>
            <a:endParaRPr lang="en-US" sz="1200" dirty="0"/>
          </a:p>
        </p:txBody>
      </p:sp>
      <p:sp>
        <p:nvSpPr>
          <p:cNvPr id="19" name="Shape 16"/>
          <p:cNvSpPr/>
          <p:nvPr/>
        </p:nvSpPr>
        <p:spPr>
          <a:xfrm>
            <a:off x="7824043" y="4230043"/>
            <a:ext cx="139700" cy="139700"/>
          </a:xfrm>
          <a:prstGeom prst="rect">
            <a:avLst/>
          </a:prstGeom>
          <a:solidFill>
            <a:srgbClr val="FFFFFF"/>
          </a:solidFill>
          <a:ln w="12700">
            <a:solidFill>
              <a:srgbClr val="2251FF"/>
            </a:solidFill>
            <a:prstDash val="dash"/>
          </a:ln>
        </p:spPr>
      </p:sp>
      <p:sp>
        <p:nvSpPr>
          <p:cNvPr id="20" name="Text 17"/>
          <p:cNvSpPr/>
          <p:nvPr/>
        </p:nvSpPr>
        <p:spPr>
          <a:xfrm>
            <a:off x="8020893" y="4193232"/>
            <a:ext cx="102137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A55"/>
                </a:solidFill>
                <a:latin typeface="Inter" pitchFamily="34" charset="0"/>
                <a:ea typeface="Inter" pitchFamily="34" charset="-122"/>
                <a:cs typeface="Inter" pitchFamily="34" charset="-120"/>
              </a:rPr>
              <a:t>Whitespace</a:t>
            </a:r>
            <a:endParaRPr lang="en-US" sz="1200" dirty="0"/>
          </a:p>
        </p:txBody>
      </p:sp>
      <p:sp>
        <p:nvSpPr>
          <p:cNvPr id="21" name="Text 18"/>
          <p:cNvSpPr/>
          <p:nvPr/>
        </p:nvSpPr>
        <p:spPr>
          <a:xfrm>
            <a:off x="812800" y="6238280"/>
            <a:ext cx="23665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0"/>
                </a:solidFill>
                <a:latin typeface="Inter" pitchFamily="34" charset="0"/>
                <a:ea typeface="Inter" pitchFamily="34" charset="-122"/>
                <a:cs typeface="Inter" pitchFamily="34" charset="-120"/>
              </a:rPr>
              <a:t>Enterprise Intelligence | FIS</a:t>
            </a:r>
            <a:endParaRPr lang="en-US" sz="1200" dirty="0"/>
          </a:p>
        </p:txBody>
      </p:sp>
      <p:sp>
        <p:nvSpPr>
          <p:cNvPr id="22" name="Text 19"/>
          <p:cNvSpPr/>
          <p:nvPr/>
        </p:nvSpPr>
        <p:spPr>
          <a:xfrm>
            <a:off x="11234093" y="6238280"/>
            <a:ext cx="145107"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0"/>
                </a:solidFill>
                <a:latin typeface="Inter" pitchFamily="34" charset="0"/>
                <a:ea typeface="Inter" pitchFamily="34" charset="-122"/>
                <a:cs typeface="Inter"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251FF"/>
                </a:solidFill>
                <a:latin typeface="Inter" pitchFamily="34" charset="0"/>
                <a:ea typeface="Inter" pitchFamily="34" charset="-122"/>
                <a:cs typeface="Inter" pitchFamily="34" charset="-120"/>
              </a:rPr>
              <a:t>04 RECOVER WHAT IS CONTRACTED</a:t>
            </a:r>
            <a:endParaRPr lang="en-US" sz="1200" dirty="0"/>
          </a:p>
        </p:txBody>
      </p:sp>
      <p:sp>
        <p:nvSpPr>
          <p:cNvPr id="3" name="Text 1"/>
          <p:cNvSpPr/>
          <p:nvPr>
            <p:ph type="title"/>
          </p:nvPr>
        </p:nvSpPr>
        <p:spPr>
          <a:xfrm>
            <a:off x="812800" y="1127720"/>
            <a:ext cx="10883392" cy="784820"/>
          </a:xfrm>
          <a:prstGeom prst="rect">
            <a:avLst/>
          </a:prstGeom>
          <a:noFill/>
          <a:ln/>
        </p:spPr>
        <p:txBody>
          <a:bodyPr wrap="square" lIns="0" tIns="0" rIns="0" bIns="0" rtlCol="0" anchor="t">
            <a:normAutofit/>
          </a:bodyPr>
          <a:lstStyle/>
          <a:p>
            <a:pPr algn="l" indent="0" marL="0">
              <a:lnSpc>
                <a:spcPts val="2990"/>
              </a:lnSpc>
              <a:buNone/>
            </a:pPr>
            <a:r>
              <a:rPr lang="en-US" sz="2600" b="0" i="0" dirty="0">
                <a:solidFill>
                  <a:srgbClr val="051C2C"/>
                </a:solidFill>
                <a:latin typeface="Source Serif 4" pitchFamily="18" charset="0"/>
                <a:ea typeface="Source Serif 4" pitchFamily="18" charset="-122"/>
                <a:cs typeface="Source Serif 4" pitchFamily="18" charset="-120"/>
              </a:rPr>
              <a:t>A reconciliation engine matches every contracted SKU to billing and builds an evidence-backed back-bill</a:t>
            </a:r>
            <a:endParaRPr lang="en-US" sz="2600" dirty="0"/>
          </a:p>
        </p:txBody>
      </p:sp>
      <p:sp>
        <p:nvSpPr>
          <p:cNvPr id="4" name="Shape 2"/>
          <p:cNvSpPr/>
          <p:nvPr/>
        </p:nvSpPr>
        <p:spPr>
          <a:xfrm>
            <a:off x="815975" y="2195116"/>
            <a:ext cx="2406650" cy="1215231"/>
          </a:xfrm>
          <a:prstGeom prst="rect">
            <a:avLst/>
          </a:prstGeom>
          <a:solidFill>
            <a:srgbClr val="FFFFFF"/>
          </a:solidFill>
          <a:ln w="6350">
            <a:solidFill>
              <a:srgbClr val="D5DCE2"/>
            </a:solidFill>
            <a:prstDash val="solid"/>
          </a:ln>
        </p:spPr>
      </p:sp>
      <p:sp>
        <p:nvSpPr>
          <p:cNvPr id="5" name="Text 3"/>
          <p:cNvSpPr/>
          <p:nvPr/>
        </p:nvSpPr>
        <p:spPr>
          <a:xfrm>
            <a:off x="971550" y="2350691"/>
            <a:ext cx="215836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251FF"/>
                </a:solidFill>
                <a:latin typeface="Inter" pitchFamily="34" charset="0"/>
                <a:ea typeface="Inter" pitchFamily="34" charset="-122"/>
                <a:cs typeface="Inter" pitchFamily="34" charset="-120"/>
              </a:rPr>
              <a:t>CONTRACT</a:t>
            </a:r>
            <a:endParaRPr lang="en-US" sz="1200" dirty="0"/>
          </a:p>
        </p:txBody>
      </p:sp>
      <p:sp>
        <p:nvSpPr>
          <p:cNvPr id="6" name="Text 4"/>
          <p:cNvSpPr/>
          <p:nvPr/>
        </p:nvSpPr>
        <p:spPr>
          <a:xfrm>
            <a:off x="971550" y="2614811"/>
            <a:ext cx="215836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4323D"/>
                </a:solidFill>
                <a:latin typeface="Inter" pitchFamily="34" charset="0"/>
                <a:ea typeface="Inter" pitchFamily="34" charset="-122"/>
                <a:cs typeface="Inter" pitchFamily="34" charset="-120"/>
              </a:rPr>
              <a:t>Signed SKUs, rates, escalators, minimums</a:t>
            </a:r>
            <a:endParaRPr lang="en-US" sz="1200" dirty="0"/>
          </a:p>
        </p:txBody>
      </p:sp>
      <p:sp>
        <p:nvSpPr>
          <p:cNvPr id="7" name="Text 5"/>
          <p:cNvSpPr/>
          <p:nvPr/>
        </p:nvSpPr>
        <p:spPr>
          <a:xfrm>
            <a:off x="3200400" y="2624931"/>
            <a:ext cx="355600" cy="381000"/>
          </a:xfrm>
          <a:prstGeom prst="rect">
            <a:avLst/>
          </a:prstGeom>
          <a:noFill/>
          <a:ln/>
        </p:spPr>
        <p:txBody>
          <a:bodyPr wrap="square" lIns="0" tIns="0" rIns="0" bIns="0" rtlCol="0" anchor="t">
            <a:normAutofit/>
          </a:bodyPr>
          <a:lstStyle/>
          <a:p>
            <a:pPr algn="ctr" indent="0" marL="0">
              <a:lnSpc>
                <a:spcPts val="2800"/>
              </a:lnSpc>
              <a:buNone/>
            </a:pPr>
            <a:r>
              <a:rPr lang="en-US" sz="2000" dirty="0">
                <a:solidFill>
                  <a:srgbClr val="2251FF"/>
                </a:solidFill>
                <a:latin typeface="Inter" pitchFamily="34" charset="0"/>
                <a:ea typeface="Inter" pitchFamily="34" charset="-122"/>
                <a:cs typeface="Inter" pitchFamily="34" charset="-120"/>
              </a:rPr>
              <a:t>→</a:t>
            </a:r>
            <a:endParaRPr lang="en-US" sz="2000" dirty="0"/>
          </a:p>
        </p:txBody>
      </p:sp>
      <p:sp>
        <p:nvSpPr>
          <p:cNvPr id="8" name="Shape 6"/>
          <p:cNvSpPr/>
          <p:nvPr/>
        </p:nvSpPr>
        <p:spPr>
          <a:xfrm>
            <a:off x="3533775" y="2195116"/>
            <a:ext cx="2406650" cy="1215231"/>
          </a:xfrm>
          <a:prstGeom prst="rect">
            <a:avLst/>
          </a:prstGeom>
          <a:solidFill>
            <a:srgbClr val="FFFFFF"/>
          </a:solidFill>
          <a:ln w="6350">
            <a:solidFill>
              <a:srgbClr val="D5DCE2"/>
            </a:solidFill>
            <a:prstDash val="solid"/>
          </a:ln>
        </p:spPr>
      </p:sp>
      <p:sp>
        <p:nvSpPr>
          <p:cNvPr id="9" name="Text 7"/>
          <p:cNvSpPr/>
          <p:nvPr/>
        </p:nvSpPr>
        <p:spPr>
          <a:xfrm>
            <a:off x="3689350" y="2350691"/>
            <a:ext cx="215836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251FF"/>
                </a:solidFill>
                <a:latin typeface="Inter" pitchFamily="34" charset="0"/>
                <a:ea typeface="Inter" pitchFamily="34" charset="-122"/>
                <a:cs typeface="Inter" pitchFamily="34" charset="-120"/>
              </a:rPr>
              <a:t>RECONCILE</a:t>
            </a:r>
            <a:endParaRPr lang="en-US" sz="1200" dirty="0"/>
          </a:p>
        </p:txBody>
      </p:sp>
      <p:sp>
        <p:nvSpPr>
          <p:cNvPr id="10" name="Text 8"/>
          <p:cNvSpPr/>
          <p:nvPr/>
        </p:nvSpPr>
        <p:spPr>
          <a:xfrm>
            <a:off x="3689350" y="2614811"/>
            <a:ext cx="215836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4323D"/>
                </a:solidFill>
                <a:latin typeface="Inter" pitchFamily="34" charset="0"/>
                <a:ea typeface="Inter" pitchFamily="34" charset="-122"/>
                <a:cs typeface="Inter" pitchFamily="34" charset="-120"/>
              </a:rPr>
              <a:t>Match against invoices, billing and usage telemetry</a:t>
            </a:r>
            <a:endParaRPr lang="en-US" sz="1200" dirty="0"/>
          </a:p>
        </p:txBody>
      </p:sp>
      <p:sp>
        <p:nvSpPr>
          <p:cNvPr id="11" name="Text 9"/>
          <p:cNvSpPr/>
          <p:nvPr/>
        </p:nvSpPr>
        <p:spPr>
          <a:xfrm>
            <a:off x="5918200" y="2624931"/>
            <a:ext cx="355600" cy="381000"/>
          </a:xfrm>
          <a:prstGeom prst="rect">
            <a:avLst/>
          </a:prstGeom>
          <a:noFill/>
          <a:ln/>
        </p:spPr>
        <p:txBody>
          <a:bodyPr wrap="square" lIns="0" tIns="0" rIns="0" bIns="0" rtlCol="0" anchor="t">
            <a:normAutofit/>
          </a:bodyPr>
          <a:lstStyle/>
          <a:p>
            <a:pPr algn="ctr" indent="0" marL="0">
              <a:lnSpc>
                <a:spcPts val="2800"/>
              </a:lnSpc>
              <a:buNone/>
            </a:pPr>
            <a:r>
              <a:rPr lang="en-US" sz="2000" dirty="0">
                <a:solidFill>
                  <a:srgbClr val="2251FF"/>
                </a:solidFill>
                <a:latin typeface="Inter" pitchFamily="34" charset="0"/>
                <a:ea typeface="Inter" pitchFamily="34" charset="-122"/>
                <a:cs typeface="Inter" pitchFamily="34" charset="-120"/>
              </a:rPr>
              <a:t>→</a:t>
            </a:r>
            <a:endParaRPr lang="en-US" sz="2000" dirty="0"/>
          </a:p>
        </p:txBody>
      </p:sp>
      <p:sp>
        <p:nvSpPr>
          <p:cNvPr id="12" name="Shape 10"/>
          <p:cNvSpPr/>
          <p:nvPr/>
        </p:nvSpPr>
        <p:spPr>
          <a:xfrm>
            <a:off x="6251575" y="2195116"/>
            <a:ext cx="2406650" cy="1215231"/>
          </a:xfrm>
          <a:prstGeom prst="rect">
            <a:avLst/>
          </a:prstGeom>
          <a:solidFill>
            <a:srgbClr val="FFFFFF"/>
          </a:solidFill>
          <a:ln w="6350">
            <a:solidFill>
              <a:srgbClr val="D5DCE2"/>
            </a:solidFill>
            <a:prstDash val="solid"/>
          </a:ln>
        </p:spPr>
      </p:sp>
      <p:sp>
        <p:nvSpPr>
          <p:cNvPr id="13" name="Text 11"/>
          <p:cNvSpPr/>
          <p:nvPr/>
        </p:nvSpPr>
        <p:spPr>
          <a:xfrm>
            <a:off x="6407150" y="2350691"/>
            <a:ext cx="215836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251FF"/>
                </a:solidFill>
                <a:latin typeface="Inter" pitchFamily="34" charset="0"/>
                <a:ea typeface="Inter" pitchFamily="34" charset="-122"/>
                <a:cs typeface="Inter" pitchFamily="34" charset="-120"/>
              </a:rPr>
              <a:t>FIND THE GAP</a:t>
            </a:r>
            <a:endParaRPr lang="en-US" sz="1200" dirty="0"/>
          </a:p>
        </p:txBody>
      </p:sp>
      <p:sp>
        <p:nvSpPr>
          <p:cNvPr id="14" name="Text 12"/>
          <p:cNvSpPr/>
          <p:nvPr/>
        </p:nvSpPr>
        <p:spPr>
          <a:xfrm>
            <a:off x="6407150" y="2614811"/>
            <a:ext cx="2158365"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4323D"/>
                </a:solidFill>
                <a:latin typeface="Inter" pitchFamily="34" charset="0"/>
                <a:ea typeface="Inter" pitchFamily="34" charset="-122"/>
                <a:cs typeface="Inter" pitchFamily="34" charset="-120"/>
              </a:rPr>
              <a:t>Unbilled SKUs, missed escalators, under-billed usage</a:t>
            </a:r>
            <a:endParaRPr lang="en-US" sz="1200" dirty="0"/>
          </a:p>
        </p:txBody>
      </p:sp>
      <p:sp>
        <p:nvSpPr>
          <p:cNvPr id="15" name="Text 13"/>
          <p:cNvSpPr/>
          <p:nvPr/>
        </p:nvSpPr>
        <p:spPr>
          <a:xfrm>
            <a:off x="8636000" y="2624931"/>
            <a:ext cx="355600" cy="381000"/>
          </a:xfrm>
          <a:prstGeom prst="rect">
            <a:avLst/>
          </a:prstGeom>
          <a:noFill/>
          <a:ln/>
        </p:spPr>
        <p:txBody>
          <a:bodyPr wrap="square" lIns="0" tIns="0" rIns="0" bIns="0" rtlCol="0" anchor="t">
            <a:normAutofit/>
          </a:bodyPr>
          <a:lstStyle/>
          <a:p>
            <a:pPr algn="ctr" indent="0" marL="0">
              <a:lnSpc>
                <a:spcPts val="2800"/>
              </a:lnSpc>
              <a:buNone/>
            </a:pPr>
            <a:r>
              <a:rPr lang="en-US" sz="2000" dirty="0">
                <a:solidFill>
                  <a:srgbClr val="2251FF"/>
                </a:solidFill>
                <a:latin typeface="Inter" pitchFamily="34" charset="0"/>
                <a:ea typeface="Inter" pitchFamily="34" charset="-122"/>
                <a:cs typeface="Inter" pitchFamily="34" charset="-120"/>
              </a:rPr>
              <a:t>→</a:t>
            </a:r>
            <a:endParaRPr lang="en-US" sz="2000" dirty="0"/>
          </a:p>
        </p:txBody>
      </p:sp>
      <p:sp>
        <p:nvSpPr>
          <p:cNvPr id="16" name="Shape 14"/>
          <p:cNvSpPr/>
          <p:nvPr/>
        </p:nvSpPr>
        <p:spPr>
          <a:xfrm>
            <a:off x="8966200" y="2191941"/>
            <a:ext cx="2413000" cy="1221581"/>
          </a:xfrm>
          <a:prstGeom prst="rect">
            <a:avLst/>
          </a:prstGeom>
          <a:solidFill>
            <a:srgbClr val="051C2C"/>
          </a:solidFill>
          <a:ln/>
        </p:spPr>
      </p:sp>
      <p:sp>
        <p:nvSpPr>
          <p:cNvPr id="17" name="Text 15"/>
          <p:cNvSpPr/>
          <p:nvPr/>
        </p:nvSpPr>
        <p:spPr>
          <a:xfrm>
            <a:off x="9118600" y="2344341"/>
            <a:ext cx="217144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A9F4"/>
                </a:solidFill>
                <a:latin typeface="Inter" pitchFamily="34" charset="0"/>
                <a:ea typeface="Inter" pitchFamily="34" charset="-122"/>
                <a:cs typeface="Inter" pitchFamily="34" charset="-120"/>
              </a:rPr>
              <a:t>BACK-BILL PACKAGE</a:t>
            </a:r>
            <a:endParaRPr lang="en-US" sz="1200" dirty="0"/>
          </a:p>
        </p:txBody>
      </p:sp>
      <p:sp>
        <p:nvSpPr>
          <p:cNvPr id="18" name="Text 16"/>
          <p:cNvSpPr/>
          <p:nvPr/>
        </p:nvSpPr>
        <p:spPr>
          <a:xfrm>
            <a:off x="9118600" y="2608461"/>
            <a:ext cx="217144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3E9EE"/>
                </a:solidFill>
                <a:latin typeface="Inter" pitchFamily="34" charset="0"/>
                <a:ea typeface="Inter" pitchFamily="34" charset="-122"/>
                <a:cs typeface="Inter" pitchFamily="34" charset="-120"/>
              </a:rPr>
              <a:t>Clause, usage proof and invoice history as evidence</a:t>
            </a:r>
            <a:endParaRPr lang="en-US" sz="1200" dirty="0"/>
          </a:p>
        </p:txBody>
      </p:sp>
      <p:sp>
        <p:nvSpPr>
          <p:cNvPr id="19" name="Shape 17"/>
          <p:cNvSpPr/>
          <p:nvPr/>
        </p:nvSpPr>
        <p:spPr>
          <a:xfrm>
            <a:off x="812800" y="3731022"/>
            <a:ext cx="5130800" cy="0"/>
          </a:xfrm>
          <a:prstGeom prst="line">
            <a:avLst/>
          </a:prstGeom>
          <a:noFill/>
          <a:ln w="25400">
            <a:solidFill>
              <a:srgbClr val="2251FF"/>
            </a:solidFill>
            <a:prstDash val="solid"/>
          </a:ln>
        </p:spPr>
      </p:sp>
      <p:sp>
        <p:nvSpPr>
          <p:cNvPr id="20" name="Text 18"/>
          <p:cNvSpPr/>
          <p:nvPr/>
        </p:nvSpPr>
        <p:spPr>
          <a:xfrm>
            <a:off x="812800" y="3870722"/>
            <a:ext cx="528472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51C2C"/>
                </a:solidFill>
                <a:latin typeface="Inter" pitchFamily="34" charset="0"/>
                <a:ea typeface="Inter" pitchFamily="34" charset="-122"/>
                <a:cs typeface="Inter" pitchFamily="34" charset="-120"/>
              </a:rPr>
              <a:t>Contract analysis and comparison</a:t>
            </a:r>
            <a:endParaRPr lang="en-US" sz="1400" dirty="0"/>
          </a:p>
        </p:txBody>
      </p:sp>
      <p:sp>
        <p:nvSpPr>
          <p:cNvPr id="21" name="Text 19"/>
          <p:cNvSpPr/>
          <p:nvPr/>
        </p:nvSpPr>
        <p:spPr>
          <a:xfrm>
            <a:off x="812800" y="4160242"/>
            <a:ext cx="5284724"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A55"/>
                </a:solidFill>
                <a:latin typeface="Inter" pitchFamily="34" charset="0"/>
                <a:ea typeface="Inter" pitchFamily="34" charset="-122"/>
                <a:cs typeface="Inter" pitchFamily="34" charset="-120"/>
              </a:rPr>
              <a:t>Compare terms across contracts or against the standard: pricing, escalators, SLA credits, termination and liability. Deviations are flagged before renewal.</a:t>
            </a:r>
            <a:endParaRPr lang="en-US" sz="1200" dirty="0"/>
          </a:p>
        </p:txBody>
      </p:sp>
      <p:sp>
        <p:nvSpPr>
          <p:cNvPr id="22" name="Shape 20"/>
          <p:cNvSpPr/>
          <p:nvPr/>
        </p:nvSpPr>
        <p:spPr>
          <a:xfrm>
            <a:off x="6248400" y="3731022"/>
            <a:ext cx="5130800" cy="0"/>
          </a:xfrm>
          <a:prstGeom prst="line">
            <a:avLst/>
          </a:prstGeom>
          <a:noFill/>
          <a:ln w="25400">
            <a:solidFill>
              <a:srgbClr val="2251FF"/>
            </a:solidFill>
            <a:prstDash val="solid"/>
          </a:ln>
        </p:spPr>
      </p:sp>
      <p:sp>
        <p:nvSpPr>
          <p:cNvPr id="23" name="Text 21"/>
          <p:cNvSpPr/>
          <p:nvPr/>
        </p:nvSpPr>
        <p:spPr>
          <a:xfrm>
            <a:off x="6248400" y="3870722"/>
            <a:ext cx="528472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51C2C"/>
                </a:solidFill>
                <a:latin typeface="Inter" pitchFamily="34" charset="0"/>
                <a:ea typeface="Inter" pitchFamily="34" charset="-122"/>
                <a:cs typeface="Inter" pitchFamily="34" charset="-120"/>
              </a:rPr>
              <a:t>Revenue recovered: </a:t>
            </a:r>
            <a:r>
              <a:rPr lang="en-US" sz="1400" b="1" dirty="0">
                <a:solidFill>
                  <a:srgbClr val="2251FF"/>
                </a:solidFill>
                <a:latin typeface="Inter" pitchFamily="34" charset="0"/>
                <a:ea typeface="Inter" pitchFamily="34" charset="-122"/>
                <a:cs typeface="Inter" pitchFamily="34" charset="-120"/>
              </a:rPr>
              <a:t>[$__M]</a:t>
            </a:r>
            <a:endParaRPr lang="en-US" sz="1400" dirty="0"/>
          </a:p>
        </p:txBody>
      </p:sp>
      <p:sp>
        <p:nvSpPr>
          <p:cNvPr id="24" name="Text 22"/>
          <p:cNvSpPr/>
          <p:nvPr/>
        </p:nvSpPr>
        <p:spPr>
          <a:xfrm>
            <a:off x="6248400" y="4160242"/>
            <a:ext cx="528472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A55"/>
                </a:solidFill>
                <a:latin typeface="Inter" pitchFamily="34" charset="0"/>
                <a:ea typeface="Inter" pitchFamily="34" charset="-122"/>
                <a:cs typeface="Inter" pitchFamily="34" charset="-120"/>
              </a:rPr>
              <a:t>High-confidence gaps go straight to billing; large or sensitive back-bills wait for account-owner approval.</a:t>
            </a:r>
            <a:endParaRPr lang="en-US" sz="1200" dirty="0"/>
          </a:p>
        </p:txBody>
      </p:sp>
      <p:sp>
        <p:nvSpPr>
          <p:cNvPr id="25" name="Text 23"/>
          <p:cNvSpPr/>
          <p:nvPr/>
        </p:nvSpPr>
        <p:spPr>
          <a:xfrm>
            <a:off x="812800" y="6238280"/>
            <a:ext cx="23665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0"/>
                </a:solidFill>
                <a:latin typeface="Inter" pitchFamily="34" charset="0"/>
                <a:ea typeface="Inter" pitchFamily="34" charset="-122"/>
                <a:cs typeface="Inter" pitchFamily="34" charset="-120"/>
              </a:rPr>
              <a:t>Enterprise Intelligence | FIS</a:t>
            </a:r>
            <a:endParaRPr lang="en-US" sz="1200" dirty="0"/>
          </a:p>
        </p:txBody>
      </p:sp>
      <p:sp>
        <p:nvSpPr>
          <p:cNvPr id="26" name="Text 24"/>
          <p:cNvSpPr/>
          <p:nvPr/>
        </p:nvSpPr>
        <p:spPr>
          <a:xfrm>
            <a:off x="11233894" y="6238280"/>
            <a:ext cx="145306"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0"/>
                </a:solidFill>
                <a:latin typeface="Inter" pitchFamily="34" charset="0"/>
                <a:ea typeface="Inter" pitchFamily="34" charset="-122"/>
                <a:cs typeface="Inter"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251FF"/>
                </a:solidFill>
                <a:latin typeface="Inter" pitchFamily="34" charset="0"/>
                <a:ea typeface="Inter" pitchFamily="34" charset="-122"/>
                <a:cs typeface="Inter" pitchFamily="34" charset="-120"/>
              </a:rPr>
              <a:t>05 STEER THE ENTERPRISE</a:t>
            </a:r>
            <a:endParaRPr lang="en-US" sz="1200" dirty="0"/>
          </a:p>
        </p:txBody>
      </p:sp>
      <p:sp>
        <p:nvSpPr>
          <p:cNvPr id="3" name="Text 1"/>
          <p:cNvSpPr/>
          <p:nvPr>
            <p:ph type="title"/>
          </p:nvPr>
        </p:nvSpPr>
        <p:spPr>
          <a:xfrm>
            <a:off x="812800" y="1127720"/>
            <a:ext cx="10883392" cy="784820"/>
          </a:xfrm>
          <a:prstGeom prst="rect">
            <a:avLst/>
          </a:prstGeom>
          <a:noFill/>
          <a:ln/>
        </p:spPr>
        <p:txBody>
          <a:bodyPr wrap="square" lIns="0" tIns="0" rIns="0" bIns="0" rtlCol="0" anchor="t">
            <a:normAutofit/>
          </a:bodyPr>
          <a:lstStyle/>
          <a:p>
            <a:pPr algn="l" indent="0" marL="0">
              <a:lnSpc>
                <a:spcPts val="2990"/>
              </a:lnSpc>
              <a:buNone/>
            </a:pPr>
            <a:r>
              <a:rPr lang="en-US" sz="2600" b="0" i="0" dirty="0">
                <a:solidFill>
                  <a:srgbClr val="051C2C"/>
                </a:solidFill>
                <a:latin typeface="Source Serif 4" pitchFamily="18" charset="0"/>
                <a:ea typeface="Source Serif 4" pitchFamily="18" charset="-122"/>
                <a:cs typeface="Source Serif 4" pitchFamily="18" charset="-120"/>
              </a:rPr>
              <a:t>One live view of portfolio, cash and renewals shows where to grow, sustain or fix</a:t>
            </a:r>
            <a:endParaRPr lang="en-US" sz="2600" dirty="0"/>
          </a:p>
        </p:txBody>
      </p:sp>
      <p:sp>
        <p:nvSpPr>
          <p:cNvPr id="4" name="Shape 2"/>
          <p:cNvSpPr/>
          <p:nvPr/>
        </p:nvSpPr>
        <p:spPr>
          <a:xfrm>
            <a:off x="815975" y="2195116"/>
            <a:ext cx="3414167" cy="3643709"/>
          </a:xfrm>
          <a:prstGeom prst="rect">
            <a:avLst/>
          </a:prstGeom>
          <a:solidFill>
            <a:srgbClr val="FFFFFF"/>
          </a:solidFill>
          <a:ln w="6350">
            <a:solidFill>
              <a:srgbClr val="D5DCE2"/>
            </a:solidFill>
            <a:prstDash val="solid"/>
          </a:ln>
        </p:spPr>
      </p:sp>
      <p:sp>
        <p:nvSpPr>
          <p:cNvPr id="5" name="Text 3"/>
          <p:cNvSpPr/>
          <p:nvPr/>
        </p:nvSpPr>
        <p:spPr>
          <a:xfrm>
            <a:off x="1022350" y="2401491"/>
            <a:ext cx="3091459" cy="284460"/>
          </a:xfrm>
          <a:prstGeom prst="rect">
            <a:avLst/>
          </a:prstGeom>
          <a:noFill/>
          <a:ln/>
        </p:spPr>
        <p:txBody>
          <a:bodyPr wrap="square" lIns="0" tIns="0" rIns="0" bIns="0" rtlCol="0" anchor="t">
            <a:normAutofit/>
          </a:bodyPr>
          <a:lstStyle/>
          <a:p>
            <a:pPr algn="l" indent="0" marL="0">
              <a:lnSpc>
                <a:spcPts val="2040"/>
              </a:lnSpc>
              <a:buNone/>
            </a:pPr>
            <a:r>
              <a:rPr lang="en-US" sz="1700" dirty="0">
                <a:solidFill>
                  <a:srgbClr val="051C2C"/>
                </a:solidFill>
                <a:latin typeface="Source Serif 4" pitchFamily="18" charset="0"/>
                <a:ea typeface="Source Serif 4" pitchFamily="18" charset="-122"/>
                <a:cs typeface="Source Serif 4" pitchFamily="18" charset="-120"/>
              </a:rPr>
              <a:t>Portfolio at a glance</a:t>
            </a:r>
            <a:endParaRPr lang="en-US" sz="1700" dirty="0"/>
          </a:p>
        </p:txBody>
      </p:sp>
      <p:sp>
        <p:nvSpPr>
          <p:cNvPr id="6" name="Text 4"/>
          <p:cNvSpPr/>
          <p:nvPr/>
        </p:nvSpPr>
        <p:spPr>
          <a:xfrm>
            <a:off x="1022350" y="2762151"/>
            <a:ext cx="309145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A55"/>
                </a:solidFill>
                <a:latin typeface="Inter" pitchFamily="34" charset="0"/>
                <a:ea typeface="Inter" pitchFamily="34" charset="-122"/>
                <a:cs typeface="Inter" pitchFamily="34" charset="-120"/>
              </a:rPr>
              <a:t>Revenue, margin and health for the whole book, sliced any way:</a:t>
            </a:r>
            <a:endParaRPr lang="en-US" sz="1200" dirty="0"/>
          </a:p>
        </p:txBody>
      </p:sp>
      <p:sp>
        <p:nvSpPr>
          <p:cNvPr id="7" name="Text 5"/>
          <p:cNvSpPr/>
          <p:nvPr/>
        </p:nvSpPr>
        <p:spPr>
          <a:xfrm>
            <a:off x="1025906" y="3290391"/>
            <a:ext cx="3083331" cy="939800"/>
          </a:xfrm>
          <a:prstGeom prst="rect">
            <a:avLst/>
          </a:prstGeom>
          <a:noFill/>
          <a:ln/>
        </p:spPr>
        <p:txBody>
          <a:bodyPr wrap="square" lIns="0" tIns="0" rIns="0" bIns="0" rtlCol="0" anchor="t">
            <a:normAutofit/>
          </a:bodyPr>
          <a:lstStyle/>
          <a:p>
            <a:pPr algn="l" marL="148844" indent="-148844">
              <a:lnSpc>
                <a:spcPts val="1800"/>
              </a:lnSpc>
              <a:buSzPct val="100000"/>
              <a:buChar char="•"/>
            </a:pPr>
            <a:r>
              <a:rPr lang="en-US" sz="1200" dirty="0">
                <a:solidFill>
                  <a:srgbClr val="051C2C"/>
                </a:solidFill>
                <a:latin typeface="Inter" pitchFamily="34" charset="0"/>
                <a:ea typeface="Inter" pitchFamily="34" charset="-122"/>
                <a:cs typeface="Inter" pitchFamily="34" charset="-120"/>
              </a:rPr>
              <a:t>Line of business</a:t>
            </a:r>
            <a:endParaRPr lang="en-US" sz="1200" dirty="0"/>
          </a:p>
          <a:p>
            <a:pPr algn="l" marL="148844" indent="-148844">
              <a:lnSpc>
                <a:spcPts val="1800"/>
              </a:lnSpc>
              <a:buSzPct val="100000"/>
              <a:buChar char="•"/>
            </a:pPr>
            <a:r>
              <a:rPr lang="en-US" sz="1200" dirty="0">
                <a:solidFill>
                  <a:srgbClr val="051C2C"/>
                </a:solidFill>
                <a:latin typeface="Inter" pitchFamily="34" charset="0"/>
                <a:ea typeface="Inter" pitchFamily="34" charset="-122"/>
                <a:cs typeface="Inter" pitchFamily="34" charset="-120"/>
              </a:rPr>
              <a:t>Business segment</a:t>
            </a:r>
            <a:endParaRPr lang="en-US" sz="1200" dirty="0"/>
          </a:p>
          <a:p>
            <a:pPr algn="l" marL="148844" indent="-148844">
              <a:lnSpc>
                <a:spcPts val="1800"/>
              </a:lnSpc>
              <a:buSzPct val="100000"/>
              <a:buChar char="•"/>
            </a:pPr>
            <a:r>
              <a:rPr lang="en-US" sz="1200" dirty="0">
                <a:solidFill>
                  <a:srgbClr val="051C2C"/>
                </a:solidFill>
                <a:latin typeface="Inter" pitchFamily="34" charset="0"/>
                <a:ea typeface="Inter" pitchFamily="34" charset="-122"/>
                <a:cs typeface="Inter" pitchFamily="34" charset="-120"/>
              </a:rPr>
              <a:t>Deal type</a:t>
            </a:r>
            <a:endParaRPr lang="en-US" sz="1200" dirty="0"/>
          </a:p>
          <a:p>
            <a:pPr algn="l" marL="148844" indent="-148844">
              <a:lnSpc>
                <a:spcPts val="1800"/>
              </a:lnSpc>
              <a:buSzPct val="100000"/>
              <a:buChar char="•"/>
            </a:pPr>
            <a:r>
              <a:rPr lang="en-US" sz="1200" dirty="0">
                <a:solidFill>
                  <a:srgbClr val="051C2C"/>
                </a:solidFill>
                <a:latin typeface="Inter" pitchFamily="34" charset="0"/>
                <a:ea typeface="Inter" pitchFamily="34" charset="-122"/>
                <a:cs typeface="Inter" pitchFamily="34" charset="-120"/>
              </a:rPr>
              <a:t>Region and client tier</a:t>
            </a:r>
            <a:endParaRPr lang="en-US" sz="1200" dirty="0"/>
          </a:p>
        </p:txBody>
      </p:sp>
      <p:sp>
        <p:nvSpPr>
          <p:cNvPr id="8" name="Shape 6"/>
          <p:cNvSpPr/>
          <p:nvPr/>
        </p:nvSpPr>
        <p:spPr>
          <a:xfrm>
            <a:off x="4388892" y="2195116"/>
            <a:ext cx="3414167" cy="3643709"/>
          </a:xfrm>
          <a:prstGeom prst="rect">
            <a:avLst/>
          </a:prstGeom>
          <a:solidFill>
            <a:srgbClr val="FFFFFF"/>
          </a:solidFill>
          <a:ln w="6350">
            <a:solidFill>
              <a:srgbClr val="D5DCE2"/>
            </a:solidFill>
            <a:prstDash val="solid"/>
          </a:ln>
        </p:spPr>
      </p:sp>
      <p:sp>
        <p:nvSpPr>
          <p:cNvPr id="9" name="Text 7"/>
          <p:cNvSpPr/>
          <p:nvPr/>
        </p:nvSpPr>
        <p:spPr>
          <a:xfrm>
            <a:off x="4595267" y="2401491"/>
            <a:ext cx="3091459" cy="284460"/>
          </a:xfrm>
          <a:prstGeom prst="rect">
            <a:avLst/>
          </a:prstGeom>
          <a:noFill/>
          <a:ln/>
        </p:spPr>
        <p:txBody>
          <a:bodyPr wrap="square" lIns="0" tIns="0" rIns="0" bIns="0" rtlCol="0" anchor="t">
            <a:normAutofit/>
          </a:bodyPr>
          <a:lstStyle/>
          <a:p>
            <a:pPr algn="l" indent="0" marL="0">
              <a:lnSpc>
                <a:spcPts val="2040"/>
              </a:lnSpc>
              <a:buNone/>
            </a:pPr>
            <a:r>
              <a:rPr lang="en-US" sz="1700" dirty="0">
                <a:solidFill>
                  <a:srgbClr val="051C2C"/>
                </a:solidFill>
                <a:latin typeface="Source Serif 4" pitchFamily="18" charset="0"/>
                <a:ea typeface="Source Serif 4" pitchFamily="18" charset="-122"/>
                <a:cs typeface="Source Serif 4" pitchFamily="18" charset="-120"/>
              </a:rPr>
              <a:t>Real-time cash and revenue</a:t>
            </a:r>
            <a:endParaRPr lang="en-US" sz="1700" dirty="0"/>
          </a:p>
        </p:txBody>
      </p:sp>
      <p:sp>
        <p:nvSpPr>
          <p:cNvPr id="10" name="Text 8"/>
          <p:cNvSpPr/>
          <p:nvPr/>
        </p:nvSpPr>
        <p:spPr>
          <a:xfrm>
            <a:off x="4595267" y="2762151"/>
            <a:ext cx="3091459"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A55"/>
                </a:solidFill>
                <a:latin typeface="Inter" pitchFamily="34" charset="0"/>
                <a:ea typeface="Inter" pitchFamily="34" charset="-122"/>
                <a:cs typeface="Inter" pitchFamily="34" charset="-120"/>
              </a:rPr>
              <a:t>Forecast built from contracts and renewals on file, updated as signals change:</a:t>
            </a:r>
            <a:endParaRPr lang="en-US" sz="1200" dirty="0"/>
          </a:p>
        </p:txBody>
      </p:sp>
      <p:sp>
        <p:nvSpPr>
          <p:cNvPr id="11" name="Text 9"/>
          <p:cNvSpPr/>
          <p:nvPr/>
        </p:nvSpPr>
        <p:spPr>
          <a:xfrm>
            <a:off x="4598823" y="3503712"/>
            <a:ext cx="3083331" cy="711200"/>
          </a:xfrm>
          <a:prstGeom prst="rect">
            <a:avLst/>
          </a:prstGeom>
          <a:noFill/>
          <a:ln/>
        </p:spPr>
        <p:txBody>
          <a:bodyPr wrap="square" lIns="0" tIns="0" rIns="0" bIns="0" rtlCol="0" anchor="t">
            <a:normAutofit/>
          </a:bodyPr>
          <a:lstStyle/>
          <a:p>
            <a:pPr algn="l" marL="148844" indent="-148844">
              <a:lnSpc>
                <a:spcPts val="1800"/>
              </a:lnSpc>
              <a:buSzPct val="100000"/>
              <a:buChar char="•"/>
            </a:pPr>
            <a:r>
              <a:rPr lang="en-US" sz="1200" dirty="0">
                <a:solidFill>
                  <a:srgbClr val="051C2C"/>
                </a:solidFill>
                <a:latin typeface="Inter" pitchFamily="34" charset="0"/>
                <a:ea typeface="Inter" pitchFamily="34" charset="-122"/>
                <a:cs typeface="Inter" pitchFamily="34" charset="-120"/>
              </a:rPr>
              <a:t>Contracted vs. at-risk revenue</a:t>
            </a:r>
            <a:endParaRPr lang="en-US" sz="1200" dirty="0"/>
          </a:p>
          <a:p>
            <a:pPr algn="l" marL="148844" indent="-148844">
              <a:lnSpc>
                <a:spcPts val="1800"/>
              </a:lnSpc>
              <a:buSzPct val="100000"/>
              <a:buChar char="•"/>
            </a:pPr>
            <a:r>
              <a:rPr lang="en-US" sz="1200" dirty="0">
                <a:solidFill>
                  <a:srgbClr val="051C2C"/>
                </a:solidFill>
                <a:latin typeface="Inter" pitchFamily="34" charset="0"/>
                <a:ea typeface="Inter" pitchFamily="34" charset="-122"/>
                <a:cs typeface="Inter" pitchFamily="34" charset="-120"/>
              </a:rPr>
              <a:t>Renew, compress or churn scenarios</a:t>
            </a:r>
            <a:endParaRPr lang="en-US" sz="1200" dirty="0"/>
          </a:p>
          <a:p>
            <a:pPr algn="l" marL="148844" indent="-148844">
              <a:lnSpc>
                <a:spcPts val="1800"/>
              </a:lnSpc>
              <a:buSzPct val="100000"/>
              <a:buChar char="•"/>
            </a:pPr>
            <a:r>
              <a:rPr lang="en-US" sz="1200" dirty="0">
                <a:solidFill>
                  <a:srgbClr val="051C2C"/>
                </a:solidFill>
                <a:latin typeface="Inter" pitchFamily="34" charset="0"/>
                <a:ea typeface="Inter" pitchFamily="34" charset="-122"/>
                <a:cs typeface="Inter" pitchFamily="34" charset="-120"/>
              </a:rPr>
              <a:t>Cash-flow timing by quarter</a:t>
            </a:r>
            <a:endParaRPr lang="en-US" sz="1200" dirty="0"/>
          </a:p>
        </p:txBody>
      </p:sp>
      <p:sp>
        <p:nvSpPr>
          <p:cNvPr id="12" name="Shape 10"/>
          <p:cNvSpPr/>
          <p:nvPr/>
        </p:nvSpPr>
        <p:spPr>
          <a:xfrm>
            <a:off x="7958634" y="2191941"/>
            <a:ext cx="3420566" cy="3650059"/>
          </a:xfrm>
          <a:prstGeom prst="rect">
            <a:avLst/>
          </a:prstGeom>
          <a:solidFill>
            <a:srgbClr val="051C2C"/>
          </a:solidFill>
          <a:ln/>
        </p:spPr>
      </p:sp>
      <p:sp>
        <p:nvSpPr>
          <p:cNvPr id="13" name="Text 11"/>
          <p:cNvSpPr/>
          <p:nvPr/>
        </p:nvSpPr>
        <p:spPr>
          <a:xfrm>
            <a:off x="8161834" y="2395141"/>
            <a:ext cx="3104591" cy="284460"/>
          </a:xfrm>
          <a:prstGeom prst="rect">
            <a:avLst/>
          </a:prstGeom>
          <a:noFill/>
          <a:ln/>
        </p:spPr>
        <p:txBody>
          <a:bodyPr wrap="square" lIns="0" tIns="0" rIns="0" bIns="0" rtlCol="0" anchor="t">
            <a:normAutofit/>
          </a:bodyPr>
          <a:lstStyle/>
          <a:p>
            <a:pPr algn="l" indent="0" marL="0">
              <a:lnSpc>
                <a:spcPts val="2040"/>
              </a:lnSpc>
              <a:buNone/>
            </a:pPr>
            <a:r>
              <a:rPr lang="en-US" sz="1700" dirty="0">
                <a:solidFill>
                  <a:srgbClr val="F4F6F8"/>
                </a:solidFill>
                <a:latin typeface="Source Serif 4" pitchFamily="18" charset="0"/>
                <a:ea typeface="Source Serif 4" pitchFamily="18" charset="-122"/>
                <a:cs typeface="Source Serif 4" pitchFamily="18" charset="-120"/>
              </a:rPr>
              <a:t>Capital allocation</a:t>
            </a:r>
            <a:endParaRPr lang="en-US" sz="1700" dirty="0"/>
          </a:p>
        </p:txBody>
      </p:sp>
      <p:sp>
        <p:nvSpPr>
          <p:cNvPr id="14" name="Text 12"/>
          <p:cNvSpPr/>
          <p:nvPr/>
        </p:nvSpPr>
        <p:spPr>
          <a:xfrm>
            <a:off x="8161834" y="2755801"/>
            <a:ext cx="32173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4DD"/>
                </a:solidFill>
                <a:latin typeface="Inter" pitchFamily="34" charset="0"/>
                <a:ea typeface="Inter" pitchFamily="34" charset="-122"/>
                <a:cs typeface="Inter" pitchFamily="34" charset="-120"/>
              </a:rPr>
              <a:t>Capital follows real-time revenue impact:</a:t>
            </a:r>
            <a:endParaRPr lang="en-US" sz="1200" dirty="0"/>
          </a:p>
        </p:txBody>
      </p:sp>
      <p:sp>
        <p:nvSpPr>
          <p:cNvPr id="15" name="Shape 13"/>
          <p:cNvSpPr/>
          <p:nvPr/>
        </p:nvSpPr>
        <p:spPr>
          <a:xfrm>
            <a:off x="8161834" y="3073896"/>
            <a:ext cx="3014166" cy="0"/>
          </a:xfrm>
          <a:prstGeom prst="line">
            <a:avLst/>
          </a:prstGeom>
          <a:noFill/>
          <a:ln w="6350">
            <a:solidFill>
              <a:srgbClr val="2A4A63"/>
            </a:solidFill>
            <a:prstDash val="solid"/>
          </a:ln>
        </p:spPr>
      </p:sp>
      <p:sp>
        <p:nvSpPr>
          <p:cNvPr id="16" name="Text 14"/>
          <p:cNvSpPr/>
          <p:nvPr/>
        </p:nvSpPr>
        <p:spPr>
          <a:xfrm>
            <a:off x="8161834" y="3153271"/>
            <a:ext cx="310459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A9F4"/>
                </a:solidFill>
                <a:latin typeface="Inter" pitchFamily="34" charset="0"/>
                <a:ea typeface="Inter" pitchFamily="34" charset="-122"/>
                <a:cs typeface="Inter" pitchFamily="34" charset="-120"/>
              </a:rPr>
              <a:t>Grow</a:t>
            </a:r>
            <a:r>
              <a:rPr lang="en-US" sz="1200" dirty="0">
                <a:solidFill>
                  <a:srgbClr val="F4F6F8"/>
                </a:solidFill>
                <a:latin typeface="Inter" pitchFamily="34" charset="0"/>
                <a:ea typeface="Inter" pitchFamily="34" charset="-122"/>
                <a:cs typeface="Inter" pitchFamily="34" charset="-120"/>
              </a:rPr>
              <a:t> high margin, expansion signals</a:t>
            </a:r>
            <a:endParaRPr lang="en-US" sz="1200" dirty="0"/>
          </a:p>
        </p:txBody>
      </p:sp>
      <p:sp>
        <p:nvSpPr>
          <p:cNvPr id="17" name="Shape 15"/>
          <p:cNvSpPr/>
          <p:nvPr/>
        </p:nvSpPr>
        <p:spPr>
          <a:xfrm>
            <a:off x="8161834" y="3471366"/>
            <a:ext cx="3014166" cy="0"/>
          </a:xfrm>
          <a:prstGeom prst="line">
            <a:avLst/>
          </a:prstGeom>
          <a:noFill/>
          <a:ln w="6350">
            <a:solidFill>
              <a:srgbClr val="2A4A63"/>
            </a:solidFill>
            <a:prstDash val="solid"/>
          </a:ln>
        </p:spPr>
      </p:sp>
      <p:sp>
        <p:nvSpPr>
          <p:cNvPr id="18" name="Text 16"/>
          <p:cNvSpPr/>
          <p:nvPr/>
        </p:nvSpPr>
        <p:spPr>
          <a:xfrm>
            <a:off x="8161834" y="3550741"/>
            <a:ext cx="310459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A9F4"/>
                </a:solidFill>
                <a:latin typeface="Inter" pitchFamily="34" charset="0"/>
                <a:ea typeface="Inter" pitchFamily="34" charset="-122"/>
                <a:cs typeface="Inter" pitchFamily="34" charset="-120"/>
              </a:rPr>
              <a:t>Sustain</a:t>
            </a:r>
            <a:r>
              <a:rPr lang="en-US" sz="1200" dirty="0">
                <a:solidFill>
                  <a:srgbClr val="F4F6F8"/>
                </a:solidFill>
                <a:latin typeface="Inter" pitchFamily="34" charset="0"/>
                <a:ea typeface="Inter" pitchFamily="34" charset="-122"/>
                <a:cs typeface="Inter" pitchFamily="34" charset="-120"/>
              </a:rPr>
              <a:t> stable, renewing</a:t>
            </a:r>
            <a:endParaRPr lang="en-US" sz="1200" dirty="0"/>
          </a:p>
        </p:txBody>
      </p:sp>
      <p:sp>
        <p:nvSpPr>
          <p:cNvPr id="19" name="Shape 17"/>
          <p:cNvSpPr/>
          <p:nvPr/>
        </p:nvSpPr>
        <p:spPr>
          <a:xfrm>
            <a:off x="8161834" y="3868837"/>
            <a:ext cx="3014166" cy="0"/>
          </a:xfrm>
          <a:prstGeom prst="line">
            <a:avLst/>
          </a:prstGeom>
          <a:noFill/>
          <a:ln w="6350">
            <a:solidFill>
              <a:srgbClr val="2A4A63"/>
            </a:solidFill>
            <a:prstDash val="solid"/>
          </a:ln>
        </p:spPr>
      </p:sp>
      <p:sp>
        <p:nvSpPr>
          <p:cNvPr id="20" name="Text 18"/>
          <p:cNvSpPr/>
          <p:nvPr/>
        </p:nvSpPr>
        <p:spPr>
          <a:xfrm>
            <a:off x="8161834" y="3948212"/>
            <a:ext cx="310459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A9F4"/>
                </a:solidFill>
                <a:latin typeface="Inter" pitchFamily="34" charset="0"/>
                <a:ea typeface="Inter" pitchFamily="34" charset="-122"/>
                <a:cs typeface="Inter" pitchFamily="34" charset="-120"/>
              </a:rPr>
              <a:t>Fix or exit</a:t>
            </a:r>
            <a:r>
              <a:rPr lang="en-US" sz="1200" dirty="0">
                <a:solidFill>
                  <a:srgbClr val="F4F6F8"/>
                </a:solidFill>
                <a:latin typeface="Inter" pitchFamily="34" charset="0"/>
                <a:ea typeface="Inter" pitchFamily="34" charset="-122"/>
                <a:cs typeface="Inter" pitchFamily="34" charset="-120"/>
              </a:rPr>
              <a:t> compressing, low margin</a:t>
            </a:r>
            <a:endParaRPr lang="en-US" sz="1200" dirty="0"/>
          </a:p>
        </p:txBody>
      </p:sp>
      <p:sp>
        <p:nvSpPr>
          <p:cNvPr id="21" name="Text 19"/>
          <p:cNvSpPr/>
          <p:nvPr/>
        </p:nvSpPr>
        <p:spPr>
          <a:xfrm>
            <a:off x="812800" y="6238280"/>
            <a:ext cx="23665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0"/>
                </a:solidFill>
                <a:latin typeface="Inter" pitchFamily="34" charset="0"/>
                <a:ea typeface="Inter" pitchFamily="34" charset="-122"/>
                <a:cs typeface="Inter" pitchFamily="34" charset="-120"/>
              </a:rPr>
              <a:t>Enterprise Intelligence | FIS</a:t>
            </a:r>
            <a:endParaRPr lang="en-US" sz="1200" dirty="0"/>
          </a:p>
        </p:txBody>
      </p:sp>
      <p:sp>
        <p:nvSpPr>
          <p:cNvPr id="22" name="Text 20"/>
          <p:cNvSpPr/>
          <p:nvPr/>
        </p:nvSpPr>
        <p:spPr>
          <a:xfrm>
            <a:off x="11170245" y="6238280"/>
            <a:ext cx="20895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0"/>
                </a:solidFill>
                <a:latin typeface="Inter" pitchFamily="34" charset="0"/>
                <a:ea typeface="Inter" pitchFamily="34" charset="-122"/>
                <a:cs typeface="Inter"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BF9"/>
        </a:solidFill>
      </p:bgPr>
    </p:bg>
    <p:spTree>
      <p:nvGrpSpPr>
        <p:cNvPr id="1" name=""/>
        <p:cNvGrpSpPr/>
        <p:nvPr/>
      </p:nvGrpSpPr>
      <p:grpSpPr>
        <a:xfrm>
          <a:off x="0" y="0"/>
          <a:ext cx="0" cy="0"/>
          <a:chOff x="0" y="0"/>
          <a:chExt cx="0" cy="0"/>
        </a:xfrm>
      </p:grpSpPr>
      <p:pic>
        <p:nvPicPr>
          <p:cNvPr id="2" name="Image 0" descr="Clockwise flywheel ring with six stages around the enterprise intelligence hub">    </p:cNvPr>
          <p:cNvPicPr>
            <a:picLocks noChangeAspect="1"/>
          </p:cNvPicPr>
          <p:nvPr/>
        </p:nvPicPr>
        <p:blipFill>
          <a:blip r:embed="rId1"/>
          <a:srcRect l="0" r="0" t="0" b="0"/>
          <a:stretch/>
        </p:blipFill>
        <p:spPr>
          <a:xfrm>
            <a:off x="812800" y="2095500"/>
            <a:ext cx="6350000" cy="3746500"/>
          </a:xfrm>
          <a:prstGeom prst="rect">
            <a:avLst/>
          </a:prstGeom>
        </p:spPr>
      </p:pic>
      <p:sp>
        <p:nvSpPr>
          <p:cNvPr id="3"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251FF"/>
                </a:solidFill>
                <a:latin typeface="Inter" pitchFamily="34" charset="0"/>
                <a:ea typeface="Inter" pitchFamily="34" charset="-122"/>
                <a:cs typeface="Inter" pitchFamily="34" charset="-120"/>
              </a:rPr>
              <a:t>THE FLYWHEEL</a:t>
            </a:r>
            <a:endParaRPr lang="en-US" sz="1200" dirty="0"/>
          </a:p>
        </p:txBody>
      </p:sp>
      <p:sp>
        <p:nvSpPr>
          <p:cNvPr id="4" name="Text 1"/>
          <p:cNvSpPr/>
          <p:nvPr>
            <p:ph type="title"/>
          </p:nvPr>
        </p:nvSpPr>
        <p:spPr>
          <a:xfrm>
            <a:off x="812800" y="1127720"/>
            <a:ext cx="10883392" cy="784820"/>
          </a:xfrm>
          <a:prstGeom prst="rect">
            <a:avLst/>
          </a:prstGeom>
          <a:noFill/>
          <a:ln/>
        </p:spPr>
        <p:txBody>
          <a:bodyPr wrap="square" lIns="0" tIns="0" rIns="0" bIns="0" rtlCol="0" anchor="t">
            <a:normAutofit/>
          </a:bodyPr>
          <a:lstStyle/>
          <a:p>
            <a:pPr algn="l" indent="0" marL="0">
              <a:lnSpc>
                <a:spcPts val="2990"/>
              </a:lnSpc>
              <a:buNone/>
            </a:pPr>
            <a:r>
              <a:rPr lang="en-US" sz="2600" b="0" i="0" dirty="0">
                <a:solidFill>
                  <a:srgbClr val="051C2C"/>
                </a:solidFill>
                <a:latin typeface="Source Serif 4" pitchFamily="18" charset="0"/>
                <a:ea typeface="Source Serif 4" pitchFamily="18" charset="-122"/>
                <a:cs typeface="Source Serif 4" pitchFamily="18" charset="-120"/>
              </a:rPr>
              <a:t>One intelligence layer links the client, commercial and strategy offices, so every turn compounds margin</a:t>
            </a:r>
            <a:endParaRPr lang="en-US" sz="2600" dirty="0"/>
          </a:p>
        </p:txBody>
      </p:sp>
      <p:sp>
        <p:nvSpPr>
          <p:cNvPr id="5" name="Shape 2"/>
          <p:cNvSpPr/>
          <p:nvPr/>
        </p:nvSpPr>
        <p:spPr>
          <a:xfrm>
            <a:off x="3257550" y="3238500"/>
            <a:ext cx="1460500" cy="1460500"/>
          </a:xfrm>
          <a:prstGeom prst="roundRect">
            <a:avLst>
              <a:gd name="adj" fmla="val 50000"/>
            </a:avLst>
          </a:prstGeom>
          <a:solidFill>
            <a:srgbClr val="051C2C"/>
          </a:solidFill>
          <a:ln/>
        </p:spPr>
      </p:sp>
      <p:sp>
        <p:nvSpPr>
          <p:cNvPr id="6" name="Text 3"/>
          <p:cNvSpPr/>
          <p:nvPr/>
        </p:nvSpPr>
        <p:spPr>
          <a:xfrm>
            <a:off x="3333750" y="3651300"/>
            <a:ext cx="1308100" cy="421580"/>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F4F6F8"/>
                </a:solidFill>
                <a:latin typeface="Inter" pitchFamily="34" charset="0"/>
                <a:ea typeface="Inter" pitchFamily="34" charset="-122"/>
                <a:cs typeface="Inter" pitchFamily="34" charset="-120"/>
              </a:rPr>
              <a:t>Enterprise Intelligence</a:t>
            </a:r>
            <a:endParaRPr lang="en-US" sz="1300" dirty="0"/>
          </a:p>
        </p:txBody>
      </p:sp>
      <p:sp>
        <p:nvSpPr>
          <p:cNvPr id="7" name="Text 4"/>
          <p:cNvSpPr/>
          <p:nvPr/>
        </p:nvSpPr>
        <p:spPr>
          <a:xfrm>
            <a:off x="3371537" y="4072880"/>
            <a:ext cx="123247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0A9F4"/>
                </a:solidFill>
                <a:latin typeface="Inter" pitchFamily="34" charset="0"/>
                <a:ea typeface="Inter" pitchFamily="34" charset="-122"/>
                <a:cs typeface="Inter" pitchFamily="34" charset="-120"/>
              </a:rPr>
              <a:t>real-time truth</a:t>
            </a:r>
            <a:endParaRPr lang="en-US" sz="1200" dirty="0"/>
          </a:p>
        </p:txBody>
      </p:sp>
      <p:sp>
        <p:nvSpPr>
          <p:cNvPr id="8" name="Shape 5"/>
          <p:cNvSpPr/>
          <p:nvPr/>
        </p:nvSpPr>
        <p:spPr>
          <a:xfrm>
            <a:off x="3101975" y="2257425"/>
            <a:ext cx="1771650" cy="623491"/>
          </a:xfrm>
          <a:prstGeom prst="roundRect">
            <a:avLst>
              <a:gd name="adj" fmla="val 7638"/>
            </a:avLst>
          </a:prstGeom>
          <a:solidFill>
            <a:srgbClr val="EEF1F4"/>
          </a:solidFill>
          <a:ln w="6350">
            <a:solidFill>
              <a:srgbClr val="C9D1D8"/>
            </a:solidFill>
            <a:prstDash val="solid"/>
          </a:ln>
        </p:spPr>
      </p:sp>
      <p:sp>
        <p:nvSpPr>
          <p:cNvPr id="9" name="Text 6"/>
          <p:cNvSpPr/>
          <p:nvPr/>
        </p:nvSpPr>
        <p:spPr>
          <a:xfrm>
            <a:off x="3181350" y="2349500"/>
            <a:ext cx="16129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51C2C"/>
                </a:solidFill>
                <a:latin typeface="Inter" pitchFamily="34" charset="0"/>
                <a:ea typeface="Inter" pitchFamily="34" charset="-122"/>
                <a:cs typeface="Inter" pitchFamily="34" charset="-120"/>
              </a:rPr>
              <a:t>Signals flow in</a:t>
            </a:r>
            <a:endParaRPr lang="en-US" sz="1200" dirty="0"/>
          </a:p>
        </p:txBody>
      </p:sp>
      <p:sp>
        <p:nvSpPr>
          <p:cNvPr id="10" name="Text 7"/>
          <p:cNvSpPr/>
          <p:nvPr/>
        </p:nvSpPr>
        <p:spPr>
          <a:xfrm>
            <a:off x="3181350" y="2575520"/>
            <a:ext cx="16129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B6670"/>
                </a:solidFill>
                <a:latin typeface="Inter" pitchFamily="34" charset="0"/>
                <a:ea typeface="Inter" pitchFamily="34" charset="-122"/>
                <a:cs typeface="Inter" pitchFamily="34" charset="-120"/>
              </a:rPr>
              <a:t>12 live signals</a:t>
            </a:r>
            <a:endParaRPr lang="en-US" sz="1200" dirty="0"/>
          </a:p>
        </p:txBody>
      </p:sp>
      <p:sp>
        <p:nvSpPr>
          <p:cNvPr id="11" name="Shape 8"/>
          <p:cNvSpPr/>
          <p:nvPr/>
        </p:nvSpPr>
        <p:spPr>
          <a:xfrm>
            <a:off x="4972050" y="2978150"/>
            <a:ext cx="1765300" cy="629841"/>
          </a:xfrm>
          <a:prstGeom prst="roundRect">
            <a:avLst>
              <a:gd name="adj" fmla="val 7057"/>
            </a:avLst>
          </a:prstGeom>
          <a:solidFill>
            <a:srgbClr val="FFFFFF"/>
          </a:solidFill>
          <a:ln w="12700">
            <a:solidFill>
              <a:srgbClr val="051C2C"/>
            </a:solidFill>
            <a:prstDash val="solid"/>
          </a:ln>
        </p:spPr>
      </p:sp>
      <p:sp>
        <p:nvSpPr>
          <p:cNvPr id="12" name="Text 9"/>
          <p:cNvSpPr/>
          <p:nvPr/>
        </p:nvSpPr>
        <p:spPr>
          <a:xfrm>
            <a:off x="5054600" y="3073400"/>
            <a:ext cx="16002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51C2C"/>
                </a:solidFill>
                <a:latin typeface="Inter" pitchFamily="34" charset="0"/>
                <a:ea typeface="Inter" pitchFamily="34" charset="-122"/>
                <a:cs typeface="Inter" pitchFamily="34" charset="-120"/>
              </a:rPr>
              <a:t>Fix quality and CX</a:t>
            </a:r>
            <a:endParaRPr lang="en-US" sz="1200" dirty="0"/>
          </a:p>
        </p:txBody>
      </p:sp>
      <p:sp>
        <p:nvSpPr>
          <p:cNvPr id="13" name="Text 10"/>
          <p:cNvSpPr/>
          <p:nvPr/>
        </p:nvSpPr>
        <p:spPr>
          <a:xfrm>
            <a:off x="5054600" y="3299420"/>
            <a:ext cx="16002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B6670"/>
                </a:solidFill>
                <a:latin typeface="Inter" pitchFamily="34" charset="0"/>
                <a:ea typeface="Inter" pitchFamily="34" charset="-122"/>
                <a:cs typeface="Inter" pitchFamily="34" charset="-120"/>
              </a:rPr>
              <a:t>Client Office</a:t>
            </a:r>
            <a:endParaRPr lang="en-US" sz="1200" dirty="0"/>
          </a:p>
        </p:txBody>
      </p:sp>
      <p:sp>
        <p:nvSpPr>
          <p:cNvPr id="14" name="Shape 11"/>
          <p:cNvSpPr/>
          <p:nvPr/>
        </p:nvSpPr>
        <p:spPr>
          <a:xfrm>
            <a:off x="4972050" y="4406900"/>
            <a:ext cx="1765300" cy="629841"/>
          </a:xfrm>
          <a:prstGeom prst="roundRect">
            <a:avLst>
              <a:gd name="adj" fmla="val 7057"/>
            </a:avLst>
          </a:prstGeom>
          <a:solidFill>
            <a:srgbClr val="FFFFFF"/>
          </a:solidFill>
          <a:ln w="12700">
            <a:solidFill>
              <a:srgbClr val="051C2C"/>
            </a:solidFill>
            <a:prstDash val="solid"/>
          </a:ln>
        </p:spPr>
      </p:sp>
      <p:sp>
        <p:nvSpPr>
          <p:cNvPr id="15" name="Text 12"/>
          <p:cNvSpPr/>
          <p:nvPr/>
        </p:nvSpPr>
        <p:spPr>
          <a:xfrm>
            <a:off x="5054600" y="4502150"/>
            <a:ext cx="16002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51C2C"/>
                </a:solidFill>
                <a:latin typeface="Inter" pitchFamily="34" charset="0"/>
                <a:ea typeface="Inter" pitchFamily="34" charset="-122"/>
                <a:cs typeface="Inter" pitchFamily="34" charset="-120"/>
              </a:rPr>
              <a:t>Renew and expand</a:t>
            </a:r>
            <a:endParaRPr lang="en-US" sz="1200" dirty="0"/>
          </a:p>
        </p:txBody>
      </p:sp>
      <p:sp>
        <p:nvSpPr>
          <p:cNvPr id="16" name="Text 13"/>
          <p:cNvSpPr/>
          <p:nvPr/>
        </p:nvSpPr>
        <p:spPr>
          <a:xfrm>
            <a:off x="5054600" y="4728170"/>
            <a:ext cx="16002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B6670"/>
                </a:solidFill>
                <a:latin typeface="Inter" pitchFamily="34" charset="0"/>
                <a:ea typeface="Inter" pitchFamily="34" charset="-122"/>
                <a:cs typeface="Inter" pitchFamily="34" charset="-120"/>
              </a:rPr>
              <a:t>Commercial Office</a:t>
            </a:r>
            <a:endParaRPr lang="en-US" sz="1200" dirty="0"/>
          </a:p>
        </p:txBody>
      </p:sp>
      <p:sp>
        <p:nvSpPr>
          <p:cNvPr id="17" name="Shape 14"/>
          <p:cNvSpPr/>
          <p:nvPr/>
        </p:nvSpPr>
        <p:spPr>
          <a:xfrm>
            <a:off x="3105150" y="5118100"/>
            <a:ext cx="1765300" cy="629841"/>
          </a:xfrm>
          <a:prstGeom prst="roundRect">
            <a:avLst>
              <a:gd name="adj" fmla="val 7057"/>
            </a:avLst>
          </a:prstGeom>
          <a:solidFill>
            <a:srgbClr val="FFFFFF"/>
          </a:solidFill>
          <a:ln w="12700">
            <a:solidFill>
              <a:srgbClr val="051C2C"/>
            </a:solidFill>
            <a:prstDash val="solid"/>
          </a:ln>
        </p:spPr>
      </p:sp>
      <p:sp>
        <p:nvSpPr>
          <p:cNvPr id="18" name="Text 15"/>
          <p:cNvSpPr/>
          <p:nvPr/>
        </p:nvSpPr>
        <p:spPr>
          <a:xfrm>
            <a:off x="3187700" y="5213350"/>
            <a:ext cx="16002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51C2C"/>
                </a:solidFill>
                <a:latin typeface="Inter" pitchFamily="34" charset="0"/>
                <a:ea typeface="Inter" pitchFamily="34" charset="-122"/>
                <a:cs typeface="Inter" pitchFamily="34" charset="-120"/>
              </a:rPr>
              <a:t>Margin compounds</a:t>
            </a:r>
            <a:endParaRPr lang="en-US" sz="1200" dirty="0"/>
          </a:p>
        </p:txBody>
      </p:sp>
      <p:sp>
        <p:nvSpPr>
          <p:cNvPr id="19" name="Text 16"/>
          <p:cNvSpPr/>
          <p:nvPr/>
        </p:nvSpPr>
        <p:spPr>
          <a:xfrm>
            <a:off x="3187700" y="5439370"/>
            <a:ext cx="16002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B6670"/>
                </a:solidFill>
                <a:latin typeface="Inter" pitchFamily="34" charset="0"/>
                <a:ea typeface="Inter" pitchFamily="34" charset="-122"/>
                <a:cs typeface="Inter" pitchFamily="34" charset="-120"/>
              </a:rPr>
              <a:t>CFO and COO</a:t>
            </a:r>
            <a:endParaRPr lang="en-US" sz="1200" dirty="0"/>
          </a:p>
        </p:txBody>
      </p:sp>
      <p:sp>
        <p:nvSpPr>
          <p:cNvPr id="20" name="Shape 17"/>
          <p:cNvSpPr/>
          <p:nvPr/>
        </p:nvSpPr>
        <p:spPr>
          <a:xfrm>
            <a:off x="1238250" y="4406900"/>
            <a:ext cx="1765300" cy="629841"/>
          </a:xfrm>
          <a:prstGeom prst="roundRect">
            <a:avLst>
              <a:gd name="adj" fmla="val 7057"/>
            </a:avLst>
          </a:prstGeom>
          <a:solidFill>
            <a:srgbClr val="E6ECFF"/>
          </a:solidFill>
          <a:ln w="12700">
            <a:solidFill>
              <a:srgbClr val="2251FF"/>
            </a:solidFill>
            <a:prstDash val="solid"/>
          </a:ln>
        </p:spPr>
      </p:sp>
      <p:sp>
        <p:nvSpPr>
          <p:cNvPr id="21" name="Text 18"/>
          <p:cNvSpPr/>
          <p:nvPr/>
        </p:nvSpPr>
        <p:spPr>
          <a:xfrm>
            <a:off x="1320800" y="4502150"/>
            <a:ext cx="16002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51C2C"/>
                </a:solidFill>
                <a:latin typeface="Inter" pitchFamily="34" charset="0"/>
                <a:ea typeface="Inter" pitchFamily="34" charset="-122"/>
                <a:cs typeface="Inter" pitchFamily="34" charset="-120"/>
              </a:rPr>
              <a:t>Allocate capital</a:t>
            </a:r>
            <a:endParaRPr lang="en-US" sz="1200" dirty="0"/>
          </a:p>
        </p:txBody>
      </p:sp>
      <p:sp>
        <p:nvSpPr>
          <p:cNvPr id="22" name="Text 19"/>
          <p:cNvSpPr/>
          <p:nvPr/>
        </p:nvSpPr>
        <p:spPr>
          <a:xfrm>
            <a:off x="1320800" y="4728170"/>
            <a:ext cx="16002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24323D"/>
                </a:solidFill>
                <a:latin typeface="Inter" pitchFamily="34" charset="0"/>
                <a:ea typeface="Inter" pitchFamily="34" charset="-122"/>
                <a:cs typeface="Inter" pitchFamily="34" charset="-120"/>
              </a:rPr>
              <a:t>CSO: build or buy</a:t>
            </a:r>
            <a:endParaRPr lang="en-US" sz="1200" dirty="0"/>
          </a:p>
        </p:txBody>
      </p:sp>
      <p:sp>
        <p:nvSpPr>
          <p:cNvPr id="23" name="Shape 20"/>
          <p:cNvSpPr/>
          <p:nvPr/>
        </p:nvSpPr>
        <p:spPr>
          <a:xfrm>
            <a:off x="1238250" y="2978150"/>
            <a:ext cx="1765300" cy="629841"/>
          </a:xfrm>
          <a:prstGeom prst="roundRect">
            <a:avLst>
              <a:gd name="adj" fmla="val 7057"/>
            </a:avLst>
          </a:prstGeom>
          <a:solidFill>
            <a:srgbClr val="E6ECFF"/>
          </a:solidFill>
          <a:ln w="12700">
            <a:solidFill>
              <a:srgbClr val="2251FF"/>
            </a:solidFill>
            <a:prstDash val="solid"/>
          </a:ln>
        </p:spPr>
      </p:sp>
      <p:sp>
        <p:nvSpPr>
          <p:cNvPr id="24" name="Text 21"/>
          <p:cNvSpPr/>
          <p:nvPr/>
        </p:nvSpPr>
        <p:spPr>
          <a:xfrm>
            <a:off x="1320800" y="3073400"/>
            <a:ext cx="16002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51C2C"/>
                </a:solidFill>
                <a:latin typeface="Inter" pitchFamily="34" charset="0"/>
                <a:ea typeface="Inter" pitchFamily="34" charset="-122"/>
                <a:cs typeface="Inter" pitchFamily="34" charset="-120"/>
              </a:rPr>
              <a:t>Innovate products</a:t>
            </a:r>
            <a:endParaRPr lang="en-US" sz="1200" dirty="0"/>
          </a:p>
        </p:txBody>
      </p:sp>
      <p:sp>
        <p:nvSpPr>
          <p:cNvPr id="25" name="Text 22"/>
          <p:cNvSpPr/>
          <p:nvPr/>
        </p:nvSpPr>
        <p:spPr>
          <a:xfrm>
            <a:off x="1320800" y="3299420"/>
            <a:ext cx="16002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24323D"/>
                </a:solidFill>
                <a:latin typeface="Inter" pitchFamily="34" charset="0"/>
                <a:ea typeface="Inter" pitchFamily="34" charset="-122"/>
                <a:cs typeface="Inter" pitchFamily="34" charset="-120"/>
              </a:rPr>
              <a:t>Product Office</a:t>
            </a:r>
            <a:endParaRPr lang="en-US" sz="1200" dirty="0"/>
          </a:p>
        </p:txBody>
      </p:sp>
      <p:sp>
        <p:nvSpPr>
          <p:cNvPr id="26" name="Shape 23"/>
          <p:cNvSpPr/>
          <p:nvPr/>
        </p:nvSpPr>
        <p:spPr>
          <a:xfrm>
            <a:off x="7232650" y="2254250"/>
            <a:ext cx="0" cy="876151"/>
          </a:xfrm>
          <a:prstGeom prst="line">
            <a:avLst/>
          </a:prstGeom>
          <a:noFill/>
          <a:ln w="38100">
            <a:solidFill>
              <a:srgbClr val="051C2C"/>
            </a:solidFill>
            <a:prstDash val="solid"/>
          </a:ln>
        </p:spPr>
      </p:sp>
      <p:sp>
        <p:nvSpPr>
          <p:cNvPr id="27" name="Text 24"/>
          <p:cNvSpPr/>
          <p:nvPr/>
        </p:nvSpPr>
        <p:spPr>
          <a:xfrm>
            <a:off x="7378700" y="2254250"/>
            <a:ext cx="4120515"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51C2C"/>
                </a:solidFill>
                <a:latin typeface="Inter" pitchFamily="34" charset="0"/>
                <a:ea typeface="Inter" pitchFamily="34" charset="-122"/>
                <a:cs typeface="Inter" pitchFamily="34" charset="-120"/>
              </a:rPr>
              <a:t>Operating loop: weekly</a:t>
            </a:r>
            <a:endParaRPr lang="en-US" sz="1300" dirty="0"/>
          </a:p>
        </p:txBody>
      </p:sp>
      <p:sp>
        <p:nvSpPr>
          <p:cNvPr id="28" name="Text 25"/>
          <p:cNvSpPr/>
          <p:nvPr/>
        </p:nvSpPr>
        <p:spPr>
          <a:xfrm>
            <a:off x="7378700" y="2490440"/>
            <a:ext cx="4120515"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A55"/>
                </a:solidFill>
                <a:latin typeface="Inter" pitchFamily="34" charset="0"/>
                <a:ea typeface="Inter" pitchFamily="34" charset="-122"/>
                <a:cs typeface="Inter" pitchFamily="34" charset="-120"/>
              </a:rPr>
              <a:t>Fix what clients feel before they raise it, earn the right to sell, then renew and expand. Quality comes before cross-sell.</a:t>
            </a:r>
            <a:endParaRPr lang="en-US" sz="1200" dirty="0"/>
          </a:p>
        </p:txBody>
      </p:sp>
      <p:sp>
        <p:nvSpPr>
          <p:cNvPr id="29" name="Shape 26"/>
          <p:cNvSpPr/>
          <p:nvPr/>
        </p:nvSpPr>
        <p:spPr>
          <a:xfrm>
            <a:off x="7232650" y="3308201"/>
            <a:ext cx="0" cy="876151"/>
          </a:xfrm>
          <a:prstGeom prst="line">
            <a:avLst/>
          </a:prstGeom>
          <a:noFill/>
          <a:ln w="38100">
            <a:solidFill>
              <a:srgbClr val="2251FF"/>
            </a:solidFill>
            <a:prstDash val="solid"/>
          </a:ln>
        </p:spPr>
      </p:sp>
      <p:sp>
        <p:nvSpPr>
          <p:cNvPr id="30" name="Text 27"/>
          <p:cNvSpPr/>
          <p:nvPr/>
        </p:nvSpPr>
        <p:spPr>
          <a:xfrm>
            <a:off x="7378700" y="3308201"/>
            <a:ext cx="4120515"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51C2C"/>
                </a:solidFill>
                <a:latin typeface="Inter" pitchFamily="34" charset="0"/>
                <a:ea typeface="Inter" pitchFamily="34" charset="-122"/>
                <a:cs typeface="Inter" pitchFamily="34" charset="-120"/>
              </a:rPr>
              <a:t>Strategic loop: continuous</a:t>
            </a:r>
            <a:endParaRPr lang="en-US" sz="1300" dirty="0"/>
          </a:p>
        </p:txBody>
      </p:sp>
      <p:sp>
        <p:nvSpPr>
          <p:cNvPr id="31" name="Text 28"/>
          <p:cNvSpPr/>
          <p:nvPr/>
        </p:nvSpPr>
        <p:spPr>
          <a:xfrm>
            <a:off x="7378700" y="3544391"/>
            <a:ext cx="4120515"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A55"/>
                </a:solidFill>
                <a:latin typeface="Inter" pitchFamily="34" charset="0"/>
                <a:ea typeface="Inter" pitchFamily="34" charset="-122"/>
                <a:cs typeface="Inter" pitchFamily="34" charset="-120"/>
              </a:rPr>
              <a:t>Freed margin moves where live revenue impact is highest: build, partner or buy (M&amp;A) to close portfolio gaps.</a:t>
            </a:r>
            <a:endParaRPr lang="en-US" sz="1200" dirty="0"/>
          </a:p>
        </p:txBody>
      </p:sp>
      <p:sp>
        <p:nvSpPr>
          <p:cNvPr id="32" name="Shape 29"/>
          <p:cNvSpPr/>
          <p:nvPr/>
        </p:nvSpPr>
        <p:spPr>
          <a:xfrm>
            <a:off x="7232650" y="4362152"/>
            <a:ext cx="0" cy="876151"/>
          </a:xfrm>
          <a:prstGeom prst="line">
            <a:avLst/>
          </a:prstGeom>
          <a:noFill/>
          <a:ln w="38100">
            <a:solidFill>
              <a:srgbClr val="00A9F4"/>
            </a:solidFill>
            <a:prstDash val="solid"/>
          </a:ln>
        </p:spPr>
      </p:sp>
      <p:sp>
        <p:nvSpPr>
          <p:cNvPr id="33" name="Text 30"/>
          <p:cNvSpPr/>
          <p:nvPr/>
        </p:nvSpPr>
        <p:spPr>
          <a:xfrm>
            <a:off x="7378700" y="4362152"/>
            <a:ext cx="4120515"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51C2C"/>
                </a:solidFill>
                <a:latin typeface="Inter" pitchFamily="34" charset="0"/>
                <a:ea typeface="Inter" pitchFamily="34" charset="-122"/>
                <a:cs typeface="Inter" pitchFamily="34" charset="-120"/>
              </a:rPr>
              <a:t>The compounding edge</a:t>
            </a:r>
            <a:endParaRPr lang="en-US" sz="1300" dirty="0"/>
          </a:p>
        </p:txBody>
      </p:sp>
      <p:sp>
        <p:nvSpPr>
          <p:cNvPr id="34" name="Text 31"/>
          <p:cNvSpPr/>
          <p:nvPr/>
        </p:nvSpPr>
        <p:spPr>
          <a:xfrm>
            <a:off x="7378700" y="4598343"/>
            <a:ext cx="4120515"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A55"/>
                </a:solidFill>
                <a:latin typeface="Inter" pitchFamily="34" charset="0"/>
                <a:ea typeface="Inter" pitchFamily="34" charset="-122"/>
                <a:cs typeface="Inter" pitchFamily="34" charset="-120"/>
              </a:rPr>
              <a:t>Every turn adds usage, signal and human feedback, so the brain gets sharper and FIS moves faster than competitors.</a:t>
            </a:r>
            <a:endParaRPr lang="en-US" sz="1200" dirty="0"/>
          </a:p>
        </p:txBody>
      </p:sp>
      <p:sp>
        <p:nvSpPr>
          <p:cNvPr id="35" name="Text 32"/>
          <p:cNvSpPr/>
          <p:nvPr/>
        </p:nvSpPr>
        <p:spPr>
          <a:xfrm>
            <a:off x="812800" y="6238280"/>
            <a:ext cx="80861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0"/>
                </a:solidFill>
                <a:latin typeface="Inter" pitchFamily="34" charset="0"/>
                <a:ea typeface="Inter" pitchFamily="34" charset="-122"/>
                <a:cs typeface="Inter" pitchFamily="34" charset="-120"/>
              </a:rPr>
              <a:t>BCG (2025): AI "future-built" firms see 1.7x revenue growth and 1.6x EBIT margin vs. laggards</a:t>
            </a:r>
            <a:endParaRPr lang="en-US" sz="1200" dirty="0"/>
          </a:p>
        </p:txBody>
      </p:sp>
      <p:sp>
        <p:nvSpPr>
          <p:cNvPr id="36" name="Text 33"/>
          <p:cNvSpPr/>
          <p:nvPr/>
        </p:nvSpPr>
        <p:spPr>
          <a:xfrm>
            <a:off x="11204426" y="6238280"/>
            <a:ext cx="174774"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0"/>
                </a:solidFill>
                <a:latin typeface="Inter" pitchFamily="34" charset="0"/>
                <a:ea typeface="Inter" pitchFamily="34" charset="-122"/>
                <a:cs typeface="Inter"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251FF"/>
                </a:solidFill>
                <a:latin typeface="Inter" pitchFamily="34" charset="0"/>
                <a:ea typeface="Inter" pitchFamily="34" charset="-122"/>
                <a:cs typeface="Inter" pitchFamily="34" charset="-120"/>
              </a:rPr>
              <a:t>OPERATING MODEL</a:t>
            </a:r>
            <a:endParaRPr lang="en-US" sz="1200" dirty="0"/>
          </a:p>
        </p:txBody>
      </p:sp>
      <p:sp>
        <p:nvSpPr>
          <p:cNvPr id="3" name="Text 1"/>
          <p:cNvSpPr/>
          <p:nvPr>
            <p:ph type="title"/>
          </p:nvPr>
        </p:nvSpPr>
        <p:spPr>
          <a:xfrm>
            <a:off x="812800" y="1127720"/>
            <a:ext cx="10883392" cy="784820"/>
          </a:xfrm>
          <a:prstGeom prst="rect">
            <a:avLst/>
          </a:prstGeom>
          <a:noFill/>
          <a:ln/>
        </p:spPr>
        <p:txBody>
          <a:bodyPr wrap="square" lIns="0" tIns="0" rIns="0" bIns="0" rtlCol="0" anchor="t">
            <a:normAutofit/>
          </a:bodyPr>
          <a:lstStyle/>
          <a:p>
            <a:pPr algn="l" indent="0" marL="0">
              <a:lnSpc>
                <a:spcPts val="2990"/>
              </a:lnSpc>
              <a:buNone/>
            </a:pPr>
            <a:r>
              <a:rPr lang="en-US" sz="2600" b="0" i="0" dirty="0">
                <a:solidFill>
                  <a:srgbClr val="051C2C"/>
                </a:solidFill>
                <a:latin typeface="Source Serif 4" pitchFamily="18" charset="0"/>
                <a:ea typeface="Source Serif 4" pitchFamily="18" charset="-122"/>
                <a:cs typeface="Source Serif 4" pitchFamily="18" charset="-120"/>
              </a:rPr>
              <a:t>Ambient agents do the work in the background; people make the critical calls</a:t>
            </a:r>
            <a:endParaRPr lang="en-US" sz="2600" dirty="0"/>
          </a:p>
        </p:txBody>
      </p:sp>
      <p:sp>
        <p:nvSpPr>
          <p:cNvPr id="4" name="Shape 2"/>
          <p:cNvSpPr/>
          <p:nvPr/>
        </p:nvSpPr>
        <p:spPr>
          <a:xfrm>
            <a:off x="812800" y="2487811"/>
            <a:ext cx="10566400" cy="0"/>
          </a:xfrm>
          <a:prstGeom prst="line">
            <a:avLst/>
          </a:prstGeom>
          <a:noFill/>
          <a:ln w="12700">
            <a:solidFill>
              <a:srgbClr val="051C2C"/>
            </a:solidFill>
            <a:prstDash val="solid"/>
          </a:ln>
        </p:spPr>
      </p:sp>
      <p:sp>
        <p:nvSpPr>
          <p:cNvPr id="5" name="Text 3"/>
          <p:cNvSpPr/>
          <p:nvPr/>
        </p:nvSpPr>
        <p:spPr>
          <a:xfrm>
            <a:off x="812800" y="2191941"/>
            <a:ext cx="23545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B7680"/>
                </a:solidFill>
                <a:latin typeface="Inter" pitchFamily="34" charset="0"/>
                <a:ea typeface="Inter" pitchFamily="34" charset="-122"/>
                <a:cs typeface="Inter" pitchFamily="34" charset="-120"/>
              </a:rPr>
              <a:t>AGENT CONFIDENCE</a:t>
            </a:r>
            <a:endParaRPr lang="en-US" sz="1200" dirty="0"/>
          </a:p>
        </p:txBody>
      </p:sp>
      <p:sp>
        <p:nvSpPr>
          <p:cNvPr id="6" name="Text 4"/>
          <p:cNvSpPr/>
          <p:nvPr/>
        </p:nvSpPr>
        <p:spPr>
          <a:xfrm>
            <a:off x="3352800" y="2191941"/>
            <a:ext cx="27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B7680"/>
                </a:solidFill>
                <a:latin typeface="Inter" pitchFamily="34" charset="0"/>
                <a:ea typeface="Inter" pitchFamily="34" charset="-122"/>
                <a:cs typeface="Inter" pitchFamily="34" charset="-120"/>
              </a:rPr>
              <a:t>WHO ACTS</a:t>
            </a:r>
            <a:endParaRPr lang="en-US" sz="1200" dirty="0"/>
          </a:p>
        </p:txBody>
      </p:sp>
      <p:sp>
        <p:nvSpPr>
          <p:cNvPr id="7" name="Text 5"/>
          <p:cNvSpPr/>
          <p:nvPr/>
        </p:nvSpPr>
        <p:spPr>
          <a:xfrm>
            <a:off x="6273800" y="2191941"/>
            <a:ext cx="525856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B7680"/>
                </a:solidFill>
                <a:latin typeface="Inter" pitchFamily="34" charset="0"/>
                <a:ea typeface="Inter" pitchFamily="34" charset="-122"/>
                <a:cs typeface="Inter" pitchFamily="34" charset="-120"/>
              </a:rPr>
              <a:t>EXAMPLES</a:t>
            </a:r>
            <a:endParaRPr lang="en-US" sz="1200" dirty="0"/>
          </a:p>
        </p:txBody>
      </p:sp>
      <p:sp>
        <p:nvSpPr>
          <p:cNvPr id="8" name="Shape 6"/>
          <p:cNvSpPr/>
          <p:nvPr/>
        </p:nvSpPr>
        <p:spPr>
          <a:xfrm>
            <a:off x="812800" y="3228777"/>
            <a:ext cx="10566400" cy="0"/>
          </a:xfrm>
          <a:prstGeom prst="line">
            <a:avLst/>
          </a:prstGeom>
          <a:noFill/>
          <a:ln w="6350">
            <a:solidFill>
              <a:srgbClr val="C9D1D8"/>
            </a:solidFill>
            <a:prstDash val="solid"/>
          </a:ln>
        </p:spPr>
      </p:sp>
      <p:sp>
        <p:nvSpPr>
          <p:cNvPr id="9" name="Shape 7"/>
          <p:cNvSpPr/>
          <p:nvPr/>
        </p:nvSpPr>
        <p:spPr>
          <a:xfrm>
            <a:off x="812800" y="2646561"/>
            <a:ext cx="101600" cy="355600"/>
          </a:xfrm>
          <a:prstGeom prst="rect">
            <a:avLst/>
          </a:prstGeom>
          <a:solidFill>
            <a:srgbClr val="2251FF"/>
          </a:solidFill>
          <a:ln/>
        </p:spPr>
      </p:sp>
      <p:sp>
        <p:nvSpPr>
          <p:cNvPr id="10" name="Text 8"/>
          <p:cNvSpPr/>
          <p:nvPr/>
        </p:nvSpPr>
        <p:spPr>
          <a:xfrm>
            <a:off x="1016000" y="2717701"/>
            <a:ext cx="173450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51C2C"/>
                </a:solidFill>
                <a:latin typeface="Inter" pitchFamily="34" charset="0"/>
                <a:ea typeface="Inter" pitchFamily="34" charset="-122"/>
                <a:cs typeface="Inter" pitchFamily="34" charset="-120"/>
              </a:rPr>
              <a:t>High, low impact</a:t>
            </a:r>
            <a:endParaRPr lang="en-US" sz="1400" dirty="0"/>
          </a:p>
        </p:txBody>
      </p:sp>
      <p:sp>
        <p:nvSpPr>
          <p:cNvPr id="11" name="Text 9"/>
          <p:cNvSpPr/>
          <p:nvPr/>
        </p:nvSpPr>
        <p:spPr>
          <a:xfrm>
            <a:off x="3352800" y="2646561"/>
            <a:ext cx="2747010"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323D"/>
                </a:solidFill>
                <a:latin typeface="Inter" pitchFamily="34" charset="0"/>
                <a:ea typeface="Inter" pitchFamily="34" charset="-122"/>
                <a:cs typeface="Inter" pitchFamily="34" charset="-120"/>
              </a:rPr>
              <a:t>Agent executes</a:t>
            </a:r>
            <a:r>
              <a:rPr lang="en-US" sz="1200" dirty="0">
                <a:solidFill>
                  <a:srgbClr val="24323D"/>
                </a:solidFill>
                <a:latin typeface="Inter" pitchFamily="34" charset="0"/>
                <a:ea typeface="Inter" pitchFamily="34" charset="-122"/>
                <a:cs typeface="Inter" pitchFamily="34" charset="-120"/>
              </a:rPr>
              <a:t> automatically; logged and auditable</a:t>
            </a:r>
            <a:endParaRPr lang="en-US" sz="1200" dirty="0"/>
          </a:p>
        </p:txBody>
      </p:sp>
      <p:sp>
        <p:nvSpPr>
          <p:cNvPr id="12" name="Text 10"/>
          <p:cNvSpPr/>
          <p:nvPr/>
        </p:nvSpPr>
        <p:spPr>
          <a:xfrm>
            <a:off x="6273800" y="2646561"/>
            <a:ext cx="525856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A55"/>
                </a:solidFill>
                <a:latin typeface="Inter" pitchFamily="34" charset="0"/>
                <a:ea typeface="Inter" pitchFamily="34" charset="-122"/>
                <a:cs typeface="Inter" pitchFamily="34" charset="-120"/>
              </a:rPr>
              <a:t>Flag an unbilled SKU, refresh the forecast, route a ticket, update a risk score</a:t>
            </a:r>
            <a:endParaRPr lang="en-US" sz="1200" dirty="0"/>
          </a:p>
        </p:txBody>
      </p:sp>
      <p:sp>
        <p:nvSpPr>
          <p:cNvPr id="13" name="Shape 11"/>
          <p:cNvSpPr/>
          <p:nvPr/>
        </p:nvSpPr>
        <p:spPr>
          <a:xfrm>
            <a:off x="812800" y="3966567"/>
            <a:ext cx="10566400" cy="0"/>
          </a:xfrm>
          <a:prstGeom prst="line">
            <a:avLst/>
          </a:prstGeom>
          <a:noFill/>
          <a:ln w="6350">
            <a:solidFill>
              <a:srgbClr val="C9D1D8"/>
            </a:solidFill>
            <a:prstDash val="solid"/>
          </a:ln>
        </p:spPr>
      </p:sp>
      <p:sp>
        <p:nvSpPr>
          <p:cNvPr id="14" name="Shape 12"/>
          <p:cNvSpPr/>
          <p:nvPr/>
        </p:nvSpPr>
        <p:spPr>
          <a:xfrm>
            <a:off x="812800" y="3384352"/>
            <a:ext cx="101600" cy="355600"/>
          </a:xfrm>
          <a:prstGeom prst="rect">
            <a:avLst/>
          </a:prstGeom>
          <a:solidFill>
            <a:srgbClr val="5F86B0"/>
          </a:solidFill>
          <a:ln/>
        </p:spPr>
      </p:sp>
      <p:sp>
        <p:nvSpPr>
          <p:cNvPr id="15" name="Text 13"/>
          <p:cNvSpPr/>
          <p:nvPr/>
        </p:nvSpPr>
        <p:spPr>
          <a:xfrm>
            <a:off x="1016000" y="3455491"/>
            <a:ext cx="84576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51C2C"/>
                </a:solidFill>
                <a:latin typeface="Inter" pitchFamily="34" charset="0"/>
                <a:ea typeface="Inter" pitchFamily="34" charset="-122"/>
                <a:cs typeface="Inter" pitchFamily="34" charset="-120"/>
              </a:rPr>
              <a:t>Medium</a:t>
            </a:r>
            <a:endParaRPr lang="en-US" sz="1400" dirty="0"/>
          </a:p>
        </p:txBody>
      </p:sp>
      <p:sp>
        <p:nvSpPr>
          <p:cNvPr id="16" name="Text 14"/>
          <p:cNvSpPr/>
          <p:nvPr/>
        </p:nvSpPr>
        <p:spPr>
          <a:xfrm>
            <a:off x="3352800" y="3384352"/>
            <a:ext cx="2747010"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323D"/>
                </a:solidFill>
                <a:latin typeface="Inter" pitchFamily="34" charset="0"/>
                <a:ea typeface="Inter" pitchFamily="34" charset="-122"/>
                <a:cs typeface="Inter" pitchFamily="34" charset="-120"/>
              </a:rPr>
              <a:t>Agent recommends,</a:t>
            </a:r>
            <a:r>
              <a:rPr lang="en-US" sz="1200" dirty="0">
                <a:solidFill>
                  <a:srgbClr val="24323D"/>
                </a:solidFill>
                <a:latin typeface="Inter" pitchFamily="34" charset="0"/>
                <a:ea typeface="Inter" pitchFamily="34" charset="-122"/>
                <a:cs typeface="Inter" pitchFamily="34" charset="-120"/>
              </a:rPr>
              <a:t> a person approves in one step</a:t>
            </a:r>
            <a:endParaRPr lang="en-US" sz="1200" dirty="0"/>
          </a:p>
        </p:txBody>
      </p:sp>
      <p:sp>
        <p:nvSpPr>
          <p:cNvPr id="17" name="Text 15"/>
          <p:cNvSpPr/>
          <p:nvPr/>
        </p:nvSpPr>
        <p:spPr>
          <a:xfrm>
            <a:off x="6273800" y="3384352"/>
            <a:ext cx="52585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A55"/>
                </a:solidFill>
                <a:latin typeface="Inter" pitchFamily="34" charset="0"/>
                <a:ea typeface="Inter" pitchFamily="34" charset="-122"/>
                <a:cs typeface="Inter" pitchFamily="34" charset="-120"/>
              </a:rPr>
              <a:t>Renewal play, cross-sell pitch, service recovery plan</a:t>
            </a:r>
            <a:endParaRPr lang="en-US" sz="1200" dirty="0"/>
          </a:p>
        </p:txBody>
      </p:sp>
      <p:sp>
        <p:nvSpPr>
          <p:cNvPr id="18" name="Shape 16"/>
          <p:cNvSpPr/>
          <p:nvPr/>
        </p:nvSpPr>
        <p:spPr>
          <a:xfrm>
            <a:off x="812800" y="4704358"/>
            <a:ext cx="10566400" cy="0"/>
          </a:xfrm>
          <a:prstGeom prst="line">
            <a:avLst/>
          </a:prstGeom>
          <a:noFill/>
          <a:ln w="6350">
            <a:solidFill>
              <a:srgbClr val="C9D1D8"/>
            </a:solidFill>
            <a:prstDash val="solid"/>
          </a:ln>
        </p:spPr>
      </p:sp>
      <p:sp>
        <p:nvSpPr>
          <p:cNvPr id="19" name="Shape 17"/>
          <p:cNvSpPr/>
          <p:nvPr/>
        </p:nvSpPr>
        <p:spPr>
          <a:xfrm>
            <a:off x="812800" y="4122142"/>
            <a:ext cx="101600" cy="355600"/>
          </a:xfrm>
          <a:prstGeom prst="rect">
            <a:avLst/>
          </a:prstGeom>
          <a:solidFill>
            <a:srgbClr val="051C2C"/>
          </a:solidFill>
          <a:ln/>
        </p:spPr>
      </p:sp>
      <p:sp>
        <p:nvSpPr>
          <p:cNvPr id="20" name="Text 18"/>
          <p:cNvSpPr/>
          <p:nvPr/>
        </p:nvSpPr>
        <p:spPr>
          <a:xfrm>
            <a:off x="1016000" y="4193282"/>
            <a:ext cx="151447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51C2C"/>
                </a:solidFill>
                <a:latin typeface="Inter" pitchFamily="34" charset="0"/>
                <a:ea typeface="Inter" pitchFamily="34" charset="-122"/>
                <a:cs typeface="Inter" pitchFamily="34" charset="-120"/>
              </a:rPr>
              <a:t>Low, or critical</a:t>
            </a:r>
            <a:endParaRPr lang="en-US" sz="1400" dirty="0"/>
          </a:p>
        </p:txBody>
      </p:sp>
      <p:sp>
        <p:nvSpPr>
          <p:cNvPr id="21" name="Text 19"/>
          <p:cNvSpPr/>
          <p:nvPr/>
        </p:nvSpPr>
        <p:spPr>
          <a:xfrm>
            <a:off x="3352800" y="4122142"/>
            <a:ext cx="2747010"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323D"/>
                </a:solidFill>
                <a:latin typeface="Inter" pitchFamily="34" charset="0"/>
                <a:ea typeface="Inter" pitchFamily="34" charset="-122"/>
                <a:cs typeface="Inter" pitchFamily="34" charset="-120"/>
              </a:rPr>
              <a:t>Person decides,</a:t>
            </a:r>
            <a:r>
              <a:rPr lang="en-US" sz="1200" dirty="0">
                <a:solidFill>
                  <a:srgbClr val="24323D"/>
                </a:solidFill>
                <a:latin typeface="Inter" pitchFamily="34" charset="0"/>
                <a:ea typeface="Inter" pitchFamily="34" charset="-122"/>
                <a:cs typeface="Inter" pitchFamily="34" charset="-120"/>
              </a:rPr>
              <a:t> agent supplies the evidence</a:t>
            </a:r>
            <a:endParaRPr lang="en-US" sz="1200" dirty="0"/>
          </a:p>
        </p:txBody>
      </p:sp>
      <p:sp>
        <p:nvSpPr>
          <p:cNvPr id="22" name="Text 20"/>
          <p:cNvSpPr/>
          <p:nvPr/>
        </p:nvSpPr>
        <p:spPr>
          <a:xfrm>
            <a:off x="6273800" y="4122142"/>
            <a:ext cx="52585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A55"/>
                </a:solidFill>
                <a:latin typeface="Inter" pitchFamily="34" charset="0"/>
                <a:ea typeface="Inter" pitchFamily="34" charset="-122"/>
                <a:cs typeface="Inter" pitchFamily="34" charset="-120"/>
              </a:rPr>
              <a:t>Back-bill to a strategic client, pricing concession, capital reallocation</a:t>
            </a:r>
            <a:endParaRPr lang="en-US" sz="1200" dirty="0"/>
          </a:p>
        </p:txBody>
      </p:sp>
      <p:sp>
        <p:nvSpPr>
          <p:cNvPr id="23" name="Text 21"/>
          <p:cNvSpPr/>
          <p:nvPr/>
        </p:nvSpPr>
        <p:spPr>
          <a:xfrm>
            <a:off x="812800" y="5012333"/>
            <a:ext cx="5284724"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51C2C"/>
                </a:solidFill>
                <a:latin typeface="Inter" pitchFamily="34" charset="0"/>
                <a:ea typeface="Inter" pitchFamily="34" charset="-122"/>
                <a:cs typeface="Inter" pitchFamily="34" charset="-120"/>
              </a:rPr>
              <a:t>Learning loop.</a:t>
            </a:r>
            <a:r>
              <a:rPr lang="en-US" sz="1200" dirty="0">
                <a:solidFill>
                  <a:srgbClr val="3C4A55"/>
                </a:solidFill>
                <a:latin typeface="Inter" pitchFamily="34" charset="0"/>
                <a:ea typeface="Inter" pitchFamily="34" charset="-122"/>
                <a:cs typeface="Inter" pitchFamily="34" charset="-120"/>
              </a:rPr>
              <a:t> Every human decision becomes feedback, so agents earn autonomy over time.</a:t>
            </a:r>
            <a:endParaRPr lang="en-US" sz="1200" dirty="0"/>
          </a:p>
        </p:txBody>
      </p:sp>
      <p:sp>
        <p:nvSpPr>
          <p:cNvPr id="24" name="Text 22"/>
          <p:cNvSpPr/>
          <p:nvPr/>
        </p:nvSpPr>
        <p:spPr>
          <a:xfrm>
            <a:off x="6248400" y="5012333"/>
            <a:ext cx="5284724"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51C2C"/>
                </a:solidFill>
                <a:latin typeface="Inter" pitchFamily="34" charset="0"/>
                <a:ea typeface="Inter" pitchFamily="34" charset="-122"/>
                <a:cs typeface="Inter" pitchFamily="34" charset="-120"/>
              </a:rPr>
              <a:t>Guardrails.</a:t>
            </a:r>
            <a:r>
              <a:rPr lang="en-US" sz="1200" dirty="0">
                <a:solidFill>
                  <a:srgbClr val="3C4A55"/>
                </a:solidFill>
                <a:latin typeface="Inter" pitchFamily="34" charset="0"/>
                <a:ea typeface="Inter" pitchFamily="34" charset="-122"/>
                <a:cs typeface="Inter" pitchFamily="34" charset="-120"/>
              </a:rPr>
              <a:t> Policy thresholds, role-based access and a full audit trail for SOX and PCI-DSS.</a:t>
            </a:r>
            <a:endParaRPr lang="en-US" sz="1200" dirty="0"/>
          </a:p>
        </p:txBody>
      </p:sp>
      <p:sp>
        <p:nvSpPr>
          <p:cNvPr id="25" name="Text 23"/>
          <p:cNvSpPr/>
          <p:nvPr/>
        </p:nvSpPr>
        <p:spPr>
          <a:xfrm>
            <a:off x="812800" y="6238280"/>
            <a:ext cx="23665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0"/>
                </a:solidFill>
                <a:latin typeface="Inter" pitchFamily="34" charset="0"/>
                <a:ea typeface="Inter" pitchFamily="34" charset="-122"/>
                <a:cs typeface="Inter" pitchFamily="34" charset="-120"/>
              </a:rPr>
              <a:t>Enterprise Intelligence | FIS</a:t>
            </a:r>
            <a:endParaRPr lang="en-US" sz="1200" dirty="0"/>
          </a:p>
        </p:txBody>
      </p:sp>
      <p:sp>
        <p:nvSpPr>
          <p:cNvPr id="26" name="Text 24"/>
          <p:cNvSpPr/>
          <p:nvPr/>
        </p:nvSpPr>
        <p:spPr>
          <a:xfrm>
            <a:off x="11173470" y="6238280"/>
            <a:ext cx="20573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0"/>
                </a:solidFill>
                <a:latin typeface="Inter" pitchFamily="34" charset="0"/>
                <a:ea typeface="Inter" pitchFamily="34" charset="-122"/>
                <a:cs typeface="Inter"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51C2C"/>
        </a:solidFill>
      </p:bgPr>
    </p:bg>
    <p:spTree>
      <p:nvGrpSpPr>
        <p:cNvPr id="1" name=""/>
        <p:cNvGrpSpPr/>
        <p:nvPr/>
      </p:nvGrpSpPr>
      <p:grpSpPr>
        <a:xfrm>
          <a:off x="0" y="0"/>
          <a:ext cx="0" cy="0"/>
          <a:chOff x="0" y="0"/>
          <a:chExt cx="0" cy="0"/>
        </a:xfrm>
      </p:grpSpPr>
      <p:sp>
        <p:nvSpPr>
          <p:cNvPr id="2" name="Text 0"/>
          <p:cNvSpPr/>
          <p:nvPr/>
        </p:nvSpPr>
        <p:spPr>
          <a:xfrm>
            <a:off x="812800" y="185425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00A9F4"/>
                </a:solidFill>
                <a:latin typeface="Inter" pitchFamily="34" charset="0"/>
                <a:ea typeface="Inter" pitchFamily="34" charset="-122"/>
                <a:cs typeface="Inter" pitchFamily="34" charset="-120"/>
              </a:rPr>
              <a:t>THE SYMPHONY</a:t>
            </a:r>
            <a:endParaRPr lang="en-US" sz="1200" dirty="0"/>
          </a:p>
        </p:txBody>
      </p:sp>
      <p:sp>
        <p:nvSpPr>
          <p:cNvPr id="3" name="Text 1"/>
          <p:cNvSpPr/>
          <p:nvPr>
            <p:ph type="title"/>
          </p:nvPr>
        </p:nvSpPr>
        <p:spPr>
          <a:xfrm>
            <a:off x="812800" y="2423170"/>
            <a:ext cx="9810750" cy="1254720"/>
          </a:xfrm>
          <a:prstGeom prst="rect">
            <a:avLst/>
          </a:prstGeom>
          <a:noFill/>
          <a:ln/>
        </p:spPr>
        <p:txBody>
          <a:bodyPr wrap="square" lIns="0" tIns="0" rIns="0" bIns="0" rtlCol="0" anchor="t">
            <a:normAutofit/>
          </a:bodyPr>
          <a:lstStyle/>
          <a:p>
            <a:pPr algn="l" indent="0" marL="0">
              <a:lnSpc>
                <a:spcPts val="4840"/>
              </a:lnSpc>
              <a:buNone/>
            </a:pPr>
            <a:r>
              <a:rPr lang="en-US" sz="4400" b="0" i="0" dirty="0">
                <a:solidFill>
                  <a:srgbClr val="F4F6F8"/>
                </a:solidFill>
                <a:latin typeface="Source Serif 4" pitchFamily="18" charset="0"/>
                <a:ea typeface="Source Serif 4" pitchFamily="18" charset="-122"/>
                <a:cs typeface="Source Serif 4" pitchFamily="18" charset="-120"/>
              </a:rPr>
              <a:t>The people of FIS are the heart. Enterprise Intelligence is the brain.</a:t>
            </a:r>
            <a:endParaRPr lang="en-US" sz="4400" dirty="0"/>
          </a:p>
        </p:txBody>
      </p:sp>
      <p:sp>
        <p:nvSpPr>
          <p:cNvPr id="4" name="Shape 2"/>
          <p:cNvSpPr/>
          <p:nvPr/>
        </p:nvSpPr>
        <p:spPr>
          <a:xfrm>
            <a:off x="812800" y="4020790"/>
            <a:ext cx="4508500" cy="0"/>
          </a:xfrm>
          <a:prstGeom prst="line">
            <a:avLst/>
          </a:prstGeom>
          <a:noFill/>
          <a:ln w="25400">
            <a:solidFill>
              <a:srgbClr val="2251FF"/>
            </a:solidFill>
            <a:prstDash val="solid"/>
          </a:ln>
        </p:spPr>
      </p:sp>
      <p:sp>
        <p:nvSpPr>
          <p:cNvPr id="5" name="Text 3"/>
          <p:cNvSpPr/>
          <p:nvPr/>
        </p:nvSpPr>
        <p:spPr>
          <a:xfrm>
            <a:off x="812800" y="4185890"/>
            <a:ext cx="464375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6F8"/>
                </a:solidFill>
                <a:latin typeface="Inter" pitchFamily="34" charset="0"/>
                <a:ea typeface="Inter" pitchFamily="34" charset="-122"/>
                <a:cs typeface="Inter" pitchFamily="34" charset="-120"/>
              </a:rPr>
              <a:t>The brain</a:t>
            </a:r>
            <a:endParaRPr lang="en-US" sz="1600" dirty="0"/>
          </a:p>
        </p:txBody>
      </p:sp>
      <p:sp>
        <p:nvSpPr>
          <p:cNvPr id="6" name="Text 4"/>
          <p:cNvSpPr/>
          <p:nvPr/>
        </p:nvSpPr>
        <p:spPr>
          <a:xfrm>
            <a:off x="812800" y="4505920"/>
            <a:ext cx="4643755"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4DD"/>
                </a:solidFill>
                <a:latin typeface="Inter" pitchFamily="34" charset="0"/>
                <a:ea typeface="Inter" pitchFamily="34" charset="-122"/>
                <a:cs typeface="Inter" pitchFamily="34" charset="-120"/>
              </a:rPr>
              <a:t>Senses every signal, reasons at scale and does the work, around the clock.</a:t>
            </a:r>
            <a:endParaRPr lang="en-US" sz="1400" dirty="0"/>
          </a:p>
        </p:txBody>
      </p:sp>
      <p:sp>
        <p:nvSpPr>
          <p:cNvPr id="7" name="Shape 5"/>
          <p:cNvSpPr/>
          <p:nvPr/>
        </p:nvSpPr>
        <p:spPr>
          <a:xfrm>
            <a:off x="5829300" y="4020790"/>
            <a:ext cx="4508500" cy="0"/>
          </a:xfrm>
          <a:prstGeom prst="line">
            <a:avLst/>
          </a:prstGeom>
          <a:noFill/>
          <a:ln w="25400">
            <a:solidFill>
              <a:srgbClr val="00A9F4"/>
            </a:solidFill>
            <a:prstDash val="solid"/>
          </a:ln>
        </p:spPr>
      </p:sp>
      <p:sp>
        <p:nvSpPr>
          <p:cNvPr id="8" name="Text 6"/>
          <p:cNvSpPr/>
          <p:nvPr/>
        </p:nvSpPr>
        <p:spPr>
          <a:xfrm>
            <a:off x="5829300" y="4185890"/>
            <a:ext cx="464375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6F8"/>
                </a:solidFill>
                <a:latin typeface="Inter" pitchFamily="34" charset="0"/>
                <a:ea typeface="Inter" pitchFamily="34" charset="-122"/>
                <a:cs typeface="Inter" pitchFamily="34" charset="-120"/>
              </a:rPr>
              <a:t>The heart</a:t>
            </a:r>
            <a:endParaRPr lang="en-US" sz="1600" dirty="0"/>
          </a:p>
        </p:txBody>
      </p:sp>
      <p:sp>
        <p:nvSpPr>
          <p:cNvPr id="9" name="Text 7"/>
          <p:cNvSpPr/>
          <p:nvPr/>
        </p:nvSpPr>
        <p:spPr>
          <a:xfrm>
            <a:off x="5829300" y="4505920"/>
            <a:ext cx="4643755"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4DD"/>
                </a:solidFill>
                <a:latin typeface="Inter" pitchFamily="34" charset="0"/>
                <a:ea typeface="Inter" pitchFamily="34" charset="-122"/>
                <a:cs typeface="Inter" pitchFamily="34" charset="-120"/>
              </a:rPr>
              <a:t>Brings judgment, relationships and trust to the decisions that matter.</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812800" y="812800"/>
            <a:ext cx="10883392" cy="228104"/>
          </a:xfrm>
          <a:prstGeom prst="rect">
            <a:avLst/>
          </a:prstGeom>
          <a:noFill/>
          <a:ln/>
        </p:spPr>
        <p:txBody>
          <a:bodyPr wrap="square" lIns="0" tIns="0" rIns="0" bIns="0" rtlCol="0" anchor="t">
            <a:normAutofit/>
          </a:bodyPr>
          <a:lstStyle/>
          <a:p>
            <a:pPr algn="l" indent="0" marL="0">
              <a:lnSpc>
                <a:spcPts val="1622"/>
              </a:lnSpc>
              <a:buNone/>
            </a:pPr>
            <a:r>
              <a:rPr lang="en-US" sz="1159" b="1" spc="150" kern="0" dirty="0">
                <a:solidFill>
                  <a:srgbClr val="2251FF"/>
                </a:solidFill>
                <a:latin typeface="Inter" pitchFamily="34" charset="0"/>
                <a:ea typeface="Inter" pitchFamily="34" charset="-122"/>
                <a:cs typeface="Inter" pitchFamily="34" charset="-120"/>
              </a:rPr>
              <a:t>LABOR CAPACITY</a:t>
            </a:r>
            <a:endParaRPr lang="en-US" sz="1159" dirty="0"/>
          </a:p>
        </p:txBody>
      </p:sp>
      <p:sp>
        <p:nvSpPr>
          <p:cNvPr id="3" name="Text 1"/>
          <p:cNvSpPr/>
          <p:nvPr>
            <p:ph type="title"/>
          </p:nvPr>
        </p:nvSpPr>
        <p:spPr>
          <a:xfrm>
            <a:off x="812800" y="1117104"/>
            <a:ext cx="10883392" cy="746919"/>
          </a:xfrm>
          <a:prstGeom prst="rect">
            <a:avLst/>
          </a:prstGeom>
          <a:noFill/>
          <a:ln/>
        </p:spPr>
        <p:txBody>
          <a:bodyPr wrap="square" lIns="0" tIns="0" rIns="0" bIns="0" rtlCol="0" anchor="t">
            <a:normAutofit/>
          </a:bodyPr>
          <a:lstStyle/>
          <a:p>
            <a:pPr algn="l" indent="0" marL="0">
              <a:lnSpc>
                <a:spcPts val="2859"/>
              </a:lnSpc>
              <a:buNone/>
            </a:pPr>
            <a:r>
              <a:rPr lang="en-US" sz="2486" b="0" i="0" dirty="0">
                <a:solidFill>
                  <a:srgbClr val="051C2C"/>
                </a:solidFill>
                <a:latin typeface="Source Serif 4" pitchFamily="18" charset="0"/>
                <a:ea typeface="Source Serif 4" pitchFamily="18" charset="-122"/>
                <a:cs typeface="Source Serif 4" pitchFamily="18" charset="-120"/>
              </a:rPr>
              <a:t>Agents release ~3.1M hours a year, about 1,720 FTEs; most is redeployed to clients</a:t>
            </a:r>
            <a:endParaRPr lang="en-US" sz="2486"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029123"/>
          <a:ext cx="10553700" cy="3033663"/>
        </p:xfrm>
        <a:graphic>
          <a:graphicData uri="http://schemas.openxmlformats.org/drawingml/2006/table">
            <a:tbl>
              <a:tblPr/>
              <a:tblGrid>
                <a:gridCol w="5065776"/>
                <a:gridCol w="2638425"/>
                <a:gridCol w="949833"/>
                <a:gridCol w="949833"/>
                <a:gridCol w="949833"/>
              </a:tblGrid>
              <a:tr h="337046">
                <a:tc>
                  <a:txBody>
                    <a:bodyPr/>
                    <a:lstStyle/>
                    <a:p>
                      <a:pPr indent="0" marL="0">
                        <a:lnSpc>
                          <a:spcPts val="1554"/>
                        </a:lnSpc>
                        <a:buNone/>
                      </a:pPr>
                      <a:r>
                        <a:rPr lang="en-US" sz="1110" b="1" dirty="0">
                          <a:solidFill>
                            <a:srgbClr val="6B7680"/>
                          </a:solidFill>
                          <a:latin typeface="Inter" pitchFamily="34" charset="0"/>
                          <a:ea typeface="Inter" pitchFamily="34" charset="-122"/>
                          <a:cs typeface="Inter" pitchFamily="34" charset="-120"/>
                        </a:rPr>
                        <a:t>Agentic workflow</a:t>
                      </a:r>
                      <a:endParaRPr lang="en-US" sz="1110" dirty="0">
                        <a:latin typeface="Inter" charset="0"/>
                        <a:ea typeface="Inter" charset="0"/>
                        <a:cs typeface="Inter" charset="0"/>
                      </a:endParaRPr>
                    </a:p>
                  </a:txBody>
                  <a:tcPr marL="88900" marR="88900" marT="63500" marB="63500" anchor="t">
                    <a:lnL w="12700" cap="flat" cmpd="sng" algn="ctr">
                      <a:solidFill>
                        <a:srgbClr val="C8C8C6"/>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7"/>
                    </a:solidFill>
                  </a:tcPr>
                </a:tc>
                <a:tc>
                  <a:txBody>
                    <a:bodyPr/>
                    <a:lstStyle/>
                    <a:p>
                      <a:pPr indent="0" marL="0">
                        <a:lnSpc>
                          <a:spcPts val="1554"/>
                        </a:lnSpc>
                        <a:buNone/>
                      </a:pPr>
                      <a:r>
                        <a:rPr lang="en-US" sz="1110" b="1" dirty="0">
                          <a:solidFill>
                            <a:srgbClr val="6B7680"/>
                          </a:solidFill>
                          <a:latin typeface="Inter" pitchFamily="34" charset="0"/>
                          <a:ea typeface="Inter" pitchFamily="34" charset="-122"/>
                          <a:cs typeface="Inter" pitchFamily="34" charset="-120"/>
                        </a:rPr>
                        <a:t>Role pool</a:t>
                      </a:r>
                      <a:endParaRPr lang="en-US" sz="1110" dirty="0">
                        <a:latin typeface="Inter" charset="0"/>
                        <a:ea typeface="Inter" charset="0"/>
                        <a:cs typeface="Inter" charset="0"/>
                      </a:endParaRPr>
                    </a:p>
                  </a:txBody>
                  <a:tcPr marL="88900" marR="88900" marT="63500" marB="63500"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7"/>
                    </a:solidFill>
                  </a:tcPr>
                </a:tc>
                <a:tc>
                  <a:txBody>
                    <a:bodyPr/>
                    <a:lstStyle/>
                    <a:p>
                      <a:pPr algn="r" indent="0" marL="0">
                        <a:lnSpc>
                          <a:spcPts val="1554"/>
                        </a:lnSpc>
                        <a:buNone/>
                      </a:pPr>
                      <a:r>
                        <a:rPr lang="en-US" sz="1110" b="1" dirty="0">
                          <a:solidFill>
                            <a:srgbClr val="6B7680"/>
                          </a:solidFill>
                          <a:latin typeface="Inter" pitchFamily="34" charset="0"/>
                          <a:ea typeface="Inter" pitchFamily="34" charset="-122"/>
                          <a:cs typeface="Inter" pitchFamily="34" charset="-120"/>
                        </a:rPr>
                        <a:t>People</a:t>
                      </a:r>
                      <a:endParaRPr lang="en-US" sz="1110" dirty="0">
                        <a:latin typeface="Inter" charset="0"/>
                        <a:ea typeface="Inter" charset="0"/>
                        <a:cs typeface="Inter" charset="0"/>
                      </a:endParaRPr>
                    </a:p>
                  </a:txBody>
                  <a:tcPr marL="88900" marR="88900" marT="63500" marB="63500"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7"/>
                    </a:solidFill>
                  </a:tcPr>
                </a:tc>
                <a:tc>
                  <a:txBody>
                    <a:bodyPr/>
                    <a:lstStyle/>
                    <a:p>
                      <a:pPr algn="r" indent="0" marL="0">
                        <a:lnSpc>
                          <a:spcPts val="1554"/>
                        </a:lnSpc>
                        <a:buNone/>
                      </a:pPr>
                      <a:r>
                        <a:rPr lang="en-US" sz="1110" b="1" dirty="0">
                          <a:solidFill>
                            <a:srgbClr val="6B7680"/>
                          </a:solidFill>
                          <a:latin typeface="Inter" pitchFamily="34" charset="0"/>
                          <a:ea typeface="Inter" pitchFamily="34" charset="-122"/>
                          <a:cs typeface="Inter" pitchFamily="34" charset="-120"/>
                        </a:rPr>
                        <a:t>Hours</a:t>
                      </a:r>
                      <a:endParaRPr lang="en-US" sz="1110" dirty="0">
                        <a:latin typeface="Inter" charset="0"/>
                        <a:ea typeface="Inter" charset="0"/>
                        <a:cs typeface="Inter" charset="0"/>
                      </a:endParaRPr>
                    </a:p>
                  </a:txBody>
                  <a:tcPr marL="88900" marR="88900" marT="63500" marB="63500"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7"/>
                    </a:solidFill>
                  </a:tcPr>
                </a:tc>
                <a:tc>
                  <a:txBody>
                    <a:bodyPr/>
                    <a:lstStyle/>
                    <a:p>
                      <a:pPr algn="r" indent="0" marL="0">
                        <a:lnSpc>
                          <a:spcPts val="1554"/>
                        </a:lnSpc>
                        <a:buNone/>
                      </a:pPr>
                      <a:r>
                        <a:rPr lang="en-US" sz="1110" b="1" dirty="0">
                          <a:solidFill>
                            <a:srgbClr val="6B7680"/>
                          </a:solidFill>
                          <a:latin typeface="Inter" pitchFamily="34" charset="0"/>
                          <a:ea typeface="Inter" pitchFamily="34" charset="-122"/>
                          <a:cs typeface="Inter" pitchFamily="34" charset="-120"/>
                        </a:rPr>
                        <a:t>FTEs</a:t>
                      </a:r>
                      <a:endParaRPr lang="en-US" sz="1110" dirty="0">
                        <a:latin typeface="Inter" charset="0"/>
                        <a:ea typeface="Inter" charset="0"/>
                        <a:cs typeface="Inter" charset="0"/>
                      </a:endParaRPr>
                    </a:p>
                  </a:txBody>
                  <a:tcPr marL="88900" marR="88900" marT="63500" marB="63500"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7"/>
                    </a:solidFill>
                  </a:tcPr>
                </a:tc>
              </a:tr>
              <a:tr h="337046">
                <a:tc>
                  <a:txBody>
                    <a:bodyPr/>
                    <a:lstStyle/>
                    <a:p>
                      <a:pPr indent="0" marL="0">
                        <a:lnSpc>
                          <a:spcPts val="1554"/>
                        </a:lnSpc>
                        <a:buNone/>
                      </a:pPr>
                      <a:r>
                        <a:rPr lang="en-US" sz="1110" dirty="0">
                          <a:solidFill>
                            <a:srgbClr val="051C2C"/>
                          </a:solidFill>
                          <a:latin typeface="Inter" pitchFamily="34" charset="0"/>
                          <a:ea typeface="Inter" pitchFamily="34" charset="-122"/>
                          <a:cs typeface="Inter" pitchFamily="34" charset="-120"/>
                        </a:rPr>
                        <a:t>Ticket triage, routing, SLAs and incidents</a:t>
                      </a:r>
                      <a:endParaRPr lang="en-US" sz="1110" dirty="0">
                        <a:latin typeface="Inter" charset="0"/>
                        <a:ea typeface="Inter" charset="0"/>
                        <a:cs typeface="Inter" charset="0"/>
                      </a:endParaRPr>
                    </a:p>
                  </a:txBody>
                  <a:tcPr marL="88900" marR="88900" marT="63500" marB="635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554"/>
                        </a:lnSpc>
                        <a:buNone/>
                      </a:pPr>
                      <a:r>
                        <a:rPr lang="en-US" sz="1110" dirty="0">
                          <a:solidFill>
                            <a:srgbClr val="3C4A55"/>
                          </a:solidFill>
                          <a:latin typeface="Inter" pitchFamily="34" charset="0"/>
                          <a:ea typeface="Inter" pitchFamily="34" charset="-122"/>
                          <a:cs typeface="Inter" pitchFamily="34" charset="-120"/>
                        </a:rPr>
                        <a:t>Client service</a:t>
                      </a:r>
                      <a:endParaRPr lang="en-US" sz="1110" dirty="0">
                        <a:latin typeface="Inter" charset="0"/>
                        <a:ea typeface="Inter" charset="0"/>
                        <a:cs typeface="Inter" charset="0"/>
                      </a:endParaRPr>
                    </a:p>
                  </a:txBody>
                  <a:tcPr marL="88900" marR="88900" marT="63500" marB="635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554"/>
                        </a:lnSpc>
                        <a:buNone/>
                      </a:pPr>
                      <a:r>
                        <a:rPr lang="en-US" sz="1110" dirty="0">
                          <a:solidFill>
                            <a:srgbClr val="051C2C"/>
                          </a:solidFill>
                          <a:latin typeface="Inter" pitchFamily="34" charset="0"/>
                          <a:ea typeface="Inter" pitchFamily="34" charset="-122"/>
                          <a:cs typeface="Inter" pitchFamily="34" charset="-120"/>
                        </a:rPr>
                        <a:t>8,800</a:t>
                      </a:r>
                      <a:endParaRPr lang="en-US" sz="1110" dirty="0">
                        <a:latin typeface="Inter" charset="0"/>
                        <a:ea typeface="Inter" charset="0"/>
                        <a:cs typeface="Inter" charset="0"/>
                      </a:endParaRPr>
                    </a:p>
                  </a:txBody>
                  <a:tcPr marL="88900" marR="88900" marT="63500" marB="635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554"/>
                        </a:lnSpc>
                        <a:buNone/>
                      </a:pPr>
                      <a:r>
                        <a:rPr lang="en-US" sz="1110" dirty="0">
                          <a:solidFill>
                            <a:srgbClr val="051C2C"/>
                          </a:solidFill>
                          <a:latin typeface="Inter" pitchFamily="34" charset="0"/>
                          <a:ea typeface="Inter" pitchFamily="34" charset="-122"/>
                          <a:cs typeface="Inter" pitchFamily="34" charset="-120"/>
                        </a:rPr>
                        <a:t>1.90M</a:t>
                      </a:r>
                      <a:endParaRPr lang="en-US" sz="1110" dirty="0">
                        <a:latin typeface="Inter" charset="0"/>
                        <a:ea typeface="Inter" charset="0"/>
                        <a:cs typeface="Inter" charset="0"/>
                      </a:endParaRPr>
                    </a:p>
                  </a:txBody>
                  <a:tcPr marL="88900" marR="88900" marT="63500" marB="635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554"/>
                        </a:lnSpc>
                        <a:buNone/>
                      </a:pPr>
                      <a:r>
                        <a:rPr lang="en-US" sz="1110" dirty="0">
                          <a:solidFill>
                            <a:srgbClr val="2251FF"/>
                          </a:solidFill>
                          <a:latin typeface="Inter" pitchFamily="34" charset="0"/>
                          <a:ea typeface="Inter" pitchFamily="34" charset="-122"/>
                          <a:cs typeface="Inter" pitchFamily="34" charset="-120"/>
                        </a:rPr>
                        <a:t>1,056</a:t>
                      </a:r>
                      <a:endParaRPr lang="en-US" sz="1110" dirty="0">
                        <a:latin typeface="Inter" charset="0"/>
                        <a:ea typeface="Inter" charset="0"/>
                        <a:cs typeface="Inter" charset="0"/>
                      </a:endParaRPr>
                    </a:p>
                  </a:txBody>
                  <a:tcPr marL="88900" marR="88900" marT="63500" marB="635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37046">
                <a:tc>
                  <a:txBody>
                    <a:bodyPr/>
                    <a:lstStyle/>
                    <a:p>
                      <a:pPr indent="0" marL="0">
                        <a:lnSpc>
                          <a:spcPts val="1554"/>
                        </a:lnSpc>
                        <a:buNone/>
                      </a:pPr>
                      <a:r>
                        <a:rPr lang="en-US" sz="1110" dirty="0">
                          <a:solidFill>
                            <a:srgbClr val="051C2C"/>
                          </a:solidFill>
                          <a:latin typeface="Inter" pitchFamily="34" charset="0"/>
                          <a:ea typeface="Inter" pitchFamily="34" charset="-122"/>
                          <a:cs typeface="Inter" pitchFamily="34" charset="-120"/>
                        </a:rPr>
                        <a:t>Reporting, forecasting, portfolio and cost-to-serve analysis</a:t>
                      </a:r>
                      <a:endParaRPr lang="en-US" sz="1110" dirty="0">
                        <a:latin typeface="Inter" charset="0"/>
                        <a:ea typeface="Inter" charset="0"/>
                        <a:cs typeface="Inter" charset="0"/>
                      </a:endParaRPr>
                    </a:p>
                  </a:txBody>
                  <a:tcPr marL="88900" marR="88900" marT="63500" marB="635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554"/>
                        </a:lnSpc>
                        <a:buNone/>
                      </a:pPr>
                      <a:r>
                        <a:rPr lang="en-US" sz="1110" dirty="0">
                          <a:solidFill>
                            <a:srgbClr val="3C4A55"/>
                          </a:solidFill>
                          <a:latin typeface="Inter" pitchFamily="34" charset="0"/>
                          <a:ea typeface="Inter" pitchFamily="34" charset="-122"/>
                          <a:cs typeface="Inter" pitchFamily="34" charset="-120"/>
                        </a:rPr>
                        <a:t>FP&amp;A, BI and strategy</a:t>
                      </a:r>
                      <a:endParaRPr lang="en-US" sz="1110" dirty="0">
                        <a:latin typeface="Inter" charset="0"/>
                        <a:ea typeface="Inter" charset="0"/>
                        <a:cs typeface="Inter" charset="0"/>
                      </a:endParaRPr>
                    </a:p>
                  </a:txBody>
                  <a:tcPr marL="88900" marR="88900" marT="63500" marB="635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554"/>
                        </a:lnSpc>
                        <a:buNone/>
                      </a:pPr>
                      <a:r>
                        <a:rPr lang="en-US" sz="1110" dirty="0">
                          <a:solidFill>
                            <a:srgbClr val="051C2C"/>
                          </a:solidFill>
                          <a:latin typeface="Inter" pitchFamily="34" charset="0"/>
                          <a:ea typeface="Inter" pitchFamily="34" charset="-122"/>
                          <a:cs typeface="Inter" pitchFamily="34" charset="-120"/>
                        </a:rPr>
                        <a:t>1,056</a:t>
                      </a:r>
                      <a:endParaRPr lang="en-US" sz="1110" dirty="0">
                        <a:latin typeface="Inter" charset="0"/>
                        <a:ea typeface="Inter" charset="0"/>
                        <a:cs typeface="Inter" charset="0"/>
                      </a:endParaRPr>
                    </a:p>
                  </a:txBody>
                  <a:tcPr marL="88900" marR="88900" marT="63500" marB="635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554"/>
                        </a:lnSpc>
                        <a:buNone/>
                      </a:pPr>
                      <a:r>
                        <a:rPr lang="en-US" sz="1110" dirty="0">
                          <a:solidFill>
                            <a:srgbClr val="051C2C"/>
                          </a:solidFill>
                          <a:latin typeface="Inter" pitchFamily="34" charset="0"/>
                          <a:ea typeface="Inter" pitchFamily="34" charset="-122"/>
                          <a:cs typeface="Inter" pitchFamily="34" charset="-120"/>
                        </a:rPr>
                        <a:t>0.38M</a:t>
                      </a:r>
                      <a:endParaRPr lang="en-US" sz="1110" dirty="0">
                        <a:latin typeface="Inter" charset="0"/>
                        <a:ea typeface="Inter" charset="0"/>
                        <a:cs typeface="Inter" charset="0"/>
                      </a:endParaRPr>
                    </a:p>
                  </a:txBody>
                  <a:tcPr marL="88900" marR="88900" marT="63500" marB="635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554"/>
                        </a:lnSpc>
                        <a:buNone/>
                      </a:pPr>
                      <a:r>
                        <a:rPr lang="en-US" sz="1110" dirty="0">
                          <a:solidFill>
                            <a:srgbClr val="2251FF"/>
                          </a:solidFill>
                          <a:latin typeface="Inter" pitchFamily="34" charset="0"/>
                          <a:ea typeface="Inter" pitchFamily="34" charset="-122"/>
                          <a:cs typeface="Inter" pitchFamily="34" charset="-120"/>
                        </a:rPr>
                        <a:t>211</a:t>
                      </a:r>
                      <a:endParaRPr lang="en-US" sz="1110" dirty="0">
                        <a:latin typeface="Inter" charset="0"/>
                        <a:ea typeface="Inter" charset="0"/>
                        <a:cs typeface="Inter" charset="0"/>
                      </a:endParaRPr>
                    </a:p>
                  </a:txBody>
                  <a:tcPr marL="88900" marR="88900" marT="63500" marB="635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37046">
                <a:tc>
                  <a:txBody>
                    <a:bodyPr/>
                    <a:lstStyle/>
                    <a:p>
                      <a:pPr indent="0" marL="0">
                        <a:lnSpc>
                          <a:spcPts val="1554"/>
                        </a:lnSpc>
                        <a:buNone/>
                      </a:pPr>
                      <a:r>
                        <a:rPr lang="en-US" sz="1110" dirty="0">
                          <a:solidFill>
                            <a:srgbClr val="051C2C"/>
                          </a:solidFill>
                          <a:latin typeface="Inter" pitchFamily="34" charset="0"/>
                          <a:ea typeface="Inter" pitchFamily="34" charset="-122"/>
                          <a:cs typeface="Inter" pitchFamily="34" charset="-120"/>
                        </a:rPr>
                        <a:t>Billing reconciliation and back-bill packages</a:t>
                      </a:r>
                      <a:endParaRPr lang="en-US" sz="1110" dirty="0">
                        <a:latin typeface="Inter" charset="0"/>
                        <a:ea typeface="Inter" charset="0"/>
                        <a:cs typeface="Inter" charset="0"/>
                      </a:endParaRPr>
                    </a:p>
                  </a:txBody>
                  <a:tcPr marL="88900" marR="88900" marT="63500" marB="635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554"/>
                        </a:lnSpc>
                        <a:buNone/>
                      </a:pPr>
                      <a:r>
                        <a:rPr lang="en-US" sz="1110" dirty="0">
                          <a:solidFill>
                            <a:srgbClr val="3C4A55"/>
                          </a:solidFill>
                          <a:latin typeface="Inter" pitchFamily="34" charset="0"/>
                          <a:ea typeface="Inter" pitchFamily="34" charset="-122"/>
                          <a:cs typeface="Inter" pitchFamily="34" charset="-120"/>
                        </a:rPr>
                        <a:t>Billing and finance ops</a:t>
                      </a:r>
                      <a:endParaRPr lang="en-US" sz="1110" dirty="0">
                        <a:latin typeface="Inter" charset="0"/>
                        <a:ea typeface="Inter" charset="0"/>
                        <a:cs typeface="Inter" charset="0"/>
                      </a:endParaRPr>
                    </a:p>
                  </a:txBody>
                  <a:tcPr marL="88900" marR="88900" marT="63500" marB="635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554"/>
                        </a:lnSpc>
                        <a:buNone/>
                      </a:pPr>
                      <a:r>
                        <a:rPr lang="en-US" sz="1110" dirty="0">
                          <a:solidFill>
                            <a:srgbClr val="051C2C"/>
                          </a:solidFill>
                          <a:latin typeface="Inter" pitchFamily="34" charset="0"/>
                          <a:ea typeface="Inter" pitchFamily="34" charset="-122"/>
                          <a:cs typeface="Inter" pitchFamily="34" charset="-120"/>
                        </a:rPr>
                        <a:t>1,584</a:t>
                      </a:r>
                      <a:endParaRPr lang="en-US" sz="1110" dirty="0">
                        <a:latin typeface="Inter" charset="0"/>
                        <a:ea typeface="Inter" charset="0"/>
                        <a:cs typeface="Inter" charset="0"/>
                      </a:endParaRPr>
                    </a:p>
                  </a:txBody>
                  <a:tcPr marL="88900" marR="88900" marT="63500" marB="635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554"/>
                        </a:lnSpc>
                        <a:buNone/>
                      </a:pPr>
                      <a:r>
                        <a:rPr lang="en-US" sz="1110" dirty="0">
                          <a:solidFill>
                            <a:srgbClr val="051C2C"/>
                          </a:solidFill>
                          <a:latin typeface="Inter" pitchFamily="34" charset="0"/>
                          <a:ea typeface="Inter" pitchFamily="34" charset="-122"/>
                          <a:cs typeface="Inter" pitchFamily="34" charset="-120"/>
                        </a:rPr>
                        <a:t>0.36M</a:t>
                      </a:r>
                      <a:endParaRPr lang="en-US" sz="1110" dirty="0">
                        <a:latin typeface="Inter" charset="0"/>
                        <a:ea typeface="Inter" charset="0"/>
                        <a:cs typeface="Inter" charset="0"/>
                      </a:endParaRPr>
                    </a:p>
                  </a:txBody>
                  <a:tcPr marL="88900" marR="88900" marT="63500" marB="635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554"/>
                        </a:lnSpc>
                        <a:buNone/>
                      </a:pPr>
                      <a:r>
                        <a:rPr lang="en-US" sz="1110" dirty="0">
                          <a:solidFill>
                            <a:srgbClr val="2251FF"/>
                          </a:solidFill>
                          <a:latin typeface="Inter" pitchFamily="34" charset="0"/>
                          <a:ea typeface="Inter" pitchFamily="34" charset="-122"/>
                          <a:cs typeface="Inter" pitchFamily="34" charset="-120"/>
                        </a:rPr>
                        <a:t>198</a:t>
                      </a:r>
                      <a:endParaRPr lang="en-US" sz="1110" dirty="0">
                        <a:latin typeface="Inter" charset="0"/>
                        <a:ea typeface="Inter" charset="0"/>
                        <a:cs typeface="Inter" charset="0"/>
                      </a:endParaRPr>
                    </a:p>
                  </a:txBody>
                  <a:tcPr marL="88900" marR="88900" marT="63500" marB="635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37096">
                <a:tc>
                  <a:txBody>
                    <a:bodyPr/>
                    <a:lstStyle/>
                    <a:p>
                      <a:pPr indent="0" marL="0">
                        <a:lnSpc>
                          <a:spcPts val="1554"/>
                        </a:lnSpc>
                        <a:buNone/>
                      </a:pPr>
                      <a:r>
                        <a:rPr lang="en-US" sz="1110" dirty="0">
                          <a:solidFill>
                            <a:srgbClr val="051C2C"/>
                          </a:solidFill>
                          <a:latin typeface="Inter" pitchFamily="34" charset="0"/>
                          <a:ea typeface="Inter" pitchFamily="34" charset="-122"/>
                          <a:cs typeface="Inter" pitchFamily="34" charset="-120"/>
                        </a:rPr>
                        <a:t>Renewal prep, account health reviews, QBRs</a:t>
                      </a:r>
                      <a:endParaRPr lang="en-US" sz="1110" dirty="0">
                        <a:latin typeface="Inter" charset="0"/>
                        <a:ea typeface="Inter" charset="0"/>
                        <a:cs typeface="Inter" charset="0"/>
                      </a:endParaRPr>
                    </a:p>
                  </a:txBody>
                  <a:tcPr marL="88900" marR="88900" marT="63500" marB="635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554"/>
                        </a:lnSpc>
                        <a:buNone/>
                      </a:pPr>
                      <a:r>
                        <a:rPr lang="en-US" sz="1110" dirty="0">
                          <a:solidFill>
                            <a:srgbClr val="3C4A55"/>
                          </a:solidFill>
                          <a:latin typeface="Inter" pitchFamily="34" charset="0"/>
                          <a:ea typeface="Inter" pitchFamily="34" charset="-122"/>
                          <a:cs typeface="Inter" pitchFamily="34" charset="-120"/>
                        </a:rPr>
                        <a:t>Renewal and account health</a:t>
                      </a:r>
                      <a:endParaRPr lang="en-US" sz="1110" dirty="0">
                        <a:latin typeface="Inter" charset="0"/>
                        <a:ea typeface="Inter" charset="0"/>
                        <a:cs typeface="Inter" charset="0"/>
                      </a:endParaRPr>
                    </a:p>
                  </a:txBody>
                  <a:tcPr marL="88900" marR="88900" marT="63500" marB="635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554"/>
                        </a:lnSpc>
                        <a:buNone/>
                      </a:pPr>
                      <a:r>
                        <a:rPr lang="en-US" sz="1110" dirty="0">
                          <a:solidFill>
                            <a:srgbClr val="051C2C"/>
                          </a:solidFill>
                          <a:latin typeface="Inter" pitchFamily="34" charset="0"/>
                          <a:ea typeface="Inter" pitchFamily="34" charset="-122"/>
                          <a:cs typeface="Inter" pitchFamily="34" charset="-120"/>
                        </a:rPr>
                        <a:t>990</a:t>
                      </a:r>
                      <a:endParaRPr lang="en-US" sz="1110" dirty="0">
                        <a:latin typeface="Inter" charset="0"/>
                        <a:ea typeface="Inter" charset="0"/>
                        <a:cs typeface="Inter" charset="0"/>
                      </a:endParaRPr>
                    </a:p>
                  </a:txBody>
                  <a:tcPr marL="88900" marR="88900" marT="63500" marB="635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554"/>
                        </a:lnSpc>
                        <a:buNone/>
                      </a:pPr>
                      <a:r>
                        <a:rPr lang="en-US" sz="1110" dirty="0">
                          <a:solidFill>
                            <a:srgbClr val="051C2C"/>
                          </a:solidFill>
                          <a:latin typeface="Inter" pitchFamily="34" charset="0"/>
                          <a:ea typeface="Inter" pitchFamily="34" charset="-122"/>
                          <a:cs typeface="Inter" pitchFamily="34" charset="-120"/>
                        </a:rPr>
                        <a:t>0.18M</a:t>
                      </a:r>
                      <a:endParaRPr lang="en-US" sz="1110" dirty="0">
                        <a:latin typeface="Inter" charset="0"/>
                        <a:ea typeface="Inter" charset="0"/>
                        <a:cs typeface="Inter" charset="0"/>
                      </a:endParaRPr>
                    </a:p>
                  </a:txBody>
                  <a:tcPr marL="88900" marR="88900" marT="63500" marB="635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554"/>
                        </a:lnSpc>
                        <a:buNone/>
                      </a:pPr>
                      <a:r>
                        <a:rPr lang="en-US" sz="1110" dirty="0">
                          <a:solidFill>
                            <a:srgbClr val="2251FF"/>
                          </a:solidFill>
                          <a:latin typeface="Inter" pitchFamily="34" charset="0"/>
                          <a:ea typeface="Inter" pitchFamily="34" charset="-122"/>
                          <a:cs typeface="Inter" pitchFamily="34" charset="-120"/>
                        </a:rPr>
                        <a:t>99</a:t>
                      </a:r>
                      <a:endParaRPr lang="en-US" sz="1110" dirty="0">
                        <a:latin typeface="Inter" charset="0"/>
                        <a:ea typeface="Inter" charset="0"/>
                        <a:cs typeface="Inter" charset="0"/>
                      </a:endParaRPr>
                    </a:p>
                  </a:txBody>
                  <a:tcPr marL="88900" marR="88900" marT="63500" marB="635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37096">
                <a:tc>
                  <a:txBody>
                    <a:bodyPr/>
                    <a:lstStyle/>
                    <a:p>
                      <a:pPr indent="0" marL="0">
                        <a:lnSpc>
                          <a:spcPts val="1554"/>
                        </a:lnSpc>
                        <a:buNone/>
                      </a:pPr>
                      <a:r>
                        <a:rPr lang="en-US" sz="1110" dirty="0">
                          <a:solidFill>
                            <a:srgbClr val="051C2C"/>
                          </a:solidFill>
                          <a:latin typeface="Inter" pitchFamily="34" charset="0"/>
                          <a:ea typeface="Inter" pitchFamily="34" charset="-122"/>
                          <a:cs typeface="Inter" pitchFamily="34" charset="-120"/>
                        </a:rPr>
                        <a:t>Contract review and comparison</a:t>
                      </a:r>
                      <a:endParaRPr lang="en-US" sz="1110" dirty="0">
                        <a:latin typeface="Inter" charset="0"/>
                        <a:ea typeface="Inter" charset="0"/>
                        <a:cs typeface="Inter" charset="0"/>
                      </a:endParaRPr>
                    </a:p>
                  </a:txBody>
                  <a:tcPr marL="88900" marR="88900" marT="63500" marB="635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554"/>
                        </a:lnSpc>
                        <a:buNone/>
                      </a:pPr>
                      <a:r>
                        <a:rPr lang="en-US" sz="1110" dirty="0">
                          <a:solidFill>
                            <a:srgbClr val="3C4A55"/>
                          </a:solidFill>
                          <a:latin typeface="Inter" pitchFamily="34" charset="0"/>
                          <a:ea typeface="Inter" pitchFamily="34" charset="-122"/>
                          <a:cs typeface="Inter" pitchFamily="34" charset="-120"/>
                        </a:rPr>
                        <a:t>Deal desk and legal ops</a:t>
                      </a:r>
                      <a:endParaRPr lang="en-US" sz="1110" dirty="0">
                        <a:latin typeface="Inter" charset="0"/>
                        <a:ea typeface="Inter" charset="0"/>
                        <a:cs typeface="Inter" charset="0"/>
                      </a:endParaRPr>
                    </a:p>
                  </a:txBody>
                  <a:tcPr marL="88900" marR="88900" marT="63500" marB="635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554"/>
                        </a:lnSpc>
                        <a:buNone/>
                      </a:pPr>
                      <a:r>
                        <a:rPr lang="en-US" sz="1110" dirty="0">
                          <a:solidFill>
                            <a:srgbClr val="051C2C"/>
                          </a:solidFill>
                          <a:latin typeface="Inter" pitchFamily="34" charset="0"/>
                          <a:ea typeface="Inter" pitchFamily="34" charset="-122"/>
                          <a:cs typeface="Inter" pitchFamily="34" charset="-120"/>
                        </a:rPr>
                        <a:t>360</a:t>
                      </a:r>
                      <a:endParaRPr lang="en-US" sz="1110" dirty="0">
                        <a:latin typeface="Inter" charset="0"/>
                        <a:ea typeface="Inter" charset="0"/>
                        <a:cs typeface="Inter" charset="0"/>
                      </a:endParaRPr>
                    </a:p>
                  </a:txBody>
                  <a:tcPr marL="88900" marR="88900" marT="63500" marB="635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554"/>
                        </a:lnSpc>
                        <a:buNone/>
                      </a:pPr>
                      <a:r>
                        <a:rPr lang="en-US" sz="1110" dirty="0">
                          <a:solidFill>
                            <a:srgbClr val="051C2C"/>
                          </a:solidFill>
                          <a:latin typeface="Inter" pitchFamily="34" charset="0"/>
                          <a:ea typeface="Inter" pitchFamily="34" charset="-122"/>
                          <a:cs typeface="Inter" pitchFamily="34" charset="-120"/>
                        </a:rPr>
                        <a:t>0.13M</a:t>
                      </a:r>
                      <a:endParaRPr lang="en-US" sz="1110" dirty="0">
                        <a:latin typeface="Inter" charset="0"/>
                        <a:ea typeface="Inter" charset="0"/>
                        <a:cs typeface="Inter" charset="0"/>
                      </a:endParaRPr>
                    </a:p>
                  </a:txBody>
                  <a:tcPr marL="88900" marR="88900" marT="63500" marB="635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554"/>
                        </a:lnSpc>
                        <a:buNone/>
                      </a:pPr>
                      <a:r>
                        <a:rPr lang="en-US" sz="1110" dirty="0">
                          <a:solidFill>
                            <a:srgbClr val="2251FF"/>
                          </a:solidFill>
                          <a:latin typeface="Inter" pitchFamily="34" charset="0"/>
                          <a:ea typeface="Inter" pitchFamily="34" charset="-122"/>
                          <a:cs typeface="Inter" pitchFamily="34" charset="-120"/>
                        </a:rPr>
                        <a:t>72</a:t>
                      </a:r>
                      <a:endParaRPr lang="en-US" sz="1110" dirty="0">
                        <a:latin typeface="Inter" charset="0"/>
                        <a:ea typeface="Inter" charset="0"/>
                        <a:cs typeface="Inter" charset="0"/>
                      </a:endParaRPr>
                    </a:p>
                  </a:txBody>
                  <a:tcPr marL="88900" marR="88900" marT="63500" marB="635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37096">
                <a:tc>
                  <a:txBody>
                    <a:bodyPr/>
                    <a:lstStyle/>
                    <a:p>
                      <a:pPr indent="0" marL="0">
                        <a:lnSpc>
                          <a:spcPts val="1554"/>
                        </a:lnSpc>
                        <a:buNone/>
                      </a:pPr>
                      <a:r>
                        <a:rPr lang="en-US" sz="1110" dirty="0">
                          <a:solidFill>
                            <a:srgbClr val="051C2C"/>
                          </a:solidFill>
                          <a:latin typeface="Inter" pitchFamily="34" charset="0"/>
                          <a:ea typeface="Inter" pitchFamily="34" charset="-122"/>
                          <a:cs typeface="Inter" pitchFamily="34" charset="-120"/>
                        </a:rPr>
                        <a:t>Cross-sell research and pitch drafting</a:t>
                      </a:r>
                      <a:endParaRPr lang="en-US" sz="1110" dirty="0">
                        <a:latin typeface="Inter" charset="0"/>
                        <a:ea typeface="Inter" charset="0"/>
                        <a:cs typeface="Inter" charset="0"/>
                      </a:endParaRPr>
                    </a:p>
                  </a:txBody>
                  <a:tcPr marL="88900" marR="88900" marT="63500" marB="635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554"/>
                        </a:lnSpc>
                        <a:buNone/>
                      </a:pPr>
                      <a:r>
                        <a:rPr lang="en-US" sz="1110" dirty="0">
                          <a:solidFill>
                            <a:srgbClr val="3C4A55"/>
                          </a:solidFill>
                          <a:latin typeface="Inter" pitchFamily="34" charset="0"/>
                          <a:ea typeface="Inter" pitchFamily="34" charset="-122"/>
                          <a:cs typeface="Inter" pitchFamily="34" charset="-120"/>
                        </a:rPr>
                        <a:t>Cross-sell, upsell and sales</a:t>
                      </a:r>
                      <a:endParaRPr lang="en-US" sz="1110" dirty="0">
                        <a:latin typeface="Inter" charset="0"/>
                        <a:ea typeface="Inter" charset="0"/>
                        <a:cs typeface="Inter" charset="0"/>
                      </a:endParaRPr>
                    </a:p>
                  </a:txBody>
                  <a:tcPr marL="88900" marR="88900" marT="63500" marB="635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554"/>
                        </a:lnSpc>
                        <a:buNone/>
                      </a:pPr>
                      <a:r>
                        <a:rPr lang="en-US" sz="1110" dirty="0">
                          <a:solidFill>
                            <a:srgbClr val="051C2C"/>
                          </a:solidFill>
                          <a:latin typeface="Inter" pitchFamily="34" charset="0"/>
                          <a:ea typeface="Inter" pitchFamily="34" charset="-122"/>
                          <a:cs typeface="Inter" pitchFamily="34" charset="-120"/>
                        </a:rPr>
                        <a:t>900</a:t>
                      </a:r>
                      <a:endParaRPr lang="en-US" sz="1110" dirty="0">
                        <a:latin typeface="Inter" charset="0"/>
                        <a:ea typeface="Inter" charset="0"/>
                        <a:cs typeface="Inter" charset="0"/>
                      </a:endParaRPr>
                    </a:p>
                  </a:txBody>
                  <a:tcPr marL="88900" marR="88900" marT="63500" marB="635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554"/>
                        </a:lnSpc>
                        <a:buNone/>
                      </a:pPr>
                      <a:r>
                        <a:rPr lang="en-US" sz="1110" dirty="0">
                          <a:solidFill>
                            <a:srgbClr val="051C2C"/>
                          </a:solidFill>
                          <a:latin typeface="Inter" pitchFamily="34" charset="0"/>
                          <a:ea typeface="Inter" pitchFamily="34" charset="-122"/>
                          <a:cs typeface="Inter" pitchFamily="34" charset="-120"/>
                        </a:rPr>
                        <a:t>0.08M</a:t>
                      </a:r>
                      <a:endParaRPr lang="en-US" sz="1110" dirty="0">
                        <a:latin typeface="Inter" charset="0"/>
                        <a:ea typeface="Inter" charset="0"/>
                        <a:cs typeface="Inter" charset="0"/>
                      </a:endParaRPr>
                    </a:p>
                  </a:txBody>
                  <a:tcPr marL="88900" marR="88900" marT="63500" marB="635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554"/>
                        </a:lnSpc>
                        <a:buNone/>
                      </a:pPr>
                      <a:r>
                        <a:rPr lang="en-US" sz="1110" dirty="0">
                          <a:solidFill>
                            <a:srgbClr val="2251FF"/>
                          </a:solidFill>
                          <a:latin typeface="Inter" pitchFamily="34" charset="0"/>
                          <a:ea typeface="Inter" pitchFamily="34" charset="-122"/>
                          <a:cs typeface="Inter" pitchFamily="34" charset="-120"/>
                        </a:rPr>
                        <a:t>45</a:t>
                      </a:r>
                      <a:endParaRPr lang="en-US" sz="1110" dirty="0">
                        <a:latin typeface="Inter" charset="0"/>
                        <a:ea typeface="Inter" charset="0"/>
                        <a:cs typeface="Inter" charset="0"/>
                      </a:endParaRPr>
                    </a:p>
                  </a:txBody>
                  <a:tcPr marL="88900" marR="88900" marT="63500" marB="635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37096">
                <a:tc>
                  <a:txBody>
                    <a:bodyPr/>
                    <a:lstStyle/>
                    <a:p>
                      <a:pPr indent="0" marL="0">
                        <a:lnSpc>
                          <a:spcPts val="1554"/>
                        </a:lnSpc>
                        <a:buNone/>
                      </a:pPr>
                      <a:r>
                        <a:rPr lang="en-US" sz="1110" dirty="0">
                          <a:solidFill>
                            <a:srgbClr val="051C2C"/>
                          </a:solidFill>
                          <a:latin typeface="Inter" pitchFamily="34" charset="0"/>
                          <a:ea typeface="Inter" pitchFamily="34" charset="-122"/>
                          <a:cs typeface="Inter" pitchFamily="34" charset="-120"/>
                        </a:rPr>
                        <a:t>Vendor licence and time-to-cost reconciliation</a:t>
                      </a:r>
                      <a:endParaRPr lang="en-US" sz="1110" dirty="0">
                        <a:latin typeface="Inter" charset="0"/>
                        <a:ea typeface="Inter" charset="0"/>
                        <a:cs typeface="Inter" charset="0"/>
                      </a:endParaRPr>
                    </a:p>
                  </a:txBody>
                  <a:tcPr marL="88900" marR="88900" marT="63500" marB="635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554"/>
                        </a:lnSpc>
                        <a:buNone/>
                      </a:pPr>
                      <a:r>
                        <a:rPr lang="en-US" sz="1110" dirty="0">
                          <a:solidFill>
                            <a:srgbClr val="3C4A55"/>
                          </a:solidFill>
                          <a:latin typeface="Inter" pitchFamily="34" charset="0"/>
                          <a:ea typeface="Inter" pitchFamily="34" charset="-122"/>
                          <a:cs typeface="Inter" pitchFamily="34" charset="-120"/>
                        </a:rPr>
                        <a:t>Procurement and vendor mgmt</a:t>
                      </a:r>
                      <a:endParaRPr lang="en-US" sz="1110" dirty="0">
                        <a:latin typeface="Inter" charset="0"/>
                        <a:ea typeface="Inter" charset="0"/>
                        <a:cs typeface="Inter" charset="0"/>
                      </a:endParaRPr>
                    </a:p>
                  </a:txBody>
                  <a:tcPr marL="88900" marR="88900" marT="63500" marB="635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554"/>
                        </a:lnSpc>
                        <a:buNone/>
                      </a:pPr>
                      <a:r>
                        <a:rPr lang="en-US" sz="1110" dirty="0">
                          <a:solidFill>
                            <a:srgbClr val="051C2C"/>
                          </a:solidFill>
                          <a:latin typeface="Inter" pitchFamily="34" charset="0"/>
                          <a:ea typeface="Inter" pitchFamily="34" charset="-122"/>
                          <a:cs typeface="Inter" pitchFamily="34" charset="-120"/>
                        </a:rPr>
                        <a:t>240</a:t>
                      </a:r>
                      <a:endParaRPr lang="en-US" sz="1110" dirty="0">
                        <a:latin typeface="Inter" charset="0"/>
                        <a:ea typeface="Inter" charset="0"/>
                        <a:cs typeface="Inter" charset="0"/>
                      </a:endParaRPr>
                    </a:p>
                  </a:txBody>
                  <a:tcPr marL="88900" marR="88900" marT="63500" marB="635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554"/>
                        </a:lnSpc>
                        <a:buNone/>
                      </a:pPr>
                      <a:r>
                        <a:rPr lang="en-US" sz="1110" dirty="0">
                          <a:solidFill>
                            <a:srgbClr val="051C2C"/>
                          </a:solidFill>
                          <a:latin typeface="Inter" pitchFamily="34" charset="0"/>
                          <a:ea typeface="Inter" pitchFamily="34" charset="-122"/>
                          <a:cs typeface="Inter" pitchFamily="34" charset="-120"/>
                        </a:rPr>
                        <a:t>0.06M</a:t>
                      </a:r>
                      <a:endParaRPr lang="en-US" sz="1110" dirty="0">
                        <a:latin typeface="Inter" charset="0"/>
                        <a:ea typeface="Inter" charset="0"/>
                        <a:cs typeface="Inter" charset="0"/>
                      </a:endParaRPr>
                    </a:p>
                  </a:txBody>
                  <a:tcPr marL="88900" marR="88900" marT="63500" marB="635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554"/>
                        </a:lnSpc>
                        <a:buNone/>
                      </a:pPr>
                      <a:r>
                        <a:rPr lang="en-US" sz="1110" dirty="0">
                          <a:solidFill>
                            <a:srgbClr val="2251FF"/>
                          </a:solidFill>
                          <a:latin typeface="Inter" pitchFamily="34" charset="0"/>
                          <a:ea typeface="Inter" pitchFamily="34" charset="-122"/>
                          <a:cs typeface="Inter" pitchFamily="34" charset="-120"/>
                        </a:rPr>
                        <a:t>36</a:t>
                      </a:r>
                      <a:endParaRPr lang="en-US" sz="1110" dirty="0">
                        <a:latin typeface="Inter" charset="0"/>
                        <a:ea typeface="Inter" charset="0"/>
                        <a:cs typeface="Inter" charset="0"/>
                      </a:endParaRPr>
                    </a:p>
                  </a:txBody>
                  <a:tcPr marL="88900" marR="88900" marT="63500" marB="635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37096">
                <a:tc>
                  <a:txBody>
                    <a:bodyPr/>
                    <a:lstStyle/>
                    <a:p>
                      <a:pPr indent="0" marL="0">
                        <a:lnSpc>
                          <a:spcPts val="1554"/>
                        </a:lnSpc>
                        <a:buNone/>
                      </a:pPr>
                      <a:r>
                        <a:rPr lang="en-US" sz="1110" dirty="0">
                          <a:solidFill>
                            <a:srgbClr val="F4F6F8"/>
                          </a:solidFill>
                          <a:latin typeface="Inter" pitchFamily="34" charset="0"/>
                          <a:ea typeface="Inter" pitchFamily="34" charset="-122"/>
                          <a:cs typeface="Inter" pitchFamily="34" charset="-120"/>
                        </a:rPr>
                        <a:t>Total (12% of in-scope time, 4% of workforce)</a:t>
                      </a:r>
                      <a:endParaRPr lang="en-US" sz="1110" dirty="0">
                        <a:latin typeface="Inter" charset="0"/>
                        <a:ea typeface="Inter" charset="0"/>
                        <a:cs typeface="Inter" charset="0"/>
                      </a:endParaRPr>
                    </a:p>
                  </a:txBody>
                  <a:tcPr marL="88900" marR="88900" marT="63500" marB="63500" anchor="t">
                    <a:lnL w="12700" cap="flat" cmpd="sng" algn="ctr">
                      <a:solidFill>
                        <a:srgbClr val="C8C8C6"/>
                      </a:solidFill>
                      <a:prstDash val="solid"/>
                      <a:round/>
                      <a:headEnd type="none" w="med" len="med"/>
                      <a:tailEnd type="none" w="med" len="med"/>
                    </a:lnL>
                    <a:lnR w="12700" cap="flat" cmpd="sng" algn="ctr">
                      <a:solidFill>
                        <a:srgbClr val="081A27"/>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081A27"/>
                      </a:solidFill>
                      <a:prstDash val="solid"/>
                      <a:round/>
                      <a:headEnd type="none" w="med" len="med"/>
                      <a:tailEnd type="none" w="med" len="med"/>
                    </a:lnB>
                    <a:solidFill>
                      <a:srgbClr val="051C2C"/>
                    </a:solidFill>
                  </a:tcPr>
                </a:tc>
                <a:tc>
                  <a:txBody>
                    <a:bodyPr/>
                    <a:lstStyle/>
                    <a:p>
                      <a:pPr indent="0" marL="0">
                        <a:lnSpc>
                          <a:spcPts val="1554"/>
                        </a:lnSpc>
                        <a:buNone/>
                      </a:pPr>
                      <a:r>
                        <a:rPr lang="en-US" sz="1110" dirty="0">
                          <a:solidFill>
                            <a:srgbClr val="C9D4DD"/>
                          </a:solidFill>
                          <a:latin typeface="Inter" pitchFamily="34" charset="0"/>
                          <a:ea typeface="Inter" pitchFamily="34" charset="-122"/>
                          <a:cs typeface="Inter" pitchFamily="34" charset="-120"/>
                        </a:rPr>
                        <a:t>Seven role pools</a:t>
                      </a:r>
                      <a:endParaRPr lang="en-US" sz="1110" dirty="0">
                        <a:latin typeface="Inter" charset="0"/>
                        <a:ea typeface="Inter" charset="0"/>
                        <a:cs typeface="Inter" charset="0"/>
                      </a:endParaRPr>
                    </a:p>
                  </a:txBody>
                  <a:tcPr marL="88900" marR="88900" marT="63500" marB="63500" anchor="t">
                    <a:lnL w="12700" cap="flat" cmpd="sng" algn="ctr">
                      <a:solidFill>
                        <a:srgbClr val="081A27"/>
                      </a:solidFill>
                      <a:prstDash val="solid"/>
                      <a:round/>
                      <a:headEnd type="none" w="med" len="med"/>
                      <a:tailEnd type="none" w="med" len="med"/>
                    </a:lnL>
                    <a:lnR w="12700" cap="flat" cmpd="sng" algn="ctr">
                      <a:solidFill>
                        <a:srgbClr val="081A27"/>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081A27"/>
                      </a:solidFill>
                      <a:prstDash val="solid"/>
                      <a:round/>
                      <a:headEnd type="none" w="med" len="med"/>
                      <a:tailEnd type="none" w="med" len="med"/>
                    </a:lnB>
                    <a:solidFill>
                      <a:srgbClr val="051C2C"/>
                    </a:solidFill>
                  </a:tcPr>
                </a:tc>
                <a:tc>
                  <a:txBody>
                    <a:bodyPr/>
                    <a:lstStyle/>
                    <a:p>
                      <a:pPr algn="r" indent="0" marL="0">
                        <a:lnSpc>
                          <a:spcPts val="1554"/>
                        </a:lnSpc>
                        <a:buNone/>
                      </a:pPr>
                      <a:r>
                        <a:rPr lang="en-US" sz="1110" dirty="0">
                          <a:solidFill>
                            <a:srgbClr val="C9D4DD"/>
                          </a:solidFill>
                          <a:latin typeface="Inter" pitchFamily="34" charset="0"/>
                          <a:ea typeface="Inter" pitchFamily="34" charset="-122"/>
                          <a:cs typeface="Inter" pitchFamily="34" charset="-120"/>
                        </a:rPr>
                        <a:t>13,930</a:t>
                      </a:r>
                      <a:endParaRPr lang="en-US" sz="1110" dirty="0">
                        <a:latin typeface="Inter" charset="0"/>
                        <a:ea typeface="Inter" charset="0"/>
                        <a:cs typeface="Inter" charset="0"/>
                      </a:endParaRPr>
                    </a:p>
                  </a:txBody>
                  <a:tcPr marL="88900" marR="88900" marT="63500" marB="63500" anchor="t">
                    <a:lnL w="12700" cap="flat" cmpd="sng" algn="ctr">
                      <a:solidFill>
                        <a:srgbClr val="081A27"/>
                      </a:solidFill>
                      <a:prstDash val="solid"/>
                      <a:round/>
                      <a:headEnd type="none" w="med" len="med"/>
                      <a:tailEnd type="none" w="med" len="med"/>
                    </a:lnL>
                    <a:lnR w="12700" cap="flat" cmpd="sng" algn="ctr">
                      <a:solidFill>
                        <a:srgbClr val="081A27"/>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081A27"/>
                      </a:solidFill>
                      <a:prstDash val="solid"/>
                      <a:round/>
                      <a:headEnd type="none" w="med" len="med"/>
                      <a:tailEnd type="none" w="med" len="med"/>
                    </a:lnB>
                    <a:solidFill>
                      <a:srgbClr val="051C2C"/>
                    </a:solidFill>
                  </a:tcPr>
                </a:tc>
                <a:tc>
                  <a:txBody>
                    <a:bodyPr/>
                    <a:lstStyle/>
                    <a:p>
                      <a:pPr algn="r" indent="0" marL="0">
                        <a:lnSpc>
                          <a:spcPts val="1554"/>
                        </a:lnSpc>
                        <a:buNone/>
                      </a:pPr>
                      <a:r>
                        <a:rPr lang="en-US" sz="1110" dirty="0">
                          <a:solidFill>
                            <a:srgbClr val="F4F6F8"/>
                          </a:solidFill>
                          <a:latin typeface="Inter" pitchFamily="34" charset="0"/>
                          <a:ea typeface="Inter" pitchFamily="34" charset="-122"/>
                          <a:cs typeface="Inter" pitchFamily="34" charset="-120"/>
                        </a:rPr>
                        <a:t>3.09M</a:t>
                      </a:r>
                      <a:endParaRPr lang="en-US" sz="1110" dirty="0">
                        <a:latin typeface="Inter" charset="0"/>
                        <a:ea typeface="Inter" charset="0"/>
                        <a:cs typeface="Inter" charset="0"/>
                      </a:endParaRPr>
                    </a:p>
                  </a:txBody>
                  <a:tcPr marL="88900" marR="88900" marT="63500" marB="63500" anchor="t">
                    <a:lnL w="12700" cap="flat" cmpd="sng" algn="ctr">
                      <a:solidFill>
                        <a:srgbClr val="081A27"/>
                      </a:solidFill>
                      <a:prstDash val="solid"/>
                      <a:round/>
                      <a:headEnd type="none" w="med" len="med"/>
                      <a:tailEnd type="none" w="med" len="med"/>
                    </a:lnL>
                    <a:lnR w="12700" cap="flat" cmpd="sng" algn="ctr">
                      <a:solidFill>
                        <a:srgbClr val="081A27"/>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081A27"/>
                      </a:solidFill>
                      <a:prstDash val="solid"/>
                      <a:round/>
                      <a:headEnd type="none" w="med" len="med"/>
                      <a:tailEnd type="none" w="med" len="med"/>
                    </a:lnB>
                    <a:solidFill>
                      <a:srgbClr val="051C2C"/>
                    </a:solidFill>
                  </a:tcPr>
                </a:tc>
                <a:tc>
                  <a:txBody>
                    <a:bodyPr/>
                    <a:lstStyle/>
                    <a:p>
                      <a:pPr algn="r" indent="0" marL="0">
                        <a:lnSpc>
                          <a:spcPts val="1554"/>
                        </a:lnSpc>
                        <a:buNone/>
                      </a:pPr>
                      <a:r>
                        <a:rPr lang="en-US" sz="1110" dirty="0">
                          <a:solidFill>
                            <a:srgbClr val="00A9F4"/>
                          </a:solidFill>
                          <a:latin typeface="Inter" pitchFamily="34" charset="0"/>
                          <a:ea typeface="Inter" pitchFamily="34" charset="-122"/>
                          <a:cs typeface="Inter" pitchFamily="34" charset="-120"/>
                        </a:rPr>
                        <a:t>1,717</a:t>
                      </a:r>
                      <a:endParaRPr lang="en-US" sz="1110" dirty="0">
                        <a:latin typeface="Inter" charset="0"/>
                        <a:ea typeface="Inter" charset="0"/>
                        <a:cs typeface="Inter" charset="0"/>
                      </a:endParaRPr>
                    </a:p>
                  </a:txBody>
                  <a:tcPr marL="88900" marR="88900" marT="63500" marB="63500" anchor="t">
                    <a:lnL w="12700" cap="flat" cmpd="sng" algn="ctr">
                      <a:solidFill>
                        <a:srgbClr val="081A27"/>
                      </a:solidFill>
                      <a:prstDash val="solid"/>
                      <a:round/>
                      <a:headEnd type="none" w="med" len="med"/>
                      <a:tailEnd type="none" w="med" len="med"/>
                    </a:lnL>
                    <a:lnR w="12700" cap="flat" cmpd="sng" algn="ctr">
                      <a:solidFill>
                        <a:srgbClr val="081A27"/>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081A27"/>
                      </a:solidFill>
                      <a:prstDash val="solid"/>
                      <a:round/>
                      <a:headEnd type="none" w="med" len="med"/>
                      <a:tailEnd type="none" w="med" len="med"/>
                    </a:lnB>
                    <a:solidFill>
                      <a:srgbClr val="051C2C"/>
                    </a:solidFill>
                  </a:tcPr>
                </a:tc>
              </a:tr>
            </a:tbl>
          </a:graphicData>
        </a:graphic>
      </p:graphicFrame>
      <p:sp>
        <p:nvSpPr>
          <p:cNvPr id="5" name="Shape 2"/>
          <p:cNvSpPr/>
          <p:nvPr/>
        </p:nvSpPr>
        <p:spPr>
          <a:xfrm>
            <a:off x="815975" y="5243761"/>
            <a:ext cx="3448050" cy="595064"/>
          </a:xfrm>
          <a:prstGeom prst="rect">
            <a:avLst/>
          </a:prstGeom>
          <a:solidFill>
            <a:srgbClr val="FFFFFF"/>
          </a:solidFill>
          <a:ln w="6350">
            <a:solidFill>
              <a:srgbClr val="D5DCE2"/>
            </a:solidFill>
            <a:prstDash val="solid"/>
          </a:ln>
        </p:spPr>
      </p:sp>
      <p:sp>
        <p:nvSpPr>
          <p:cNvPr id="6" name="Text 3"/>
          <p:cNvSpPr/>
          <p:nvPr/>
        </p:nvSpPr>
        <p:spPr>
          <a:xfrm>
            <a:off x="971550" y="5335836"/>
            <a:ext cx="3231007" cy="224532"/>
          </a:xfrm>
          <a:prstGeom prst="rect">
            <a:avLst/>
          </a:prstGeom>
          <a:noFill/>
          <a:ln/>
        </p:spPr>
        <p:txBody>
          <a:bodyPr wrap="square" lIns="0" tIns="0" rIns="0" bIns="0" rtlCol="0" anchor="t">
            <a:normAutofit/>
          </a:bodyPr>
          <a:lstStyle/>
          <a:p>
            <a:pPr algn="l" indent="0" marL="0">
              <a:lnSpc>
                <a:spcPts val="1570"/>
              </a:lnSpc>
              <a:buNone/>
            </a:pPr>
            <a:r>
              <a:rPr lang="en-US" sz="1121" b="1" dirty="0">
                <a:solidFill>
                  <a:srgbClr val="051C2C"/>
                </a:solidFill>
                <a:latin typeface="Inter" pitchFamily="34" charset="0"/>
                <a:ea typeface="Inter" pitchFamily="34" charset="-122"/>
                <a:cs typeface="Inter" pitchFamily="34" charset="-120"/>
              </a:rPr>
              <a:t>Capacity value: $170M</a:t>
            </a:r>
            <a:endParaRPr lang="en-US" sz="1121" dirty="0"/>
          </a:p>
        </p:txBody>
      </p:sp>
      <p:sp>
        <p:nvSpPr>
          <p:cNvPr id="7" name="Text 4"/>
          <p:cNvSpPr/>
          <p:nvPr/>
        </p:nvSpPr>
        <p:spPr>
          <a:xfrm>
            <a:off x="971550" y="5547668"/>
            <a:ext cx="3231007" cy="224482"/>
          </a:xfrm>
          <a:prstGeom prst="rect">
            <a:avLst/>
          </a:prstGeom>
          <a:noFill/>
          <a:ln/>
        </p:spPr>
        <p:txBody>
          <a:bodyPr wrap="square" lIns="0" tIns="0" rIns="0" bIns="0" rtlCol="0" anchor="t">
            <a:normAutofit/>
          </a:bodyPr>
          <a:lstStyle/>
          <a:p>
            <a:pPr algn="l" indent="0" marL="0">
              <a:lnSpc>
                <a:spcPts val="1570"/>
              </a:lnSpc>
              <a:buNone/>
            </a:pPr>
            <a:r>
              <a:rPr lang="en-US" sz="1121" dirty="0">
                <a:solidFill>
                  <a:srgbClr val="3C4A55"/>
                </a:solidFill>
                <a:latin typeface="Inter" pitchFamily="34" charset="0"/>
                <a:ea typeface="Inter" pitchFamily="34" charset="-122"/>
                <a:cs typeface="Inter" pitchFamily="34" charset="-120"/>
              </a:rPr>
              <a:t>3.09M hours × $55 loaded/hr</a:t>
            </a:r>
            <a:endParaRPr lang="en-US" sz="1121" dirty="0"/>
          </a:p>
        </p:txBody>
      </p:sp>
      <p:sp>
        <p:nvSpPr>
          <p:cNvPr id="8" name="Shape 5"/>
          <p:cNvSpPr/>
          <p:nvPr/>
        </p:nvSpPr>
        <p:spPr>
          <a:xfrm>
            <a:off x="4368800" y="5240586"/>
            <a:ext cx="3454400" cy="601414"/>
          </a:xfrm>
          <a:prstGeom prst="rect">
            <a:avLst/>
          </a:prstGeom>
          <a:solidFill>
            <a:srgbClr val="2251FF"/>
          </a:solidFill>
          <a:ln/>
        </p:spPr>
      </p:sp>
      <p:sp>
        <p:nvSpPr>
          <p:cNvPr id="9" name="Text 6"/>
          <p:cNvSpPr/>
          <p:nvPr/>
        </p:nvSpPr>
        <p:spPr>
          <a:xfrm>
            <a:off x="4521200" y="5329486"/>
            <a:ext cx="3244088" cy="230882"/>
          </a:xfrm>
          <a:prstGeom prst="rect">
            <a:avLst/>
          </a:prstGeom>
          <a:noFill/>
          <a:ln/>
        </p:spPr>
        <p:txBody>
          <a:bodyPr wrap="square" lIns="0" tIns="0" rIns="0" bIns="0" rtlCol="0" anchor="t">
            <a:normAutofit/>
          </a:bodyPr>
          <a:lstStyle/>
          <a:p>
            <a:pPr algn="l" indent="0" marL="0">
              <a:lnSpc>
                <a:spcPts val="1622"/>
              </a:lnSpc>
              <a:buNone/>
            </a:pPr>
            <a:r>
              <a:rPr lang="en-US" sz="1159" b="1" dirty="0">
                <a:solidFill>
                  <a:srgbClr val="FFFFFF"/>
                </a:solidFill>
                <a:latin typeface="Inter" pitchFamily="34" charset="0"/>
                <a:ea typeface="Inter" pitchFamily="34" charset="-122"/>
                <a:cs typeface="Inter" pitchFamily="34" charset="-120"/>
              </a:rPr>
              <a:t>15% → $26M EBITDA</a:t>
            </a:r>
            <a:endParaRPr lang="en-US" sz="1159" dirty="0"/>
          </a:p>
        </p:txBody>
      </p:sp>
      <p:sp>
        <p:nvSpPr>
          <p:cNvPr id="10" name="Text 7"/>
          <p:cNvSpPr/>
          <p:nvPr/>
        </p:nvSpPr>
        <p:spPr>
          <a:xfrm>
            <a:off x="4521200" y="5547668"/>
            <a:ext cx="3244088" cy="230832"/>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E6ECFF"/>
                </a:solidFill>
                <a:latin typeface="Inter" pitchFamily="34" charset="0"/>
                <a:ea typeface="Inter" pitchFamily="34" charset="-122"/>
                <a:cs typeface="Inter" pitchFamily="34" charset="-120"/>
              </a:rPr>
              <a:t>Attrition and avoided hiring</a:t>
            </a:r>
            <a:endParaRPr lang="en-US" sz="1159" dirty="0"/>
          </a:p>
        </p:txBody>
      </p:sp>
      <p:sp>
        <p:nvSpPr>
          <p:cNvPr id="11" name="Shape 8"/>
          <p:cNvSpPr/>
          <p:nvPr/>
        </p:nvSpPr>
        <p:spPr>
          <a:xfrm>
            <a:off x="7924800" y="5240586"/>
            <a:ext cx="3454400" cy="601414"/>
          </a:xfrm>
          <a:prstGeom prst="rect">
            <a:avLst/>
          </a:prstGeom>
          <a:solidFill>
            <a:srgbClr val="051C2C"/>
          </a:solidFill>
          <a:ln/>
        </p:spPr>
      </p:sp>
      <p:sp>
        <p:nvSpPr>
          <p:cNvPr id="12" name="Text 9"/>
          <p:cNvSpPr/>
          <p:nvPr/>
        </p:nvSpPr>
        <p:spPr>
          <a:xfrm>
            <a:off x="8077200" y="5329486"/>
            <a:ext cx="3244088" cy="230882"/>
          </a:xfrm>
          <a:prstGeom prst="rect">
            <a:avLst/>
          </a:prstGeom>
          <a:noFill/>
          <a:ln/>
        </p:spPr>
        <p:txBody>
          <a:bodyPr wrap="square" lIns="0" tIns="0" rIns="0" bIns="0" rtlCol="0" anchor="t">
            <a:normAutofit/>
          </a:bodyPr>
          <a:lstStyle/>
          <a:p>
            <a:pPr algn="l" indent="0" marL="0">
              <a:lnSpc>
                <a:spcPts val="1622"/>
              </a:lnSpc>
              <a:buNone/>
            </a:pPr>
            <a:r>
              <a:rPr lang="en-US" sz="1159" b="1" dirty="0">
                <a:solidFill>
                  <a:srgbClr val="F4F6F8"/>
                </a:solidFill>
                <a:latin typeface="Inter" pitchFamily="34" charset="0"/>
                <a:ea typeface="Inter" pitchFamily="34" charset="-122"/>
                <a:cs typeface="Inter" pitchFamily="34" charset="-120"/>
              </a:rPr>
              <a:t>85% → $144M redeployed</a:t>
            </a:r>
            <a:endParaRPr lang="en-US" sz="1159" dirty="0"/>
          </a:p>
        </p:txBody>
      </p:sp>
      <p:sp>
        <p:nvSpPr>
          <p:cNvPr id="13" name="Text 10"/>
          <p:cNvSpPr/>
          <p:nvPr/>
        </p:nvSpPr>
        <p:spPr>
          <a:xfrm>
            <a:off x="8077200" y="5547668"/>
            <a:ext cx="3244088" cy="230832"/>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C9D4DD"/>
                </a:solidFill>
                <a:latin typeface="Inter" pitchFamily="34" charset="0"/>
                <a:ea typeface="Inter" pitchFamily="34" charset="-122"/>
                <a:cs typeface="Inter" pitchFamily="34" charset="-120"/>
              </a:rPr>
              <a:t>Client time for churn and growth</a:t>
            </a:r>
            <a:endParaRPr lang="en-US" sz="1159" dirty="0"/>
          </a:p>
        </p:txBody>
      </p:sp>
      <p:sp>
        <p:nvSpPr>
          <p:cNvPr id="14" name="Text 11"/>
          <p:cNvSpPr/>
          <p:nvPr/>
        </p:nvSpPr>
        <p:spPr>
          <a:xfrm>
            <a:off x="812800" y="6238280"/>
            <a:ext cx="896550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0"/>
                </a:solidFill>
                <a:latin typeface="Inter" pitchFamily="34" charset="0"/>
                <a:ea typeface="Inter" pitchFamily="34" charset="-122"/>
                <a:cs typeface="Inter" pitchFamily="34" charset="-120"/>
              </a:rPr>
              <a:t>Source: FIS 10-K FY2025 (more than 44,000 employees). Role pools and automation rates are estimates.</a:t>
            </a:r>
            <a:endParaRPr lang="en-US" sz="1200" dirty="0"/>
          </a:p>
        </p:txBody>
      </p:sp>
      <p:sp>
        <p:nvSpPr>
          <p:cNvPr id="15" name="Text 12"/>
          <p:cNvSpPr/>
          <p:nvPr/>
        </p:nvSpPr>
        <p:spPr>
          <a:xfrm>
            <a:off x="11167963" y="6238280"/>
            <a:ext cx="211237"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0"/>
                </a:solidFill>
                <a:latin typeface="Inter" pitchFamily="34" charset="0"/>
                <a:ea typeface="Inter" pitchFamily="34" charset="-122"/>
                <a:cs typeface="Inter"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251FF"/>
                </a:solidFill>
                <a:latin typeface="Inter" pitchFamily="34" charset="0"/>
                <a:ea typeface="Inter" pitchFamily="34" charset="-122"/>
                <a:cs typeface="Inter" pitchFamily="34" charset="-120"/>
              </a:rPr>
              <a:t>VALUE AT STAKE</a:t>
            </a:r>
            <a:endParaRPr lang="en-US" sz="1200" dirty="0"/>
          </a:p>
        </p:txBody>
      </p:sp>
      <p:sp>
        <p:nvSpPr>
          <p:cNvPr id="3" name="Text 1"/>
          <p:cNvSpPr/>
          <p:nvPr>
            <p:ph type="title"/>
          </p:nvPr>
        </p:nvSpPr>
        <p:spPr>
          <a:xfrm>
            <a:off x="812800" y="1127720"/>
            <a:ext cx="10883392" cy="784820"/>
          </a:xfrm>
          <a:prstGeom prst="rect">
            <a:avLst/>
          </a:prstGeom>
          <a:noFill/>
          <a:ln/>
        </p:spPr>
        <p:txBody>
          <a:bodyPr wrap="square" lIns="0" tIns="0" rIns="0" bIns="0" rtlCol="0" anchor="t">
            <a:normAutofit/>
          </a:bodyPr>
          <a:lstStyle/>
          <a:p>
            <a:pPr algn="l" indent="0" marL="0">
              <a:lnSpc>
                <a:spcPts val="2990"/>
              </a:lnSpc>
              <a:buNone/>
            </a:pPr>
            <a:r>
              <a:rPr lang="en-US" sz="2600" b="0" i="0" dirty="0">
                <a:solidFill>
                  <a:srgbClr val="051C2C"/>
                </a:solidFill>
                <a:latin typeface="Source Serif 4" pitchFamily="18" charset="0"/>
                <a:ea typeface="Source Serif 4" pitchFamily="18" charset="-122"/>
                <a:cs typeface="Source Serif 4" pitchFamily="18" charset="-120"/>
              </a:rPr>
              <a:t>Conservatively, ~$203M of annual EBITDA is at stake, a ~5% uplift, led by revenue recovery</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128441"/>
          <a:ext cx="10553700" cy="3027363"/>
        </p:xfrm>
        <a:graphic>
          <a:graphicData uri="http://schemas.openxmlformats.org/drawingml/2006/table">
            <a:tbl>
              <a:tblPr/>
              <a:tblGrid>
                <a:gridCol w="1794129"/>
                <a:gridCol w="3482721"/>
                <a:gridCol w="2532888"/>
                <a:gridCol w="1371981"/>
                <a:gridCol w="1371981"/>
              </a:tblGrid>
              <a:tr h="378420">
                <a:tc>
                  <a:txBody>
                    <a:bodyPr/>
                    <a:lstStyle/>
                    <a:p>
                      <a:pPr indent="0" marL="0">
                        <a:lnSpc>
                          <a:spcPts val="1680"/>
                        </a:lnSpc>
                        <a:buNone/>
                      </a:pPr>
                      <a:r>
                        <a:rPr lang="en-US" sz="1200" b="1" dirty="0">
                          <a:solidFill>
                            <a:srgbClr val="6B7680"/>
                          </a:solidFill>
                          <a:latin typeface="Inter" pitchFamily="34" charset="0"/>
                          <a:ea typeface="Inter" pitchFamily="34" charset="-122"/>
                          <a:cs typeface="Inter" pitchFamily="34" charset="-120"/>
                        </a:rPr>
                        <a:t>Lever</a:t>
                      </a:r>
                      <a:endParaRPr lang="en-US" sz="1200" dirty="0">
                        <a:latin typeface="Inter" charset="0"/>
                        <a:ea typeface="Inter" charset="0"/>
                        <a:cs typeface="Inter" charset="0"/>
                      </a:endParaRPr>
                    </a:p>
                  </a:txBody>
                  <a:tcPr marL="101600" marR="101600" marT="76200" marB="76200" anchor="t">
                    <a:lnL w="12700" cap="flat" cmpd="sng" algn="ctr">
                      <a:solidFill>
                        <a:srgbClr val="C8C8C6"/>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7"/>
                    </a:solidFill>
                  </a:tcPr>
                </a:tc>
                <a:tc>
                  <a:txBody>
                    <a:bodyPr/>
                    <a:lstStyle/>
                    <a:p>
                      <a:pPr indent="0" marL="0">
                        <a:lnSpc>
                          <a:spcPts val="1680"/>
                        </a:lnSpc>
                        <a:buNone/>
                      </a:pPr>
                      <a:r>
                        <a:rPr lang="en-US" sz="1200" b="1" dirty="0">
                          <a:solidFill>
                            <a:srgbClr val="6B7680"/>
                          </a:solidFill>
                          <a:latin typeface="Inter" pitchFamily="34" charset="0"/>
                          <a:ea typeface="Inter" pitchFamily="34" charset="-122"/>
                          <a:cs typeface="Inter" pitchFamily="34" charset="-120"/>
                        </a:rPr>
                        <a:t>Baseline (FY2025)</a:t>
                      </a:r>
                      <a:endParaRPr lang="en-US" sz="1200" dirty="0">
                        <a:latin typeface="Inter" charset="0"/>
                        <a:ea typeface="Inter" charset="0"/>
                        <a:cs typeface="Inter" charset="0"/>
                      </a:endParaRPr>
                    </a:p>
                  </a:txBody>
                  <a:tcPr marL="101600" marR="101600" marT="76200" marB="76200"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7"/>
                    </a:solidFill>
                  </a:tcPr>
                </a:tc>
                <a:tc>
                  <a:txBody>
                    <a:bodyPr/>
                    <a:lstStyle/>
                    <a:p>
                      <a:pPr indent="0" marL="0">
                        <a:lnSpc>
                          <a:spcPts val="1680"/>
                        </a:lnSpc>
                        <a:buNone/>
                      </a:pPr>
                      <a:r>
                        <a:rPr lang="en-US" sz="1200" b="1" dirty="0">
                          <a:solidFill>
                            <a:srgbClr val="6B7680"/>
                          </a:solidFill>
                          <a:latin typeface="Inter" pitchFamily="34" charset="0"/>
                          <a:ea typeface="Inter" pitchFamily="34" charset="-122"/>
                          <a:cs typeface="Inter" pitchFamily="34" charset="-120"/>
                        </a:rPr>
                        <a:t>Target</a:t>
                      </a:r>
                      <a:endParaRPr lang="en-US" sz="1200" dirty="0">
                        <a:latin typeface="Inter" charset="0"/>
                        <a:ea typeface="Inter" charset="0"/>
                        <a:cs typeface="Inter" charset="0"/>
                      </a:endParaRPr>
                    </a:p>
                  </a:txBody>
                  <a:tcPr marL="101600" marR="101600" marT="76200" marB="76200"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7"/>
                    </a:solidFill>
                  </a:tcPr>
                </a:tc>
                <a:tc>
                  <a:txBody>
                    <a:bodyPr/>
                    <a:lstStyle/>
                    <a:p>
                      <a:pPr algn="r" indent="0" marL="0">
                        <a:lnSpc>
                          <a:spcPts val="1680"/>
                        </a:lnSpc>
                        <a:buNone/>
                      </a:pPr>
                      <a:r>
                        <a:rPr lang="en-US" sz="1200" b="1" dirty="0">
                          <a:solidFill>
                            <a:srgbClr val="6B7680"/>
                          </a:solidFill>
                          <a:latin typeface="Inter" pitchFamily="34" charset="0"/>
                          <a:ea typeface="Inter" pitchFamily="34" charset="-122"/>
                          <a:cs typeface="Inter" pitchFamily="34" charset="-120"/>
                        </a:rPr>
                        <a:t>Revenue</a:t>
                      </a:r>
                      <a:endParaRPr lang="en-US" sz="1200" dirty="0">
                        <a:latin typeface="Inter" charset="0"/>
                        <a:ea typeface="Inter" charset="0"/>
                        <a:cs typeface="Inter" charset="0"/>
                      </a:endParaRPr>
                    </a:p>
                  </a:txBody>
                  <a:tcPr marL="101600" marR="101600" marT="76200" marB="76200"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7"/>
                    </a:solidFill>
                  </a:tcPr>
                </a:tc>
                <a:tc>
                  <a:txBody>
                    <a:bodyPr/>
                    <a:lstStyle/>
                    <a:p>
                      <a:pPr algn="r" indent="0" marL="0">
                        <a:lnSpc>
                          <a:spcPts val="1680"/>
                        </a:lnSpc>
                        <a:buNone/>
                      </a:pPr>
                      <a:r>
                        <a:rPr lang="en-US" sz="1200" b="1" dirty="0">
                          <a:solidFill>
                            <a:srgbClr val="6B7680"/>
                          </a:solidFill>
                          <a:latin typeface="Inter" pitchFamily="34" charset="0"/>
                          <a:ea typeface="Inter" pitchFamily="34" charset="-122"/>
                          <a:cs typeface="Inter" pitchFamily="34" charset="-120"/>
                        </a:rPr>
                        <a:t>EBITDA</a:t>
                      </a:r>
                      <a:endParaRPr lang="en-US" sz="1200" dirty="0">
                        <a:latin typeface="Inter" charset="0"/>
                        <a:ea typeface="Inter" charset="0"/>
                        <a:cs typeface="Inter" charset="0"/>
                      </a:endParaRPr>
                    </a:p>
                  </a:txBody>
                  <a:tcPr marL="101600" marR="101600" marT="76200" marB="76200"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7"/>
                    </a:solidFill>
                  </a:tcPr>
                </a:tc>
              </a:tr>
              <a:tr h="378420">
                <a:tc>
                  <a:txBody>
                    <a:bodyPr/>
                    <a:lstStyle/>
                    <a:p>
                      <a:pPr indent="0" marL="0">
                        <a:lnSpc>
                          <a:spcPts val="1680"/>
                        </a:lnSpc>
                        <a:buNone/>
                      </a:pPr>
                      <a:r>
                        <a:rPr lang="en-US" sz="1200" dirty="0">
                          <a:solidFill>
                            <a:srgbClr val="051C2C"/>
                          </a:solidFill>
                          <a:latin typeface="Inter" pitchFamily="34" charset="0"/>
                          <a:ea typeface="Inter" pitchFamily="34" charset="-122"/>
                          <a:cs typeface="Inter" pitchFamily="34" charset="-120"/>
                        </a:rPr>
                        <a:t>Revenue recovery</a:t>
                      </a:r>
                      <a:endParaRPr lang="en-US" sz="1200" dirty="0">
                        <a:latin typeface="Inter" charset="0"/>
                        <a:ea typeface="Inter" charset="0"/>
                        <a:cs typeface="Inter" charset="0"/>
                      </a:endParaRPr>
                    </a:p>
                  </a:txBody>
                  <a:tcPr marL="101600" marR="101600" marT="76200" marB="762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3C4A55"/>
                          </a:solidFill>
                          <a:latin typeface="Inter" pitchFamily="34" charset="0"/>
                          <a:ea typeface="Inter" pitchFamily="34" charset="-122"/>
                          <a:cs typeface="Inter" pitchFamily="34" charset="-120"/>
                        </a:rPr>
                        <a:t>Leakage ~2% of recurring revenue ($171M)</a:t>
                      </a:r>
                      <a:endParaRPr lang="en-US" sz="1200" dirty="0">
                        <a:latin typeface="Inter" charset="0"/>
                        <a:ea typeface="Inter" charset="0"/>
                        <a:cs typeface="Inter" charset="0"/>
                      </a:endParaRPr>
                    </a:p>
                  </a:txBody>
                  <a:tcPr marL="101600" marR="101600" marT="76200" marB="762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3C4A55"/>
                          </a:solidFill>
                          <a:latin typeface="Inter" pitchFamily="34" charset="0"/>
                          <a:ea typeface="Inter" pitchFamily="34" charset="-122"/>
                          <a:cs typeface="Inter" pitchFamily="34" charset="-120"/>
                        </a:rPr>
                        <a:t>Recover 40% of it</a:t>
                      </a:r>
                      <a:endParaRPr lang="en-US" sz="1200" dirty="0">
                        <a:latin typeface="Inter" charset="0"/>
                        <a:ea typeface="Inter" charset="0"/>
                        <a:cs typeface="Inter" charset="0"/>
                      </a:endParaRPr>
                    </a:p>
                  </a:txBody>
                  <a:tcPr marL="101600" marR="101600" marT="76200" marB="762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680"/>
                        </a:lnSpc>
                        <a:buNone/>
                      </a:pPr>
                      <a:r>
                        <a:rPr lang="en-US" sz="1200" dirty="0">
                          <a:solidFill>
                            <a:srgbClr val="051C2C"/>
                          </a:solidFill>
                          <a:latin typeface="Inter" pitchFamily="34" charset="0"/>
                          <a:ea typeface="Inter" pitchFamily="34" charset="-122"/>
                          <a:cs typeface="Inter" pitchFamily="34" charset="-120"/>
                        </a:rPr>
                        <a:t>$68M</a:t>
                      </a:r>
                      <a:endParaRPr lang="en-US" sz="1200" dirty="0">
                        <a:latin typeface="Inter" charset="0"/>
                        <a:ea typeface="Inter" charset="0"/>
                        <a:cs typeface="Inter" charset="0"/>
                      </a:endParaRPr>
                    </a:p>
                  </a:txBody>
                  <a:tcPr marL="101600" marR="101600" marT="76200" marB="762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680"/>
                        </a:lnSpc>
                        <a:buNone/>
                      </a:pPr>
                      <a:r>
                        <a:rPr lang="en-US" sz="1200" dirty="0">
                          <a:solidFill>
                            <a:srgbClr val="2251FF"/>
                          </a:solidFill>
                          <a:latin typeface="Inter" pitchFamily="34" charset="0"/>
                          <a:ea typeface="Inter" pitchFamily="34" charset="-122"/>
                          <a:cs typeface="Inter" pitchFamily="34" charset="-120"/>
                        </a:rPr>
                        <a:t>$65M</a:t>
                      </a:r>
                      <a:endParaRPr lang="en-US" sz="1200" dirty="0">
                        <a:latin typeface="Inter" charset="0"/>
                        <a:ea typeface="Inter" charset="0"/>
                        <a:cs typeface="Inter" charset="0"/>
                      </a:endParaRPr>
                    </a:p>
                  </a:txBody>
                  <a:tcPr marL="101600" marR="101600" marT="76200" marB="762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78420">
                <a:tc>
                  <a:txBody>
                    <a:bodyPr/>
                    <a:lstStyle/>
                    <a:p>
                      <a:pPr indent="0" marL="0">
                        <a:lnSpc>
                          <a:spcPts val="1680"/>
                        </a:lnSpc>
                        <a:buNone/>
                      </a:pPr>
                      <a:r>
                        <a:rPr lang="en-US" sz="1200" dirty="0">
                          <a:solidFill>
                            <a:srgbClr val="051C2C"/>
                          </a:solidFill>
                          <a:latin typeface="Inter" pitchFamily="34" charset="0"/>
                          <a:ea typeface="Inter" pitchFamily="34" charset="-122"/>
                          <a:cs typeface="Inter" pitchFamily="34" charset="-120"/>
                        </a:rPr>
                        <a:t>Margin</a:t>
                      </a:r>
                      <a:endParaRPr lang="en-US" sz="1200" dirty="0">
                        <a:latin typeface="Inter" charset="0"/>
                        <a:ea typeface="Inter" charset="0"/>
                        <a:cs typeface="Inter" charset="0"/>
                      </a:endParaRPr>
                    </a:p>
                  </a:txBody>
                  <a:tcPr marL="101600" marR="101600" marT="76200" marB="762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3C4A55"/>
                          </a:solidFill>
                          <a:latin typeface="Inter" pitchFamily="34" charset="0"/>
                          <a:ea typeface="Inter" pitchFamily="34" charset="-122"/>
                          <a:cs typeface="Inter" pitchFamily="34" charset="-120"/>
                        </a:rPr>
                        <a:t>Adj. EBITDA margin 40.6%</a:t>
                      </a:r>
                      <a:endParaRPr lang="en-US" sz="1200" dirty="0">
                        <a:latin typeface="Inter" charset="0"/>
                        <a:ea typeface="Inter" charset="0"/>
                        <a:cs typeface="Inter" charset="0"/>
                      </a:endParaRPr>
                    </a:p>
                  </a:txBody>
                  <a:tcPr marL="101600" marR="101600" marT="76200" marB="762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3C4A55"/>
                          </a:solidFill>
                          <a:latin typeface="Inter" pitchFamily="34" charset="0"/>
                          <a:ea typeface="Inter" pitchFamily="34" charset="-122"/>
                          <a:cs typeface="Inter" pitchFamily="34" charset="-120"/>
                        </a:rPr>
                        <a:t>+50 bps, cost-to-serve</a:t>
                      </a:r>
                      <a:endParaRPr lang="en-US" sz="1200" dirty="0">
                        <a:latin typeface="Inter" charset="0"/>
                        <a:ea typeface="Inter" charset="0"/>
                        <a:cs typeface="Inter" charset="0"/>
                      </a:endParaRPr>
                    </a:p>
                  </a:txBody>
                  <a:tcPr marL="101600" marR="101600" marT="76200" marB="762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680"/>
                        </a:lnSpc>
                        <a:buNone/>
                      </a:pPr>
                      <a:r>
                        <a:rPr lang="en-US" sz="1200" dirty="0">
                          <a:solidFill>
                            <a:srgbClr val="051C2C"/>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101600" marR="101600" marT="76200" marB="762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680"/>
                        </a:lnSpc>
                        <a:buNone/>
                      </a:pPr>
                      <a:r>
                        <a:rPr lang="en-US" sz="1200" dirty="0">
                          <a:solidFill>
                            <a:srgbClr val="2251FF"/>
                          </a:solidFill>
                          <a:latin typeface="Inter" pitchFamily="34" charset="0"/>
                          <a:ea typeface="Inter" pitchFamily="34" charset="-122"/>
                          <a:cs typeface="Inter" pitchFamily="34" charset="-120"/>
                        </a:rPr>
                        <a:t>$53M</a:t>
                      </a:r>
                      <a:endParaRPr lang="en-US" sz="1200" dirty="0">
                        <a:latin typeface="Inter" charset="0"/>
                        <a:ea typeface="Inter" charset="0"/>
                        <a:cs typeface="Inter" charset="0"/>
                      </a:endParaRPr>
                    </a:p>
                  </a:txBody>
                  <a:tcPr marL="101600" marR="101600" marT="76200" marB="762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78420">
                <a:tc>
                  <a:txBody>
                    <a:bodyPr/>
                    <a:lstStyle/>
                    <a:p>
                      <a:pPr indent="0" marL="0">
                        <a:lnSpc>
                          <a:spcPts val="1680"/>
                        </a:lnSpc>
                        <a:buNone/>
                      </a:pPr>
                      <a:r>
                        <a:rPr lang="en-US" sz="1200" dirty="0">
                          <a:solidFill>
                            <a:srgbClr val="051C2C"/>
                          </a:solidFill>
                          <a:latin typeface="Inter" pitchFamily="34" charset="0"/>
                          <a:ea typeface="Inter" pitchFamily="34" charset="-122"/>
                          <a:cs typeface="Inter" pitchFamily="34" charset="-120"/>
                        </a:rPr>
                        <a:t>Churn</a:t>
                      </a:r>
                      <a:endParaRPr lang="en-US" sz="1200" dirty="0">
                        <a:latin typeface="Inter" charset="0"/>
                        <a:ea typeface="Inter" charset="0"/>
                        <a:cs typeface="Inter" charset="0"/>
                      </a:endParaRPr>
                    </a:p>
                  </a:txBody>
                  <a:tcPr marL="101600" marR="101600" marT="76200" marB="762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3C4A55"/>
                          </a:solidFill>
                          <a:latin typeface="Inter" pitchFamily="34" charset="0"/>
                          <a:ea typeface="Inter" pitchFamily="34" charset="-122"/>
                          <a:cs typeface="Inter" pitchFamily="34" charset="-120"/>
                        </a:rPr>
                        <a:t>Gross revenue churn ~3.0%*</a:t>
                      </a:r>
                      <a:endParaRPr lang="en-US" sz="1200" dirty="0">
                        <a:latin typeface="Inter" charset="0"/>
                        <a:ea typeface="Inter" charset="0"/>
                        <a:cs typeface="Inter" charset="0"/>
                      </a:endParaRPr>
                    </a:p>
                  </a:txBody>
                  <a:tcPr marL="101600" marR="101600" marT="76200" marB="762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3C4A55"/>
                          </a:solidFill>
                          <a:latin typeface="Inter" pitchFamily="34" charset="0"/>
                          <a:ea typeface="Inter" pitchFamily="34" charset="-122"/>
                          <a:cs typeface="Inter" pitchFamily="34" charset="-120"/>
                        </a:rPr>
                        <a:t>2.5% (–50 bps)</a:t>
                      </a:r>
                      <a:endParaRPr lang="en-US" sz="1200" dirty="0">
                        <a:latin typeface="Inter" charset="0"/>
                        <a:ea typeface="Inter" charset="0"/>
                        <a:cs typeface="Inter" charset="0"/>
                      </a:endParaRPr>
                    </a:p>
                  </a:txBody>
                  <a:tcPr marL="101600" marR="101600" marT="76200" marB="762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680"/>
                        </a:lnSpc>
                        <a:buNone/>
                      </a:pPr>
                      <a:r>
                        <a:rPr lang="en-US" sz="1200" dirty="0">
                          <a:solidFill>
                            <a:srgbClr val="051C2C"/>
                          </a:solidFill>
                          <a:latin typeface="Inter" pitchFamily="34" charset="0"/>
                          <a:ea typeface="Inter" pitchFamily="34" charset="-122"/>
                          <a:cs typeface="Inter" pitchFamily="34" charset="-120"/>
                        </a:rPr>
                        <a:t>$43M</a:t>
                      </a:r>
                      <a:endParaRPr lang="en-US" sz="1200" dirty="0">
                        <a:latin typeface="Inter" charset="0"/>
                        <a:ea typeface="Inter" charset="0"/>
                        <a:cs typeface="Inter" charset="0"/>
                      </a:endParaRPr>
                    </a:p>
                  </a:txBody>
                  <a:tcPr marL="101600" marR="101600" marT="76200" marB="762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680"/>
                        </a:lnSpc>
                        <a:buNone/>
                      </a:pPr>
                      <a:r>
                        <a:rPr lang="en-US" sz="1200" dirty="0">
                          <a:solidFill>
                            <a:srgbClr val="2251FF"/>
                          </a:solidFill>
                          <a:latin typeface="Inter" pitchFamily="34" charset="0"/>
                          <a:ea typeface="Inter" pitchFamily="34" charset="-122"/>
                          <a:cs typeface="Inter" pitchFamily="34" charset="-120"/>
                        </a:rPr>
                        <a:t>$17M</a:t>
                      </a:r>
                      <a:endParaRPr lang="en-US" sz="1200" dirty="0">
                        <a:latin typeface="Inter" charset="0"/>
                        <a:ea typeface="Inter" charset="0"/>
                        <a:cs typeface="Inter" charset="0"/>
                      </a:endParaRPr>
                    </a:p>
                  </a:txBody>
                  <a:tcPr marL="101600" marR="101600" marT="76200" marB="762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78420">
                <a:tc>
                  <a:txBody>
                    <a:bodyPr/>
                    <a:lstStyle/>
                    <a:p>
                      <a:pPr indent="0" marL="0">
                        <a:lnSpc>
                          <a:spcPts val="1680"/>
                        </a:lnSpc>
                        <a:buNone/>
                      </a:pPr>
                      <a:r>
                        <a:rPr lang="en-US" sz="1200" dirty="0">
                          <a:solidFill>
                            <a:srgbClr val="051C2C"/>
                          </a:solidFill>
                          <a:latin typeface="Inter" pitchFamily="34" charset="0"/>
                          <a:ea typeface="Inter" pitchFamily="34" charset="-122"/>
                          <a:cs typeface="Inter" pitchFamily="34" charset="-120"/>
                        </a:rPr>
                        <a:t>Compression</a:t>
                      </a:r>
                      <a:endParaRPr lang="en-US" sz="1200" dirty="0">
                        <a:latin typeface="Inter" charset="0"/>
                        <a:ea typeface="Inter" charset="0"/>
                        <a:cs typeface="Inter" charset="0"/>
                      </a:endParaRPr>
                    </a:p>
                  </a:txBody>
                  <a:tcPr marL="101600" marR="101600" marT="76200" marB="762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3C4A55"/>
                          </a:solidFill>
                          <a:latin typeface="Inter" pitchFamily="34" charset="0"/>
                          <a:ea typeface="Inter" pitchFamily="34" charset="-122"/>
                          <a:cs typeface="Inter" pitchFamily="34" charset="-120"/>
                        </a:rPr>
                        <a:t>Renewal price and scope loss ~1.0%*</a:t>
                      </a:r>
                      <a:endParaRPr lang="en-US" sz="1200" dirty="0">
                        <a:latin typeface="Inter" charset="0"/>
                        <a:ea typeface="Inter" charset="0"/>
                        <a:cs typeface="Inter" charset="0"/>
                      </a:endParaRPr>
                    </a:p>
                  </a:txBody>
                  <a:tcPr marL="101600" marR="101600" marT="76200" marB="762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3C4A55"/>
                          </a:solidFill>
                          <a:latin typeface="Inter" pitchFamily="34" charset="0"/>
                          <a:ea typeface="Inter" pitchFamily="34" charset="-122"/>
                          <a:cs typeface="Inter" pitchFamily="34" charset="-120"/>
                        </a:rPr>
                        <a:t>0.75% (–25 bps)</a:t>
                      </a:r>
                      <a:endParaRPr lang="en-US" sz="1200" dirty="0">
                        <a:latin typeface="Inter" charset="0"/>
                        <a:ea typeface="Inter" charset="0"/>
                        <a:cs typeface="Inter" charset="0"/>
                      </a:endParaRPr>
                    </a:p>
                  </a:txBody>
                  <a:tcPr marL="101600" marR="101600" marT="76200" marB="762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680"/>
                        </a:lnSpc>
                        <a:buNone/>
                      </a:pPr>
                      <a:r>
                        <a:rPr lang="en-US" sz="1200" dirty="0">
                          <a:solidFill>
                            <a:srgbClr val="051C2C"/>
                          </a:solidFill>
                          <a:latin typeface="Inter" pitchFamily="34" charset="0"/>
                          <a:ea typeface="Inter" pitchFamily="34" charset="-122"/>
                          <a:cs typeface="Inter" pitchFamily="34" charset="-120"/>
                        </a:rPr>
                        <a:t>$21M</a:t>
                      </a:r>
                      <a:endParaRPr lang="en-US" sz="1200" dirty="0">
                        <a:latin typeface="Inter" charset="0"/>
                        <a:ea typeface="Inter" charset="0"/>
                        <a:cs typeface="Inter" charset="0"/>
                      </a:endParaRPr>
                    </a:p>
                  </a:txBody>
                  <a:tcPr marL="101600" marR="101600" marT="76200" marB="762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680"/>
                        </a:lnSpc>
                        <a:buNone/>
                      </a:pPr>
                      <a:r>
                        <a:rPr lang="en-US" sz="1200" dirty="0">
                          <a:solidFill>
                            <a:srgbClr val="2251FF"/>
                          </a:solidFill>
                          <a:latin typeface="Inter" pitchFamily="34" charset="0"/>
                          <a:ea typeface="Inter" pitchFamily="34" charset="-122"/>
                          <a:cs typeface="Inter" pitchFamily="34" charset="-120"/>
                        </a:rPr>
                        <a:t>$20M</a:t>
                      </a:r>
                      <a:endParaRPr lang="en-US" sz="1200" dirty="0">
                        <a:latin typeface="Inter" charset="0"/>
                        <a:ea typeface="Inter" charset="0"/>
                        <a:cs typeface="Inter" charset="0"/>
                      </a:endParaRPr>
                    </a:p>
                  </a:txBody>
                  <a:tcPr marL="101600" marR="101600" marT="76200" marB="762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78420">
                <a:tc>
                  <a:txBody>
                    <a:bodyPr/>
                    <a:lstStyle/>
                    <a:p>
                      <a:pPr indent="0" marL="0">
                        <a:lnSpc>
                          <a:spcPts val="1680"/>
                        </a:lnSpc>
                        <a:buNone/>
                      </a:pPr>
                      <a:r>
                        <a:rPr lang="en-US" sz="1200" dirty="0">
                          <a:solidFill>
                            <a:srgbClr val="051C2C"/>
                          </a:solidFill>
                          <a:latin typeface="Inter" pitchFamily="34" charset="0"/>
                          <a:ea typeface="Inter" pitchFamily="34" charset="-122"/>
                          <a:cs typeface="Inter" pitchFamily="34" charset="-120"/>
                        </a:rPr>
                        <a:t>Growth</a:t>
                      </a:r>
                      <a:endParaRPr lang="en-US" sz="1200" dirty="0">
                        <a:latin typeface="Inter" charset="0"/>
                        <a:ea typeface="Inter" charset="0"/>
                        <a:cs typeface="Inter" charset="0"/>
                      </a:endParaRPr>
                    </a:p>
                  </a:txBody>
                  <a:tcPr marL="101600" marR="101600" marT="76200" marB="762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3C4A55"/>
                          </a:solidFill>
                          <a:latin typeface="Inter" pitchFamily="34" charset="0"/>
                          <a:ea typeface="Inter" pitchFamily="34" charset="-122"/>
                          <a:cs typeface="Inter" pitchFamily="34" charset="-120"/>
                        </a:rPr>
                        <a:t>Adj. revenue growth 6%</a:t>
                      </a:r>
                      <a:endParaRPr lang="en-US" sz="1200" dirty="0">
                        <a:latin typeface="Inter" charset="0"/>
                        <a:ea typeface="Inter" charset="0"/>
                        <a:cs typeface="Inter" charset="0"/>
                      </a:endParaRPr>
                    </a:p>
                  </a:txBody>
                  <a:tcPr marL="101600" marR="101600" marT="76200" marB="762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3C4A55"/>
                          </a:solidFill>
                          <a:latin typeface="Inter" pitchFamily="34" charset="0"/>
                          <a:ea typeface="Inter" pitchFamily="34" charset="-122"/>
                          <a:cs typeface="Inter" pitchFamily="34" charset="-120"/>
                        </a:rPr>
                        <a:t>+0.5 pt from cross-sell</a:t>
                      </a:r>
                      <a:endParaRPr lang="en-US" sz="1200" dirty="0">
                        <a:latin typeface="Inter" charset="0"/>
                        <a:ea typeface="Inter" charset="0"/>
                        <a:cs typeface="Inter" charset="0"/>
                      </a:endParaRPr>
                    </a:p>
                  </a:txBody>
                  <a:tcPr marL="101600" marR="101600" marT="76200" marB="762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680"/>
                        </a:lnSpc>
                        <a:buNone/>
                      </a:pPr>
                      <a:r>
                        <a:rPr lang="en-US" sz="1200" dirty="0">
                          <a:solidFill>
                            <a:srgbClr val="051C2C"/>
                          </a:solidFill>
                          <a:latin typeface="Inter" pitchFamily="34" charset="0"/>
                          <a:ea typeface="Inter" pitchFamily="34" charset="-122"/>
                          <a:cs typeface="Inter" pitchFamily="34" charset="-120"/>
                        </a:rPr>
                        <a:t>$53M</a:t>
                      </a:r>
                      <a:endParaRPr lang="en-US" sz="1200" dirty="0">
                        <a:latin typeface="Inter" charset="0"/>
                        <a:ea typeface="Inter" charset="0"/>
                        <a:cs typeface="Inter" charset="0"/>
                      </a:endParaRPr>
                    </a:p>
                  </a:txBody>
                  <a:tcPr marL="101600" marR="101600" marT="76200" marB="762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680"/>
                        </a:lnSpc>
                        <a:buNone/>
                      </a:pPr>
                      <a:r>
                        <a:rPr lang="en-US" sz="1200" dirty="0">
                          <a:solidFill>
                            <a:srgbClr val="2251FF"/>
                          </a:solidFill>
                          <a:latin typeface="Inter" pitchFamily="34" charset="0"/>
                          <a:ea typeface="Inter" pitchFamily="34" charset="-122"/>
                          <a:cs typeface="Inter" pitchFamily="34" charset="-120"/>
                        </a:rPr>
                        <a:t>$22M</a:t>
                      </a:r>
                      <a:endParaRPr lang="en-US" sz="1200" dirty="0">
                        <a:latin typeface="Inter" charset="0"/>
                        <a:ea typeface="Inter" charset="0"/>
                        <a:cs typeface="Inter" charset="0"/>
                      </a:endParaRPr>
                    </a:p>
                  </a:txBody>
                  <a:tcPr marL="101600" marR="101600" marT="76200" marB="762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78420">
                <a:tc>
                  <a:txBody>
                    <a:bodyPr/>
                    <a:lstStyle/>
                    <a:p>
                      <a:pPr indent="0" marL="0">
                        <a:lnSpc>
                          <a:spcPts val="1680"/>
                        </a:lnSpc>
                        <a:buNone/>
                      </a:pPr>
                      <a:r>
                        <a:rPr lang="en-US" sz="1200" dirty="0">
                          <a:solidFill>
                            <a:srgbClr val="051C2C"/>
                          </a:solidFill>
                          <a:latin typeface="Inter" pitchFamily="34" charset="0"/>
                          <a:ea typeface="Inter" pitchFamily="34" charset="-122"/>
                          <a:cs typeface="Inter" pitchFamily="34" charset="-120"/>
                        </a:rPr>
                        <a:t>Labor capacity</a:t>
                      </a:r>
                      <a:endParaRPr lang="en-US" sz="1200" dirty="0">
                        <a:latin typeface="Inter" charset="0"/>
                        <a:ea typeface="Inter" charset="0"/>
                        <a:cs typeface="Inter" charset="0"/>
                      </a:endParaRPr>
                    </a:p>
                  </a:txBody>
                  <a:tcPr marL="101600" marR="101600" marT="76200" marB="762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3C4A55"/>
                          </a:solidFill>
                          <a:latin typeface="Inter" pitchFamily="34" charset="0"/>
                          <a:ea typeface="Inter" pitchFamily="34" charset="-122"/>
                          <a:cs typeface="Inter" pitchFamily="34" charset="-120"/>
                        </a:rPr>
                        <a:t>3.09M hours freed ($170M)*</a:t>
                      </a:r>
                      <a:endParaRPr lang="en-US" sz="1200" dirty="0">
                        <a:latin typeface="Inter" charset="0"/>
                        <a:ea typeface="Inter" charset="0"/>
                        <a:cs typeface="Inter" charset="0"/>
                      </a:endParaRPr>
                    </a:p>
                  </a:txBody>
                  <a:tcPr marL="101600" marR="101600" marT="76200" marB="762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3C4A55"/>
                          </a:solidFill>
                          <a:latin typeface="Inter" pitchFamily="34" charset="0"/>
                          <a:ea typeface="Inter" pitchFamily="34" charset="-122"/>
                          <a:cs typeface="Inter" pitchFamily="34" charset="-120"/>
                        </a:rPr>
                        <a:t>15% to hard savings</a:t>
                      </a:r>
                      <a:endParaRPr lang="en-US" sz="1200" dirty="0">
                        <a:latin typeface="Inter" charset="0"/>
                        <a:ea typeface="Inter" charset="0"/>
                        <a:cs typeface="Inter" charset="0"/>
                      </a:endParaRPr>
                    </a:p>
                  </a:txBody>
                  <a:tcPr marL="101600" marR="101600" marT="76200" marB="762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680"/>
                        </a:lnSpc>
                        <a:buNone/>
                      </a:pPr>
                      <a:r>
                        <a:rPr lang="en-US" sz="1200" dirty="0">
                          <a:solidFill>
                            <a:srgbClr val="051C2C"/>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101600" marR="101600" marT="76200" marB="762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680"/>
                        </a:lnSpc>
                        <a:buNone/>
                      </a:pPr>
                      <a:r>
                        <a:rPr lang="en-US" sz="1200" dirty="0">
                          <a:solidFill>
                            <a:srgbClr val="2251FF"/>
                          </a:solidFill>
                          <a:latin typeface="Inter" pitchFamily="34" charset="0"/>
                          <a:ea typeface="Inter" pitchFamily="34" charset="-122"/>
                          <a:cs typeface="Inter" pitchFamily="34" charset="-120"/>
                        </a:rPr>
                        <a:t>$26M</a:t>
                      </a:r>
                      <a:endParaRPr lang="en-US" sz="1200" dirty="0">
                        <a:latin typeface="Inter" charset="0"/>
                        <a:ea typeface="Inter" charset="0"/>
                        <a:cs typeface="Inter" charset="0"/>
                      </a:endParaRPr>
                    </a:p>
                  </a:txBody>
                  <a:tcPr marL="101600" marR="101600" marT="76200" marB="7620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78420">
                <a:tc>
                  <a:txBody>
                    <a:bodyPr/>
                    <a:lstStyle/>
                    <a:p>
                      <a:pPr indent="0" marL="0">
                        <a:lnSpc>
                          <a:spcPts val="1680"/>
                        </a:lnSpc>
                        <a:buNone/>
                      </a:pPr>
                      <a:r>
                        <a:rPr lang="en-US" sz="1200" dirty="0">
                          <a:solidFill>
                            <a:srgbClr val="F4F6F8"/>
                          </a:solidFill>
                          <a:latin typeface="Inter" pitchFamily="34" charset="0"/>
                          <a:ea typeface="Inter" pitchFamily="34" charset="-122"/>
                          <a:cs typeface="Inter" pitchFamily="34" charset="-120"/>
                        </a:rPr>
                        <a:t>Total</a:t>
                      </a:r>
                      <a:endParaRPr lang="en-US" sz="1200" dirty="0">
                        <a:latin typeface="Inter" charset="0"/>
                        <a:ea typeface="Inter" charset="0"/>
                        <a:cs typeface="Inter" charset="0"/>
                      </a:endParaRPr>
                    </a:p>
                  </a:txBody>
                  <a:tcPr marL="101600" marR="101600" marT="76200" marB="76200" anchor="t">
                    <a:lnL w="12700" cap="flat" cmpd="sng" algn="ctr">
                      <a:solidFill>
                        <a:srgbClr val="C8C8C6"/>
                      </a:solidFill>
                      <a:prstDash val="solid"/>
                      <a:round/>
                      <a:headEnd type="none" w="med" len="med"/>
                      <a:tailEnd type="none" w="med" len="med"/>
                    </a:lnL>
                    <a:lnR w="12700" cap="flat" cmpd="sng" algn="ctr">
                      <a:solidFill>
                        <a:srgbClr val="081A27"/>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081A27"/>
                      </a:solidFill>
                      <a:prstDash val="solid"/>
                      <a:round/>
                      <a:headEnd type="none" w="med" len="med"/>
                      <a:tailEnd type="none" w="med" len="med"/>
                    </a:lnB>
                    <a:solidFill>
                      <a:srgbClr val="051C2C"/>
                    </a:solidFill>
                  </a:tcPr>
                </a:tc>
                <a:tc>
                  <a:txBody>
                    <a:bodyPr/>
                    <a:lstStyle/>
                    <a:p>
                      <a:pPr indent="0" marL="0">
                        <a:lnSpc>
                          <a:spcPts val="1680"/>
                        </a:lnSpc>
                        <a:buNone/>
                      </a:pPr>
                      <a:r>
                        <a:rPr lang="en-US" sz="1200" dirty="0">
                          <a:solidFill>
                            <a:srgbClr val="C9D4DD"/>
                          </a:solidFill>
                          <a:latin typeface="Inter" pitchFamily="34" charset="0"/>
                          <a:ea typeface="Inter" pitchFamily="34" charset="-122"/>
                          <a:cs typeface="Inter" pitchFamily="34" charset="-120"/>
                        </a:rPr>
                        <a:t>On $10.68B revenue</a:t>
                      </a:r>
                      <a:endParaRPr lang="en-US" sz="1200" dirty="0">
                        <a:latin typeface="Inter" charset="0"/>
                        <a:ea typeface="Inter" charset="0"/>
                        <a:cs typeface="Inter" charset="0"/>
                      </a:endParaRPr>
                    </a:p>
                  </a:txBody>
                  <a:tcPr marL="101600" marR="101600" marT="76200" marB="76200" anchor="t">
                    <a:lnL w="12700" cap="flat" cmpd="sng" algn="ctr">
                      <a:solidFill>
                        <a:srgbClr val="081A27"/>
                      </a:solidFill>
                      <a:prstDash val="solid"/>
                      <a:round/>
                      <a:headEnd type="none" w="med" len="med"/>
                      <a:tailEnd type="none" w="med" len="med"/>
                    </a:lnL>
                    <a:lnR w="12700" cap="flat" cmpd="sng" algn="ctr">
                      <a:solidFill>
                        <a:srgbClr val="081A27"/>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081A27"/>
                      </a:solidFill>
                      <a:prstDash val="solid"/>
                      <a:round/>
                      <a:headEnd type="none" w="med" len="med"/>
                      <a:tailEnd type="none" w="med" len="med"/>
                    </a:lnB>
                    <a:solidFill>
                      <a:srgbClr val="051C2C"/>
                    </a:solidFill>
                  </a:tcPr>
                </a:tc>
                <a:tc>
                  <a:txBody>
                    <a:bodyPr/>
                    <a:lstStyle/>
                    <a:p>
                      <a:pPr indent="0" marL="0">
                        <a:lnSpc>
                          <a:spcPts val="1680"/>
                        </a:lnSpc>
                        <a:buNone/>
                      </a:pPr>
                      <a:r>
                        <a:rPr lang="en-US" sz="1200" dirty="0">
                          <a:solidFill>
                            <a:srgbClr val="C9D4DD"/>
                          </a:solidFill>
                          <a:latin typeface="Inter" pitchFamily="34" charset="0"/>
                          <a:ea typeface="Inter" pitchFamily="34" charset="-122"/>
                          <a:cs typeface="Inter" pitchFamily="34" charset="-120"/>
                        </a:rPr>
                        <a:t>+4.7% adj. EBITDA</a:t>
                      </a:r>
                      <a:endParaRPr lang="en-US" sz="1200" dirty="0">
                        <a:latin typeface="Inter" charset="0"/>
                        <a:ea typeface="Inter" charset="0"/>
                        <a:cs typeface="Inter" charset="0"/>
                      </a:endParaRPr>
                    </a:p>
                  </a:txBody>
                  <a:tcPr marL="101600" marR="101600" marT="76200" marB="76200" anchor="t">
                    <a:lnL w="12700" cap="flat" cmpd="sng" algn="ctr">
                      <a:solidFill>
                        <a:srgbClr val="081A27"/>
                      </a:solidFill>
                      <a:prstDash val="solid"/>
                      <a:round/>
                      <a:headEnd type="none" w="med" len="med"/>
                      <a:tailEnd type="none" w="med" len="med"/>
                    </a:lnL>
                    <a:lnR w="12700" cap="flat" cmpd="sng" algn="ctr">
                      <a:solidFill>
                        <a:srgbClr val="081A27"/>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081A27"/>
                      </a:solidFill>
                      <a:prstDash val="solid"/>
                      <a:round/>
                      <a:headEnd type="none" w="med" len="med"/>
                      <a:tailEnd type="none" w="med" len="med"/>
                    </a:lnB>
                    <a:solidFill>
                      <a:srgbClr val="051C2C"/>
                    </a:solidFill>
                  </a:tcPr>
                </a:tc>
                <a:tc>
                  <a:txBody>
                    <a:bodyPr/>
                    <a:lstStyle/>
                    <a:p>
                      <a:pPr algn="r" indent="0" marL="0">
                        <a:lnSpc>
                          <a:spcPts val="1680"/>
                        </a:lnSpc>
                        <a:buNone/>
                      </a:pPr>
                      <a:r>
                        <a:rPr lang="en-US" sz="1200" dirty="0">
                          <a:solidFill>
                            <a:srgbClr val="F4F6F8"/>
                          </a:solidFill>
                          <a:latin typeface="Inter" pitchFamily="34" charset="0"/>
                          <a:ea typeface="Inter" pitchFamily="34" charset="-122"/>
                          <a:cs typeface="Inter" pitchFamily="34" charset="-120"/>
                        </a:rPr>
                        <a:t>$186M</a:t>
                      </a:r>
                      <a:endParaRPr lang="en-US" sz="1200" dirty="0">
                        <a:latin typeface="Inter" charset="0"/>
                        <a:ea typeface="Inter" charset="0"/>
                        <a:cs typeface="Inter" charset="0"/>
                      </a:endParaRPr>
                    </a:p>
                  </a:txBody>
                  <a:tcPr marL="101600" marR="101600" marT="76200" marB="76200" anchor="t">
                    <a:lnL w="12700" cap="flat" cmpd="sng" algn="ctr">
                      <a:solidFill>
                        <a:srgbClr val="081A27"/>
                      </a:solidFill>
                      <a:prstDash val="solid"/>
                      <a:round/>
                      <a:headEnd type="none" w="med" len="med"/>
                      <a:tailEnd type="none" w="med" len="med"/>
                    </a:lnL>
                    <a:lnR w="12700" cap="flat" cmpd="sng" algn="ctr">
                      <a:solidFill>
                        <a:srgbClr val="081A27"/>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081A27"/>
                      </a:solidFill>
                      <a:prstDash val="solid"/>
                      <a:round/>
                      <a:headEnd type="none" w="med" len="med"/>
                      <a:tailEnd type="none" w="med" len="med"/>
                    </a:lnB>
                    <a:solidFill>
                      <a:srgbClr val="051C2C"/>
                    </a:solidFill>
                  </a:tcPr>
                </a:tc>
                <a:tc>
                  <a:txBody>
                    <a:bodyPr/>
                    <a:lstStyle/>
                    <a:p>
                      <a:pPr algn="r" indent="0" marL="0">
                        <a:lnSpc>
                          <a:spcPts val="1680"/>
                        </a:lnSpc>
                        <a:buNone/>
                      </a:pPr>
                      <a:r>
                        <a:rPr lang="en-US" sz="1200" dirty="0">
                          <a:solidFill>
                            <a:srgbClr val="00A9F4"/>
                          </a:solidFill>
                          <a:latin typeface="Inter" pitchFamily="34" charset="0"/>
                          <a:ea typeface="Inter" pitchFamily="34" charset="-122"/>
                          <a:cs typeface="Inter" pitchFamily="34" charset="-120"/>
                        </a:rPr>
                        <a:t>$203M</a:t>
                      </a:r>
                      <a:endParaRPr lang="en-US" sz="1200" dirty="0">
                        <a:latin typeface="Inter" charset="0"/>
                        <a:ea typeface="Inter" charset="0"/>
                        <a:cs typeface="Inter" charset="0"/>
                      </a:endParaRPr>
                    </a:p>
                  </a:txBody>
                  <a:tcPr marL="101600" marR="101600" marT="76200" marB="76200" anchor="t">
                    <a:lnL w="12700" cap="flat" cmpd="sng" algn="ctr">
                      <a:solidFill>
                        <a:srgbClr val="081A27"/>
                      </a:solidFill>
                      <a:prstDash val="solid"/>
                      <a:round/>
                      <a:headEnd type="none" w="med" len="med"/>
                      <a:tailEnd type="none" w="med" len="med"/>
                    </a:lnL>
                    <a:lnR w="12700" cap="flat" cmpd="sng" algn="ctr">
                      <a:solidFill>
                        <a:srgbClr val="081A27"/>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081A27"/>
                      </a:solidFill>
                      <a:prstDash val="solid"/>
                      <a:round/>
                      <a:headEnd type="none" w="med" len="med"/>
                      <a:tailEnd type="none" w="med" len="med"/>
                    </a:lnB>
                    <a:solidFill>
                      <a:srgbClr val="051C2C"/>
                    </a:solidFill>
                  </a:tcPr>
                </a:tc>
              </a:tr>
            </a:tbl>
          </a:graphicData>
        </a:graphic>
      </p:graphicFrame>
      <p:sp>
        <p:nvSpPr>
          <p:cNvPr id="5" name="Text 2"/>
          <p:cNvSpPr/>
          <p:nvPr/>
        </p:nvSpPr>
        <p:spPr>
          <a:xfrm>
            <a:off x="812800" y="5384403"/>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B7680"/>
                </a:solidFill>
                <a:latin typeface="Inter" pitchFamily="34" charset="0"/>
                <a:ea typeface="Inter" pitchFamily="34" charset="-122"/>
                <a:cs typeface="Inter" pitchFamily="34" charset="-120"/>
              </a:rPr>
              <a:t>*Assumption to validate (labor: previous slide). Price levers flow 95% to EBITDA (BCG); volume levers at the 40.6% margin.</a:t>
            </a:r>
            <a:endParaRPr lang="en-US" sz="1200" dirty="0"/>
          </a:p>
        </p:txBody>
      </p:sp>
      <p:sp>
        <p:nvSpPr>
          <p:cNvPr id="6" name="Text 3"/>
          <p:cNvSpPr/>
          <p:nvPr/>
        </p:nvSpPr>
        <p:spPr>
          <a:xfrm>
            <a:off x="812800" y="6238280"/>
            <a:ext cx="68071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0"/>
                </a:solidFill>
                <a:latin typeface="Inter" pitchFamily="34" charset="0"/>
                <a:ea typeface="Inter" pitchFamily="34" charset="-122"/>
                <a:cs typeface="Inter" pitchFamily="34" charset="-120"/>
              </a:rPr>
              <a:t>Sources: FIS FY2025 results; MGI Research; BCG. Annual, run-rate, illustrative.</a:t>
            </a:r>
            <a:endParaRPr lang="en-US" sz="1200" dirty="0"/>
          </a:p>
        </p:txBody>
      </p:sp>
      <p:sp>
        <p:nvSpPr>
          <p:cNvPr id="7" name="Text 4"/>
          <p:cNvSpPr/>
          <p:nvPr/>
        </p:nvSpPr>
        <p:spPr>
          <a:xfrm>
            <a:off x="11176000" y="6238280"/>
            <a:ext cx="203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0"/>
                </a:solidFill>
                <a:latin typeface="Inter" pitchFamily="34" charset="0"/>
                <a:ea typeface="Inter" pitchFamily="34" charset="-122"/>
                <a:cs typeface="Inter"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251FF"/>
                </a:solidFill>
                <a:latin typeface="Inter" pitchFamily="34" charset="0"/>
                <a:ea typeface="Inter" pitchFamily="34" charset="-122"/>
                <a:cs typeface="Inter" pitchFamily="34" charset="-120"/>
              </a:rPr>
              <a:t>ROADMAP</a:t>
            </a:r>
            <a:endParaRPr lang="en-US" sz="1200" dirty="0"/>
          </a:p>
        </p:txBody>
      </p:sp>
      <p:sp>
        <p:nvSpPr>
          <p:cNvPr id="3" name="Text 1"/>
          <p:cNvSpPr/>
          <p:nvPr>
            <p:ph type="title"/>
          </p:nvPr>
        </p:nvSpPr>
        <p:spPr>
          <a:xfrm>
            <a:off x="812800" y="1127720"/>
            <a:ext cx="10883392" cy="784820"/>
          </a:xfrm>
          <a:prstGeom prst="rect">
            <a:avLst/>
          </a:prstGeom>
          <a:noFill/>
          <a:ln/>
        </p:spPr>
        <p:txBody>
          <a:bodyPr wrap="square" lIns="0" tIns="0" rIns="0" bIns="0" rtlCol="0" anchor="t">
            <a:normAutofit/>
          </a:bodyPr>
          <a:lstStyle/>
          <a:p>
            <a:pPr algn="l" indent="0" marL="0">
              <a:lnSpc>
                <a:spcPts val="2990"/>
              </a:lnSpc>
              <a:buNone/>
            </a:pPr>
            <a:r>
              <a:rPr lang="en-US" sz="2600" b="0" i="0" dirty="0">
                <a:solidFill>
                  <a:srgbClr val="051C2C"/>
                </a:solidFill>
                <a:latin typeface="Source Serif 4" pitchFamily="18" charset="0"/>
                <a:ea typeface="Source Serif 4" pitchFamily="18" charset="-122"/>
                <a:cs typeface="Source Serif 4" pitchFamily="18" charset="-120"/>
              </a:rPr>
              <a:t>Three waves deliver self-funding wins in 30 days and orchestration within four months</a:t>
            </a:r>
            <a:endParaRPr lang="en-US" sz="2600" dirty="0"/>
          </a:p>
        </p:txBody>
      </p:sp>
      <p:sp>
        <p:nvSpPr>
          <p:cNvPr id="4" name="Text 2"/>
          <p:cNvSpPr/>
          <p:nvPr/>
        </p:nvSpPr>
        <p:spPr>
          <a:xfrm>
            <a:off x="812800" y="2191941"/>
            <a:ext cx="3488234" cy="416520"/>
          </a:xfrm>
          <a:prstGeom prst="rect">
            <a:avLst/>
          </a:prstGeom>
          <a:solidFill>
            <a:srgbClr val="A9BCCD"/>
          </a:solidFill>
          <a:ln/>
        </p:spPr>
        <p:txBody>
          <a:bodyPr wrap="square" lIns="152400" tIns="101600" rIns="56897" bIns="76200" rtlCol="0" anchor="t">
            <a:normAutofit/>
          </a:bodyPr>
          <a:lstStyle/>
          <a:p>
            <a:pPr algn="l" indent="0" marL="0">
              <a:lnSpc>
                <a:spcPts val="1680"/>
              </a:lnSpc>
              <a:buNone/>
            </a:pPr>
            <a:r>
              <a:rPr lang="en-US" sz="1200" b="1" dirty="0">
                <a:solidFill>
                  <a:srgbClr val="051C2C"/>
                </a:solidFill>
                <a:latin typeface="Inter" pitchFamily="34" charset="0"/>
                <a:ea typeface="Inter" pitchFamily="34" charset="-122"/>
                <a:cs typeface="Inter" pitchFamily="34" charset="-120"/>
              </a:rPr>
              <a:t>Wave 1 · Month 1</a:t>
            </a:r>
            <a:endParaRPr lang="en-US" sz="1200" dirty="0"/>
          </a:p>
        </p:txBody>
      </p:sp>
      <p:sp>
        <p:nvSpPr>
          <p:cNvPr id="5" name="Text 3"/>
          <p:cNvSpPr/>
          <p:nvPr/>
        </p:nvSpPr>
        <p:spPr>
          <a:xfrm>
            <a:off x="4351834" y="2191941"/>
            <a:ext cx="3488283" cy="416520"/>
          </a:xfrm>
          <a:prstGeom prst="rect">
            <a:avLst/>
          </a:prstGeom>
          <a:solidFill>
            <a:srgbClr val="5F86B0"/>
          </a:solidFill>
          <a:ln/>
        </p:spPr>
        <p:txBody>
          <a:bodyPr wrap="square" lIns="152400" tIns="101600" rIns="56896" bIns="76200" rtlCol="0" anchor="t">
            <a:normAutofit/>
          </a:bodyPr>
          <a:lstStyle/>
          <a:p>
            <a:pPr algn="l" indent="0" marL="0">
              <a:lnSpc>
                <a:spcPts val="1680"/>
              </a:lnSpc>
              <a:buNone/>
            </a:pPr>
            <a:r>
              <a:rPr lang="en-US" sz="1200" b="1" dirty="0">
                <a:solidFill>
                  <a:srgbClr val="051C2C"/>
                </a:solidFill>
                <a:latin typeface="Inter" pitchFamily="34" charset="0"/>
                <a:ea typeface="Inter" pitchFamily="34" charset="-122"/>
                <a:cs typeface="Inter" pitchFamily="34" charset="-120"/>
              </a:rPr>
              <a:t>Wave 2 · Months 2–3</a:t>
            </a:r>
            <a:endParaRPr lang="en-US" sz="1200" dirty="0"/>
          </a:p>
        </p:txBody>
      </p:sp>
      <p:sp>
        <p:nvSpPr>
          <p:cNvPr id="6" name="Text 4"/>
          <p:cNvSpPr/>
          <p:nvPr/>
        </p:nvSpPr>
        <p:spPr>
          <a:xfrm>
            <a:off x="7890917" y="2191941"/>
            <a:ext cx="3488234" cy="416520"/>
          </a:xfrm>
          <a:prstGeom prst="rect">
            <a:avLst/>
          </a:prstGeom>
          <a:solidFill>
            <a:srgbClr val="2251FF"/>
          </a:solidFill>
          <a:ln/>
        </p:spPr>
        <p:txBody>
          <a:bodyPr wrap="square" lIns="152400" tIns="101600" rIns="56897" bIns="76200" rtlCol="0" anchor="t">
            <a:normAutofit/>
          </a:bodyPr>
          <a:lstStyle/>
          <a:p>
            <a:pPr algn="l" indent="0" marL="0">
              <a:lnSpc>
                <a:spcPts val="1680"/>
              </a:lnSpc>
              <a:buNone/>
            </a:pPr>
            <a:r>
              <a:rPr lang="en-US" sz="1200" b="1" dirty="0">
                <a:solidFill>
                  <a:srgbClr val="FFFFFF"/>
                </a:solidFill>
                <a:latin typeface="Inter" pitchFamily="34" charset="0"/>
                <a:ea typeface="Inter" pitchFamily="34" charset="-122"/>
                <a:cs typeface="Inter" pitchFamily="34" charset="-120"/>
              </a:rPr>
              <a:t>Wave 3 · Month 4</a:t>
            </a:r>
            <a:endParaRPr lang="en-US" sz="1200" dirty="0"/>
          </a:p>
        </p:txBody>
      </p:sp>
      <p:sp>
        <p:nvSpPr>
          <p:cNvPr id="7" name="Text 5"/>
          <p:cNvSpPr/>
          <p:nvPr/>
        </p:nvSpPr>
        <p:spPr>
          <a:xfrm>
            <a:off x="965200" y="2964061"/>
            <a:ext cx="3278937" cy="284460"/>
          </a:xfrm>
          <a:prstGeom prst="rect">
            <a:avLst/>
          </a:prstGeom>
          <a:noFill/>
          <a:ln/>
        </p:spPr>
        <p:txBody>
          <a:bodyPr wrap="square" lIns="0" tIns="0" rIns="0" bIns="0" rtlCol="0" anchor="t">
            <a:normAutofit/>
          </a:bodyPr>
          <a:lstStyle/>
          <a:p>
            <a:pPr algn="l" indent="0" marL="0">
              <a:lnSpc>
                <a:spcPts val="2040"/>
              </a:lnSpc>
              <a:buNone/>
            </a:pPr>
            <a:r>
              <a:rPr lang="en-US" sz="1700" dirty="0">
                <a:solidFill>
                  <a:srgbClr val="051C2C"/>
                </a:solidFill>
                <a:latin typeface="Source Serif 4" pitchFamily="18" charset="0"/>
                <a:ea typeface="Source Serif 4" pitchFamily="18" charset="-122"/>
                <a:cs typeface="Source Serif 4" pitchFamily="18" charset="-120"/>
              </a:rPr>
              <a:t>Connect and recover</a:t>
            </a:r>
            <a:endParaRPr lang="en-US" sz="1700" dirty="0"/>
          </a:p>
        </p:txBody>
      </p:sp>
      <p:sp>
        <p:nvSpPr>
          <p:cNvPr id="8" name="Text 6"/>
          <p:cNvSpPr/>
          <p:nvPr/>
        </p:nvSpPr>
        <p:spPr>
          <a:xfrm>
            <a:off x="968756" y="3324721"/>
            <a:ext cx="3270809" cy="939800"/>
          </a:xfrm>
          <a:prstGeom prst="rect">
            <a:avLst/>
          </a:prstGeom>
          <a:noFill/>
          <a:ln/>
        </p:spPr>
        <p:txBody>
          <a:bodyPr wrap="square" lIns="0" tIns="0" rIns="0" bIns="0" rtlCol="0" anchor="t">
            <a:normAutofit/>
          </a:bodyPr>
          <a:lstStyle/>
          <a:p>
            <a:pPr algn="l" marL="148844" indent="-148844">
              <a:lnSpc>
                <a:spcPts val="1800"/>
              </a:lnSpc>
              <a:buSzPct val="100000"/>
              <a:buChar char="•"/>
            </a:pPr>
            <a:r>
              <a:rPr lang="en-US" sz="1200" dirty="0">
                <a:solidFill>
                  <a:srgbClr val="24323D"/>
                </a:solidFill>
                <a:latin typeface="Inter" pitchFamily="34" charset="0"/>
                <a:ea typeface="Inter" pitchFamily="34" charset="-122"/>
                <a:cs typeface="Inter" pitchFamily="34" charset="-120"/>
              </a:rPr>
              <a:t>Unify contract, billing and invoicing data</a:t>
            </a:r>
            <a:endParaRPr lang="en-US" sz="1200" dirty="0"/>
          </a:p>
          <a:p>
            <a:pPr algn="l" marL="148844" indent="-148844">
              <a:lnSpc>
                <a:spcPts val="1800"/>
              </a:lnSpc>
              <a:buSzPct val="100000"/>
              <a:buChar char="•"/>
            </a:pPr>
            <a:r>
              <a:rPr lang="en-US" sz="1200" dirty="0">
                <a:solidFill>
                  <a:srgbClr val="24323D"/>
                </a:solidFill>
                <a:latin typeface="Inter" pitchFamily="34" charset="0"/>
                <a:ea typeface="Inter" pitchFamily="34" charset="-122"/>
                <a:cs typeface="Inter" pitchFamily="34" charset="-120"/>
              </a:rPr>
              <a:t>Revenue recovery pilot in [one LOB]</a:t>
            </a:r>
            <a:endParaRPr lang="en-US" sz="1200" dirty="0"/>
          </a:p>
          <a:p>
            <a:pPr algn="l" marL="148844" indent="-148844">
              <a:lnSpc>
                <a:spcPts val="1800"/>
              </a:lnSpc>
              <a:buSzPct val="100000"/>
              <a:buChar char="•"/>
            </a:pPr>
            <a:r>
              <a:rPr lang="en-US" sz="1200" dirty="0">
                <a:solidFill>
                  <a:srgbClr val="24323D"/>
                </a:solidFill>
                <a:latin typeface="Inter" pitchFamily="34" charset="0"/>
                <a:ea typeface="Inter" pitchFamily="34" charset="-122"/>
                <a:cs typeface="Inter" pitchFamily="34" charset="-120"/>
              </a:rPr>
              <a:t>Cost-to-serve model, version 1</a:t>
            </a:r>
            <a:endParaRPr lang="en-US" sz="1200" dirty="0"/>
          </a:p>
          <a:p>
            <a:pPr algn="l" marL="148844" indent="-148844">
              <a:lnSpc>
                <a:spcPts val="1800"/>
              </a:lnSpc>
              <a:buSzPct val="100000"/>
              <a:buChar char="•"/>
            </a:pPr>
            <a:r>
              <a:rPr lang="en-US" sz="1200" dirty="0">
                <a:solidFill>
                  <a:srgbClr val="24323D"/>
                </a:solidFill>
                <a:latin typeface="Inter" pitchFamily="34" charset="0"/>
                <a:ea typeface="Inter" pitchFamily="34" charset="-122"/>
                <a:cs typeface="Inter" pitchFamily="34" charset="-120"/>
              </a:rPr>
              <a:t>Portfolio view live</a:t>
            </a:r>
            <a:endParaRPr lang="en-US" sz="1200" dirty="0"/>
          </a:p>
        </p:txBody>
      </p:sp>
      <p:sp>
        <p:nvSpPr>
          <p:cNvPr id="9" name="Shape 7"/>
          <p:cNvSpPr/>
          <p:nvPr/>
        </p:nvSpPr>
        <p:spPr>
          <a:xfrm>
            <a:off x="4355009" y="2913261"/>
            <a:ext cx="0" cy="2928739"/>
          </a:xfrm>
          <a:prstGeom prst="line">
            <a:avLst/>
          </a:prstGeom>
          <a:noFill/>
          <a:ln w="6350">
            <a:solidFill>
              <a:srgbClr val="D5DCE2"/>
            </a:solidFill>
            <a:prstDash val="solid"/>
          </a:ln>
        </p:spPr>
      </p:sp>
      <p:sp>
        <p:nvSpPr>
          <p:cNvPr id="10" name="Text 8"/>
          <p:cNvSpPr/>
          <p:nvPr/>
        </p:nvSpPr>
        <p:spPr>
          <a:xfrm>
            <a:off x="4510584" y="2964061"/>
            <a:ext cx="3272447" cy="284460"/>
          </a:xfrm>
          <a:prstGeom prst="rect">
            <a:avLst/>
          </a:prstGeom>
          <a:noFill/>
          <a:ln/>
        </p:spPr>
        <p:txBody>
          <a:bodyPr wrap="square" lIns="0" tIns="0" rIns="0" bIns="0" rtlCol="0" anchor="t">
            <a:normAutofit/>
          </a:bodyPr>
          <a:lstStyle/>
          <a:p>
            <a:pPr algn="l" indent="0" marL="0">
              <a:lnSpc>
                <a:spcPts val="2040"/>
              </a:lnSpc>
              <a:buNone/>
            </a:pPr>
            <a:r>
              <a:rPr lang="en-US" sz="1700" dirty="0">
                <a:solidFill>
                  <a:srgbClr val="051C2C"/>
                </a:solidFill>
                <a:latin typeface="Source Serif 4" pitchFamily="18" charset="0"/>
                <a:ea typeface="Source Serif 4" pitchFamily="18" charset="-122"/>
                <a:cs typeface="Source Serif 4" pitchFamily="18" charset="-120"/>
              </a:rPr>
              <a:t>Predict</a:t>
            </a:r>
            <a:endParaRPr lang="en-US" sz="1700" dirty="0"/>
          </a:p>
        </p:txBody>
      </p:sp>
      <p:sp>
        <p:nvSpPr>
          <p:cNvPr id="11" name="Text 9"/>
          <p:cNvSpPr/>
          <p:nvPr/>
        </p:nvSpPr>
        <p:spPr>
          <a:xfrm>
            <a:off x="4514140" y="3324721"/>
            <a:ext cx="3264319" cy="939800"/>
          </a:xfrm>
          <a:prstGeom prst="rect">
            <a:avLst/>
          </a:prstGeom>
          <a:noFill/>
          <a:ln/>
        </p:spPr>
        <p:txBody>
          <a:bodyPr wrap="square" lIns="0" tIns="0" rIns="0" bIns="0" rtlCol="0" anchor="t">
            <a:normAutofit/>
          </a:bodyPr>
          <a:lstStyle/>
          <a:p>
            <a:pPr algn="l" marL="148844" indent="-148844">
              <a:lnSpc>
                <a:spcPts val="1800"/>
              </a:lnSpc>
              <a:buSzPct val="100000"/>
              <a:buChar char="•"/>
            </a:pPr>
            <a:r>
              <a:rPr lang="en-US" sz="1200" dirty="0">
                <a:solidFill>
                  <a:srgbClr val="24323D"/>
                </a:solidFill>
                <a:latin typeface="Inter" pitchFamily="34" charset="0"/>
                <a:ea typeface="Inter" pitchFamily="34" charset="-122"/>
                <a:cs typeface="Inter" pitchFamily="34" charset="-120"/>
              </a:rPr>
              <a:t>Add service, survey and telemetry signals</a:t>
            </a:r>
            <a:endParaRPr lang="en-US" sz="1200" dirty="0"/>
          </a:p>
          <a:p>
            <a:pPr algn="l" marL="148844" indent="-148844">
              <a:lnSpc>
                <a:spcPts val="1800"/>
              </a:lnSpc>
              <a:buSzPct val="100000"/>
              <a:buChar char="•"/>
            </a:pPr>
            <a:r>
              <a:rPr lang="en-US" sz="1200" dirty="0">
                <a:solidFill>
                  <a:srgbClr val="24323D"/>
                </a:solidFill>
                <a:latin typeface="Inter" pitchFamily="34" charset="0"/>
                <a:ea typeface="Inter" pitchFamily="34" charset="-122"/>
                <a:cs typeface="Inter" pitchFamily="34" charset="-120"/>
              </a:rPr>
              <a:t>Renewal, churn and compression scoring</a:t>
            </a:r>
            <a:endParaRPr lang="en-US" sz="1200" dirty="0"/>
          </a:p>
          <a:p>
            <a:pPr algn="l" marL="148844" indent="-148844">
              <a:lnSpc>
                <a:spcPts val="1800"/>
              </a:lnSpc>
              <a:buSzPct val="100000"/>
              <a:buChar char="•"/>
            </a:pPr>
            <a:r>
              <a:rPr lang="en-US" sz="1200" dirty="0">
                <a:solidFill>
                  <a:srgbClr val="24323D"/>
                </a:solidFill>
                <a:latin typeface="Inter" pitchFamily="34" charset="0"/>
                <a:ea typeface="Inter" pitchFamily="34" charset="-122"/>
                <a:cs typeface="Inter" pitchFamily="34" charset="-120"/>
              </a:rPr>
              <a:t>Recommendation engine and pitches</a:t>
            </a:r>
            <a:endParaRPr lang="en-US" sz="1200" dirty="0"/>
          </a:p>
          <a:p>
            <a:pPr algn="l" marL="148844" indent="-148844">
              <a:lnSpc>
                <a:spcPts val="1800"/>
              </a:lnSpc>
              <a:buSzPct val="100000"/>
              <a:buChar char="•"/>
            </a:pPr>
            <a:r>
              <a:rPr lang="en-US" sz="1200" dirty="0">
                <a:solidFill>
                  <a:srgbClr val="24323D"/>
                </a:solidFill>
                <a:latin typeface="Inter" pitchFamily="34" charset="0"/>
                <a:ea typeface="Inter" pitchFamily="34" charset="-122"/>
                <a:cs typeface="Inter" pitchFamily="34" charset="-120"/>
              </a:rPr>
              <a:t>Real-time revenue and cash forecast</a:t>
            </a:r>
            <a:endParaRPr lang="en-US" sz="1200" dirty="0"/>
          </a:p>
        </p:txBody>
      </p:sp>
      <p:sp>
        <p:nvSpPr>
          <p:cNvPr id="12" name="Shape 10"/>
          <p:cNvSpPr/>
          <p:nvPr/>
        </p:nvSpPr>
        <p:spPr>
          <a:xfrm>
            <a:off x="7894092" y="2913261"/>
            <a:ext cx="0" cy="2928739"/>
          </a:xfrm>
          <a:prstGeom prst="line">
            <a:avLst/>
          </a:prstGeom>
          <a:noFill/>
          <a:ln w="6350">
            <a:solidFill>
              <a:srgbClr val="D5DCE2"/>
            </a:solidFill>
            <a:prstDash val="solid"/>
          </a:ln>
        </p:spPr>
      </p:sp>
      <p:sp>
        <p:nvSpPr>
          <p:cNvPr id="13" name="Text 11"/>
          <p:cNvSpPr/>
          <p:nvPr/>
        </p:nvSpPr>
        <p:spPr>
          <a:xfrm>
            <a:off x="8049667" y="2964061"/>
            <a:ext cx="3272396" cy="284460"/>
          </a:xfrm>
          <a:prstGeom prst="rect">
            <a:avLst/>
          </a:prstGeom>
          <a:noFill/>
          <a:ln/>
        </p:spPr>
        <p:txBody>
          <a:bodyPr wrap="square" lIns="0" tIns="0" rIns="0" bIns="0" rtlCol="0" anchor="t">
            <a:normAutofit/>
          </a:bodyPr>
          <a:lstStyle/>
          <a:p>
            <a:pPr algn="l" indent="0" marL="0">
              <a:lnSpc>
                <a:spcPts val="2040"/>
              </a:lnSpc>
              <a:buNone/>
            </a:pPr>
            <a:r>
              <a:rPr lang="en-US" sz="1700" dirty="0">
                <a:solidFill>
                  <a:srgbClr val="051C2C"/>
                </a:solidFill>
                <a:latin typeface="Source Serif 4" pitchFamily="18" charset="0"/>
                <a:ea typeface="Source Serif 4" pitchFamily="18" charset="-122"/>
                <a:cs typeface="Source Serif 4" pitchFamily="18" charset="-120"/>
              </a:rPr>
              <a:t>Orchestrate</a:t>
            </a:r>
            <a:endParaRPr lang="en-US" sz="1700" dirty="0"/>
          </a:p>
        </p:txBody>
      </p:sp>
      <p:sp>
        <p:nvSpPr>
          <p:cNvPr id="14" name="Text 12"/>
          <p:cNvSpPr/>
          <p:nvPr/>
        </p:nvSpPr>
        <p:spPr>
          <a:xfrm>
            <a:off x="8053223" y="3324721"/>
            <a:ext cx="3264268" cy="1168400"/>
          </a:xfrm>
          <a:prstGeom prst="rect">
            <a:avLst/>
          </a:prstGeom>
          <a:noFill/>
          <a:ln/>
        </p:spPr>
        <p:txBody>
          <a:bodyPr wrap="square" lIns="0" tIns="0" rIns="0" bIns="0" rtlCol="0" anchor="t">
            <a:normAutofit/>
          </a:bodyPr>
          <a:lstStyle/>
          <a:p>
            <a:pPr algn="l" marL="148844" indent="-148844">
              <a:lnSpc>
                <a:spcPts val="1800"/>
              </a:lnSpc>
              <a:buSzPct val="100000"/>
              <a:buChar char="•"/>
            </a:pPr>
            <a:r>
              <a:rPr lang="en-US" sz="1200" dirty="0">
                <a:solidFill>
                  <a:srgbClr val="24323D"/>
                </a:solidFill>
                <a:latin typeface="Inter" pitchFamily="34" charset="0"/>
                <a:ea typeface="Inter" pitchFamily="34" charset="-122"/>
                <a:cs typeface="Inter" pitchFamily="34" charset="-120"/>
              </a:rPr>
              <a:t>Ambient agents across all five themes</a:t>
            </a:r>
            <a:endParaRPr lang="en-US" sz="1200" dirty="0"/>
          </a:p>
          <a:p>
            <a:pPr algn="l" marL="148844" indent="-148844">
              <a:lnSpc>
                <a:spcPts val="1800"/>
              </a:lnSpc>
              <a:buSzPct val="100000"/>
              <a:buChar char="•"/>
            </a:pPr>
            <a:r>
              <a:rPr lang="en-US" sz="1200" dirty="0">
                <a:solidFill>
                  <a:srgbClr val="24323D"/>
                </a:solidFill>
                <a:latin typeface="Inter" pitchFamily="34" charset="0"/>
                <a:ea typeface="Inter" pitchFamily="34" charset="-122"/>
                <a:cs typeface="Inter" pitchFamily="34" charset="-120"/>
              </a:rPr>
              <a:t>Confidence routing and guardrails live</a:t>
            </a:r>
            <a:endParaRPr lang="en-US" sz="1200" dirty="0"/>
          </a:p>
          <a:p>
            <a:pPr algn="l" marL="148844" indent="-148844">
              <a:lnSpc>
                <a:spcPts val="1800"/>
              </a:lnSpc>
              <a:buSzPct val="100000"/>
              <a:buChar char="•"/>
            </a:pPr>
            <a:r>
              <a:rPr lang="en-US" sz="1200" dirty="0">
                <a:solidFill>
                  <a:srgbClr val="24323D"/>
                </a:solidFill>
                <a:latin typeface="Inter" pitchFamily="34" charset="0"/>
                <a:ea typeface="Inter" pitchFamily="34" charset="-122"/>
                <a:cs typeface="Inter" pitchFamily="34" charset="-120"/>
              </a:rPr>
              <a:t>Whitespace and capital allocation</a:t>
            </a:r>
            <a:endParaRPr lang="en-US" sz="1200" dirty="0"/>
          </a:p>
          <a:p>
            <a:pPr algn="l" marL="148844" indent="-148844">
              <a:lnSpc>
                <a:spcPts val="1800"/>
              </a:lnSpc>
              <a:buSzPct val="100000"/>
              <a:buChar char="•"/>
            </a:pPr>
            <a:r>
              <a:rPr lang="en-US" sz="1200" dirty="0">
                <a:solidFill>
                  <a:srgbClr val="24323D"/>
                </a:solidFill>
                <a:latin typeface="Inter" pitchFamily="34" charset="0"/>
                <a:ea typeface="Inter" pitchFamily="34" charset="-122"/>
                <a:cs typeface="Inter" pitchFamily="34" charset="-120"/>
              </a:rPr>
              <a:t>Plan and go-ahead for enterprise scale-up</a:t>
            </a:r>
            <a:endParaRPr lang="en-US" sz="1200" dirty="0"/>
          </a:p>
        </p:txBody>
      </p:sp>
      <p:sp>
        <p:nvSpPr>
          <p:cNvPr id="15" name="Text 13"/>
          <p:cNvSpPr/>
          <p:nvPr/>
        </p:nvSpPr>
        <p:spPr>
          <a:xfrm>
            <a:off x="812800" y="6238280"/>
            <a:ext cx="23665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0"/>
                </a:solidFill>
                <a:latin typeface="Inter" pitchFamily="34" charset="0"/>
                <a:ea typeface="Inter" pitchFamily="34" charset="-122"/>
                <a:cs typeface="Inter" pitchFamily="34" charset="-120"/>
              </a:rPr>
              <a:t>Enterprise Intelligence | FIS</a:t>
            </a:r>
            <a:endParaRPr lang="en-US" sz="1200" dirty="0"/>
          </a:p>
        </p:txBody>
      </p:sp>
      <p:sp>
        <p:nvSpPr>
          <p:cNvPr id="16" name="Text 14"/>
          <p:cNvSpPr/>
          <p:nvPr/>
        </p:nvSpPr>
        <p:spPr>
          <a:xfrm>
            <a:off x="11171882" y="6238280"/>
            <a:ext cx="20731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0"/>
                </a:solidFill>
                <a:latin typeface="Inter" pitchFamily="34" charset="0"/>
                <a:ea typeface="Inter" pitchFamily="34" charset="-122"/>
                <a:cs typeface="Inter"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812800" y="812800"/>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251FF"/>
                </a:solidFill>
                <a:latin typeface="Inter" pitchFamily="34" charset="0"/>
                <a:ea typeface="Inter" pitchFamily="34" charset="-122"/>
                <a:cs typeface="Inter" pitchFamily="34" charset="-120"/>
              </a:rPr>
              <a:t>NEXT STEPS</a:t>
            </a:r>
            <a:endParaRPr lang="en-US" sz="1200" dirty="0"/>
          </a:p>
        </p:txBody>
      </p:sp>
      <p:sp>
        <p:nvSpPr>
          <p:cNvPr id="3" name="Text 1"/>
          <p:cNvSpPr/>
          <p:nvPr>
            <p:ph type="title"/>
          </p:nvPr>
        </p:nvSpPr>
        <p:spPr>
          <a:xfrm>
            <a:off x="812800" y="1127720"/>
            <a:ext cx="5127752" cy="1390898"/>
          </a:xfrm>
          <a:prstGeom prst="rect">
            <a:avLst/>
          </a:prstGeom>
          <a:noFill/>
          <a:ln/>
        </p:spPr>
        <p:txBody>
          <a:bodyPr wrap="square" lIns="0" tIns="0" rIns="0" bIns="0" rtlCol="0" anchor="t">
            <a:normAutofit/>
          </a:bodyPr>
          <a:lstStyle/>
          <a:p>
            <a:pPr algn="l" indent="0" marL="0">
              <a:lnSpc>
                <a:spcPts val="3584"/>
              </a:lnSpc>
              <a:buNone/>
            </a:pPr>
            <a:r>
              <a:rPr lang="en-US" sz="3200" b="0" i="0" dirty="0">
                <a:solidFill>
                  <a:srgbClr val="051C2C"/>
                </a:solidFill>
                <a:latin typeface="Source Serif 4" pitchFamily="18" charset="0"/>
                <a:ea typeface="Source Serif 4" pitchFamily="18" charset="-122"/>
                <a:cs typeface="Source Serif 4" pitchFamily="18" charset="-120"/>
              </a:rPr>
              <a:t>Confirm scope, data access and a pilot line of business</a:t>
            </a:r>
            <a:endParaRPr lang="en-US" sz="3200" dirty="0"/>
          </a:p>
        </p:txBody>
      </p:sp>
      <p:sp>
        <p:nvSpPr>
          <p:cNvPr id="4" name="Text 2"/>
          <p:cNvSpPr/>
          <p:nvPr/>
        </p:nvSpPr>
        <p:spPr>
          <a:xfrm>
            <a:off x="812800" y="2594818"/>
            <a:ext cx="512775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C4A55"/>
                </a:solidFill>
                <a:latin typeface="Inter" pitchFamily="34" charset="0"/>
                <a:ea typeface="Inter" pitchFamily="34" charset="-122"/>
                <a:cs typeface="Inter" pitchFamily="34" charset="-120"/>
              </a:rPr>
              <a:t>Decisions requested today: an executive sponsor, a pilot LOB and access to contract and billing data.</a:t>
            </a:r>
            <a:endParaRPr lang="en-US" sz="1400" dirty="0"/>
          </a:p>
        </p:txBody>
      </p:sp>
      <p:sp>
        <p:nvSpPr>
          <p:cNvPr id="5" name="Shape 3"/>
          <p:cNvSpPr/>
          <p:nvPr/>
        </p:nvSpPr>
        <p:spPr>
          <a:xfrm>
            <a:off x="6400800" y="819150"/>
            <a:ext cx="4978400" cy="0"/>
          </a:xfrm>
          <a:prstGeom prst="line">
            <a:avLst/>
          </a:prstGeom>
          <a:noFill/>
          <a:ln w="12700">
            <a:solidFill>
              <a:srgbClr val="051C2C"/>
            </a:solidFill>
            <a:prstDash val="solid"/>
          </a:ln>
        </p:spPr>
      </p:sp>
      <p:sp>
        <p:nvSpPr>
          <p:cNvPr id="6" name="Text 4"/>
          <p:cNvSpPr/>
          <p:nvPr/>
        </p:nvSpPr>
        <p:spPr>
          <a:xfrm>
            <a:off x="6400800" y="977900"/>
            <a:ext cx="508000" cy="477441"/>
          </a:xfrm>
          <a:prstGeom prst="rect">
            <a:avLst/>
          </a:prstGeom>
          <a:noFill/>
          <a:ln/>
        </p:spPr>
        <p:txBody>
          <a:bodyPr wrap="square" lIns="0" tIns="0" rIns="0" bIns="0" rtlCol="0" anchor="t">
            <a:normAutofit/>
          </a:bodyPr>
          <a:lstStyle/>
          <a:p>
            <a:pPr algn="l" indent="0" marL="0">
              <a:lnSpc>
                <a:spcPts val="2200"/>
              </a:lnSpc>
              <a:buNone/>
            </a:pPr>
            <a:r>
              <a:rPr lang="en-US" sz="2200" dirty="0">
                <a:solidFill>
                  <a:srgbClr val="2251FF"/>
                </a:solidFill>
                <a:latin typeface="Source Serif 4" pitchFamily="18" charset="0"/>
                <a:ea typeface="Source Serif 4" pitchFamily="18" charset="-122"/>
                <a:cs typeface="Source Serif 4" pitchFamily="18" charset="-120"/>
              </a:rPr>
              <a:t>1</a:t>
            </a:r>
            <a:endParaRPr lang="en-US" sz="2200" dirty="0"/>
          </a:p>
        </p:txBody>
      </p:sp>
      <p:sp>
        <p:nvSpPr>
          <p:cNvPr id="7" name="Text 5"/>
          <p:cNvSpPr/>
          <p:nvPr/>
        </p:nvSpPr>
        <p:spPr>
          <a:xfrm>
            <a:off x="6959600" y="977900"/>
            <a:ext cx="455218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51C2C"/>
                </a:solidFill>
                <a:latin typeface="Inter" pitchFamily="34" charset="0"/>
                <a:ea typeface="Inter" pitchFamily="34" charset="-122"/>
                <a:cs typeface="Inter" pitchFamily="34" charset="-120"/>
              </a:rPr>
              <a:t>Name the sponsor and pilot LOB</a:t>
            </a:r>
            <a:endParaRPr lang="en-US" sz="1400" dirty="0"/>
          </a:p>
        </p:txBody>
      </p:sp>
      <p:sp>
        <p:nvSpPr>
          <p:cNvPr id="8" name="Text 6"/>
          <p:cNvSpPr/>
          <p:nvPr/>
        </p:nvSpPr>
        <p:spPr>
          <a:xfrm>
            <a:off x="6959600" y="1216620"/>
            <a:ext cx="45521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A55"/>
                </a:solidFill>
                <a:latin typeface="Inter" pitchFamily="34" charset="0"/>
                <a:ea typeface="Inter" pitchFamily="34" charset="-122"/>
                <a:cs typeface="Inter" pitchFamily="34" charset="-120"/>
              </a:rPr>
              <a:t>[Owner] · [Date]</a:t>
            </a:r>
            <a:endParaRPr lang="en-US" sz="1200" dirty="0"/>
          </a:p>
        </p:txBody>
      </p:sp>
      <p:sp>
        <p:nvSpPr>
          <p:cNvPr id="9" name="Shape 7"/>
          <p:cNvSpPr/>
          <p:nvPr/>
        </p:nvSpPr>
        <p:spPr>
          <a:xfrm>
            <a:off x="6400800" y="1585516"/>
            <a:ext cx="4978400" cy="0"/>
          </a:xfrm>
          <a:prstGeom prst="line">
            <a:avLst/>
          </a:prstGeom>
          <a:noFill/>
          <a:ln w="6350">
            <a:solidFill>
              <a:srgbClr val="C9D1D8"/>
            </a:solidFill>
            <a:prstDash val="solid"/>
          </a:ln>
        </p:spPr>
      </p:sp>
      <p:sp>
        <p:nvSpPr>
          <p:cNvPr id="10" name="Text 8"/>
          <p:cNvSpPr/>
          <p:nvPr/>
        </p:nvSpPr>
        <p:spPr>
          <a:xfrm>
            <a:off x="6400800" y="1741091"/>
            <a:ext cx="508000" cy="477441"/>
          </a:xfrm>
          <a:prstGeom prst="rect">
            <a:avLst/>
          </a:prstGeom>
          <a:noFill/>
          <a:ln/>
        </p:spPr>
        <p:txBody>
          <a:bodyPr wrap="square" lIns="0" tIns="0" rIns="0" bIns="0" rtlCol="0" anchor="t">
            <a:normAutofit/>
          </a:bodyPr>
          <a:lstStyle/>
          <a:p>
            <a:pPr algn="l" indent="0" marL="0">
              <a:lnSpc>
                <a:spcPts val="2200"/>
              </a:lnSpc>
              <a:buNone/>
            </a:pPr>
            <a:r>
              <a:rPr lang="en-US" sz="2200" dirty="0">
                <a:solidFill>
                  <a:srgbClr val="2251FF"/>
                </a:solidFill>
                <a:latin typeface="Source Serif 4" pitchFamily="18" charset="0"/>
                <a:ea typeface="Source Serif 4" pitchFamily="18" charset="-122"/>
                <a:cs typeface="Source Serif 4" pitchFamily="18" charset="-120"/>
              </a:rPr>
              <a:t>2</a:t>
            </a:r>
            <a:endParaRPr lang="en-US" sz="2200" dirty="0"/>
          </a:p>
        </p:txBody>
      </p:sp>
      <p:sp>
        <p:nvSpPr>
          <p:cNvPr id="11" name="Text 9"/>
          <p:cNvSpPr/>
          <p:nvPr/>
        </p:nvSpPr>
        <p:spPr>
          <a:xfrm>
            <a:off x="6959600" y="1741091"/>
            <a:ext cx="455218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51C2C"/>
                </a:solidFill>
                <a:latin typeface="Inter" pitchFamily="34" charset="0"/>
                <a:ea typeface="Inter" pitchFamily="34" charset="-122"/>
                <a:cs typeface="Inter" pitchFamily="34" charset="-120"/>
              </a:rPr>
              <a:t>Grant contract and billing data access</a:t>
            </a:r>
            <a:endParaRPr lang="en-US" sz="1400" dirty="0"/>
          </a:p>
        </p:txBody>
      </p:sp>
      <p:sp>
        <p:nvSpPr>
          <p:cNvPr id="12" name="Text 10"/>
          <p:cNvSpPr/>
          <p:nvPr/>
        </p:nvSpPr>
        <p:spPr>
          <a:xfrm>
            <a:off x="6959600" y="1979811"/>
            <a:ext cx="45521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A55"/>
                </a:solidFill>
                <a:latin typeface="Inter" pitchFamily="34" charset="0"/>
                <a:ea typeface="Inter" pitchFamily="34" charset="-122"/>
                <a:cs typeface="Inter" pitchFamily="34" charset="-120"/>
              </a:rPr>
              <a:t>[Owner] · [Date]</a:t>
            </a:r>
            <a:endParaRPr lang="en-US" sz="1200" dirty="0"/>
          </a:p>
        </p:txBody>
      </p:sp>
      <p:sp>
        <p:nvSpPr>
          <p:cNvPr id="13" name="Shape 11"/>
          <p:cNvSpPr/>
          <p:nvPr/>
        </p:nvSpPr>
        <p:spPr>
          <a:xfrm>
            <a:off x="6400800" y="2348706"/>
            <a:ext cx="4978400" cy="0"/>
          </a:xfrm>
          <a:prstGeom prst="line">
            <a:avLst/>
          </a:prstGeom>
          <a:noFill/>
          <a:ln w="6350">
            <a:solidFill>
              <a:srgbClr val="C9D1D8"/>
            </a:solidFill>
            <a:prstDash val="solid"/>
          </a:ln>
        </p:spPr>
      </p:sp>
      <p:sp>
        <p:nvSpPr>
          <p:cNvPr id="14" name="Text 12"/>
          <p:cNvSpPr/>
          <p:nvPr/>
        </p:nvSpPr>
        <p:spPr>
          <a:xfrm>
            <a:off x="6400800" y="2504281"/>
            <a:ext cx="508000" cy="477441"/>
          </a:xfrm>
          <a:prstGeom prst="rect">
            <a:avLst/>
          </a:prstGeom>
          <a:noFill/>
          <a:ln/>
        </p:spPr>
        <p:txBody>
          <a:bodyPr wrap="square" lIns="0" tIns="0" rIns="0" bIns="0" rtlCol="0" anchor="t">
            <a:normAutofit/>
          </a:bodyPr>
          <a:lstStyle/>
          <a:p>
            <a:pPr algn="l" indent="0" marL="0">
              <a:lnSpc>
                <a:spcPts val="2200"/>
              </a:lnSpc>
              <a:buNone/>
            </a:pPr>
            <a:r>
              <a:rPr lang="en-US" sz="2200" dirty="0">
                <a:solidFill>
                  <a:srgbClr val="2251FF"/>
                </a:solidFill>
                <a:latin typeface="Source Serif 4" pitchFamily="18" charset="0"/>
                <a:ea typeface="Source Serif 4" pitchFamily="18" charset="-122"/>
                <a:cs typeface="Source Serif 4" pitchFamily="18" charset="-120"/>
              </a:rPr>
              <a:t>3</a:t>
            </a:r>
            <a:endParaRPr lang="en-US" sz="2200" dirty="0"/>
          </a:p>
        </p:txBody>
      </p:sp>
      <p:sp>
        <p:nvSpPr>
          <p:cNvPr id="15" name="Text 13"/>
          <p:cNvSpPr/>
          <p:nvPr/>
        </p:nvSpPr>
        <p:spPr>
          <a:xfrm>
            <a:off x="6959600" y="2504281"/>
            <a:ext cx="455218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51C2C"/>
                </a:solidFill>
                <a:latin typeface="Inter" pitchFamily="34" charset="0"/>
                <a:ea typeface="Inter" pitchFamily="34" charset="-122"/>
                <a:cs typeface="Inter" pitchFamily="34" charset="-120"/>
              </a:rPr>
              <a:t>Baseline the six value levers</a:t>
            </a:r>
            <a:endParaRPr lang="en-US" sz="1400" dirty="0"/>
          </a:p>
        </p:txBody>
      </p:sp>
      <p:sp>
        <p:nvSpPr>
          <p:cNvPr id="16" name="Text 14"/>
          <p:cNvSpPr/>
          <p:nvPr/>
        </p:nvSpPr>
        <p:spPr>
          <a:xfrm>
            <a:off x="6959600" y="2743002"/>
            <a:ext cx="45521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A55"/>
                </a:solidFill>
                <a:latin typeface="Inter" pitchFamily="34" charset="0"/>
                <a:ea typeface="Inter" pitchFamily="34" charset="-122"/>
                <a:cs typeface="Inter" pitchFamily="34" charset="-120"/>
              </a:rPr>
              <a:t>[Owner] · [Date]</a:t>
            </a:r>
            <a:endParaRPr lang="en-US" sz="1200" dirty="0"/>
          </a:p>
        </p:txBody>
      </p:sp>
      <p:sp>
        <p:nvSpPr>
          <p:cNvPr id="17" name="Shape 15"/>
          <p:cNvSpPr/>
          <p:nvPr/>
        </p:nvSpPr>
        <p:spPr>
          <a:xfrm>
            <a:off x="6400800" y="3111897"/>
            <a:ext cx="4978400" cy="0"/>
          </a:xfrm>
          <a:prstGeom prst="line">
            <a:avLst/>
          </a:prstGeom>
          <a:noFill/>
          <a:ln w="6350">
            <a:solidFill>
              <a:srgbClr val="C9D1D8"/>
            </a:solidFill>
            <a:prstDash val="solid"/>
          </a:ln>
        </p:spPr>
      </p:sp>
      <p:sp>
        <p:nvSpPr>
          <p:cNvPr id="18" name="Shape 16"/>
          <p:cNvSpPr/>
          <p:nvPr/>
        </p:nvSpPr>
        <p:spPr>
          <a:xfrm>
            <a:off x="6400800" y="3875088"/>
            <a:ext cx="4978400" cy="0"/>
          </a:xfrm>
          <a:prstGeom prst="line">
            <a:avLst/>
          </a:prstGeom>
          <a:noFill/>
          <a:ln w="6350">
            <a:solidFill>
              <a:srgbClr val="C9D1D8"/>
            </a:solidFill>
            <a:prstDash val="solid"/>
          </a:ln>
        </p:spPr>
      </p:sp>
      <p:sp>
        <p:nvSpPr>
          <p:cNvPr id="19" name="Text 17"/>
          <p:cNvSpPr/>
          <p:nvPr/>
        </p:nvSpPr>
        <p:spPr>
          <a:xfrm>
            <a:off x="6400800" y="3267472"/>
            <a:ext cx="508000" cy="477441"/>
          </a:xfrm>
          <a:prstGeom prst="rect">
            <a:avLst/>
          </a:prstGeom>
          <a:noFill/>
          <a:ln/>
        </p:spPr>
        <p:txBody>
          <a:bodyPr wrap="square" lIns="0" tIns="0" rIns="0" bIns="0" rtlCol="0" anchor="t">
            <a:normAutofit/>
          </a:bodyPr>
          <a:lstStyle/>
          <a:p>
            <a:pPr algn="l" indent="0" marL="0">
              <a:lnSpc>
                <a:spcPts val="2200"/>
              </a:lnSpc>
              <a:buNone/>
            </a:pPr>
            <a:r>
              <a:rPr lang="en-US" sz="2200" dirty="0">
                <a:solidFill>
                  <a:srgbClr val="2251FF"/>
                </a:solidFill>
                <a:latin typeface="Source Serif 4" pitchFamily="18" charset="0"/>
                <a:ea typeface="Source Serif 4" pitchFamily="18" charset="-122"/>
                <a:cs typeface="Source Serif 4" pitchFamily="18" charset="-120"/>
              </a:rPr>
              <a:t>4</a:t>
            </a:r>
            <a:endParaRPr lang="en-US" sz="2200" dirty="0"/>
          </a:p>
        </p:txBody>
      </p:sp>
      <p:sp>
        <p:nvSpPr>
          <p:cNvPr id="20" name="Text 18"/>
          <p:cNvSpPr/>
          <p:nvPr/>
        </p:nvSpPr>
        <p:spPr>
          <a:xfrm>
            <a:off x="6959600" y="3267472"/>
            <a:ext cx="455218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51C2C"/>
                </a:solidFill>
                <a:latin typeface="Inter" pitchFamily="34" charset="0"/>
                <a:ea typeface="Inter" pitchFamily="34" charset="-122"/>
                <a:cs typeface="Inter" pitchFamily="34" charset="-120"/>
              </a:rPr>
              <a:t>Run the 30-day recovery pilot</a:t>
            </a:r>
            <a:endParaRPr lang="en-US" sz="1400" dirty="0"/>
          </a:p>
        </p:txBody>
      </p:sp>
      <p:sp>
        <p:nvSpPr>
          <p:cNvPr id="21" name="Text 19"/>
          <p:cNvSpPr/>
          <p:nvPr/>
        </p:nvSpPr>
        <p:spPr>
          <a:xfrm>
            <a:off x="6959600" y="3506192"/>
            <a:ext cx="45521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A55"/>
                </a:solidFill>
                <a:latin typeface="Inter" pitchFamily="34" charset="0"/>
                <a:ea typeface="Inter" pitchFamily="34" charset="-122"/>
                <a:cs typeface="Inter" pitchFamily="34" charset="-120"/>
              </a:rPr>
              <a:t>[Owner] · [Date]</a:t>
            </a:r>
            <a:endParaRPr lang="en-US" sz="1200" dirty="0"/>
          </a:p>
        </p:txBody>
      </p:sp>
      <p:sp>
        <p:nvSpPr>
          <p:cNvPr id="22" name="Text 20"/>
          <p:cNvSpPr/>
          <p:nvPr/>
        </p:nvSpPr>
        <p:spPr>
          <a:xfrm>
            <a:off x="812800" y="6238280"/>
            <a:ext cx="23665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0"/>
                </a:solidFill>
                <a:latin typeface="Inter" pitchFamily="34" charset="0"/>
                <a:ea typeface="Inter" pitchFamily="34" charset="-122"/>
                <a:cs typeface="Inter" pitchFamily="34" charset="-120"/>
              </a:rPr>
              <a:t>Enterprise Intelligence | FIS</a:t>
            </a:r>
            <a:endParaRPr lang="en-US" sz="1200" dirty="0"/>
          </a:p>
        </p:txBody>
      </p:sp>
      <p:sp>
        <p:nvSpPr>
          <p:cNvPr id="23" name="Text 21"/>
          <p:cNvSpPr/>
          <p:nvPr/>
        </p:nvSpPr>
        <p:spPr>
          <a:xfrm>
            <a:off x="11180167" y="6238280"/>
            <a:ext cx="19903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80"/>
                </a:solidFill>
                <a:latin typeface="Inter" pitchFamily="34" charset="0"/>
                <a:ea typeface="Inter" pitchFamily="34" charset="-122"/>
                <a:cs typeface="Inter" pitchFamily="34" charset="-120"/>
              </a:rPr>
              <a:t>17</a:t>
            </a:r>
            <a:endParaRPr lang="en-US" sz="1200" dirty="0"/>
          </a:p>
        </p:txBody>
      </p:sp>
    </p:spTree>
  </p:cSld>
  <p:clrMapOvr>
    <a:masterClrMapping/>
  </p:clrMapOvr>
</p:sld>
</file>

<file path=ppt/theme/theme1.xml><?xml version="1.0" encoding="utf-8"?>
<a:theme xmlns:a="http://schemas.openxmlformats.org/drawingml/2006/main" name="Enterprise Intelligence: From Aggregated to Orchestrated">
  <a:themeElements>
    <a:clrScheme name="Enterprise Intelligence: From Aggregated to Orchestrated">
      <a:dk1>
        <a:srgbClr val="051C2C"/>
      </a:dk1>
      <a:lt1>
        <a:srgbClr val="FBFBF9"/>
      </a:lt1>
      <a:dk2>
        <a:srgbClr val="43545F"/>
      </a:dk2>
      <a:lt2>
        <a:srgbClr val="E2E5E5"/>
      </a:lt2>
      <a:accent1>
        <a:srgbClr val="2251FF"/>
      </a:accent1>
      <a:accent2>
        <a:srgbClr val="00A9F4"/>
      </a:accent2>
      <a:accent3>
        <a:srgbClr val="5F86B0"/>
      </a:accent3>
      <a:accent4>
        <a:srgbClr val="7F9DB8"/>
      </a:accent4>
      <a:accent5>
        <a:srgbClr val="3C4A55"/>
      </a:accent5>
      <a:accent6>
        <a:srgbClr val="6B7680"/>
      </a:accent6>
      <a:hlink>
        <a:srgbClr val="0563C1"/>
      </a:hlink>
      <a:folHlink>
        <a:srgbClr val="954F72"/>
      </a:folHlink>
    </a:clrScheme>
    <a:fontScheme name="Enterprise Intelligence: From Aggregated to Orchestrated">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Enterprise Intelligence: From Aggregated to Orchestrated</dc:title>
  <dc:subject/>
  <dc:creator/>
  <cp:lastModifiedBy/>
  <cp:revision>1</cp:revision>
  <dcterms:created xsi:type="dcterms:W3CDTF">2026-10-28T15:03:48Z</dcterms:created>
  <dcterms:modified xsi:type="dcterms:W3CDTF">2026-10-28T15:03:48Z</dcterms:modified>
</cp:coreProperties>
</file>