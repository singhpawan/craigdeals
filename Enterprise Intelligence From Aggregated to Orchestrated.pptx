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Default Extension="fntdata" ContentType="application/x-fontdata"/>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embeddedFontLst>
    <p:embeddedFont>
      <p:font typeface="Inter" panose="02000503000000020004" pitchFamily="34" charset="0"/>
      <p:regular r:id="rId30"/>
      <p:bold r:id="rId31"/>
      <p:italic r:id="rId32"/>
      <p:boldItalic r:id="rId33"/>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 Id="rId30" Type="http://schemas.openxmlformats.org/officeDocument/2006/relationships/font" Target="fonts/font1.fntdata"/><Relationship Id="rId31" Type="http://schemas.openxmlformats.org/officeDocument/2006/relationships/font" Target="fonts/font2.fntdata"/><Relationship Id="rId32" Type="http://schemas.openxmlformats.org/officeDocument/2006/relationships/font" Target="fonts/font3.fntdata"/><Relationship Id="rId33" Type="http://schemas.openxmlformats.org/officeDocument/2006/relationships/font" Target="fonts/font4.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lines, three jobs: the kicker says what it is, the title states FIS's own strategy (orchestrated intelligence), and the subtitle sizes the prize against FIS's own goals of commercial and operational excellence. The $195M is estimated annual EBITDA from the value-at-stake slide. Open with the promise: FIS already generates every signal it needs to grow margin and cut churn. Today those signals are aggregated into reports. This proposal is about orchestrating them — turning data into decisions and decisions into action, with people firmly in charge of the critical calls. The animation shows it: cyan signals flow in from every source to the brain at the centre, and white actions flow back out. Alternative titles: "The Agentic Organization" or "Heart and Brain: orchestrating intelligence across FIS".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rows, one story: signal, gap, action, prize. Context: FIS already generates every signal it needs. Problem: those signals are aggregated, not orchestrated, so margin leaks and churn shows up too late. Proposal: a shift to AI that acts, not just assists (the CEO's own words from the FIS and Anthropic announcement, applied to FIS itself), with people on the critical calls. Value: an estimated $195M in annual EBITDA (slide 15) and about 3 million hours a year given back to our people (slide 14), with revenue recovery funding the first wave in the four-month roadmap.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staircase left to right. FIS is not stuck at stage 1: it has strong pockets of aggregation, analysis and prediction, built by capable teams. The gap is that they sit in silos and do not connect. The step change is stage 4: orchestration joins those pockets up, so the system does not just tell you what will happen, it takes the next best action and brings people in where judgment matters. This builds on what FIS has already invested in rather than replacing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left to right: signals in, one connected view in the middle, results out. We start with 12 signals FIS already owns: contracts, billing, invoicing, tickets, SLAs, incidents, surveys, product catalog, usage telemetry, vendors, vendor contracts and time tracking. More can be added over time. Enterprise Intelligence joins them on a common view of every client, contract and product, then does the work: it knows the true cost to serve, finds unbilled revenue, spots each client's next best product and forecasts revenue and cash live. Agents act on high-confidence work; our people make the critical calls. The results map to FIS's goals: higher margins, stronger retention and faster growth.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Animated alternative to slide 4: keep one of the two and delete the other. Let the animation run for a few seconds before speaking. On the left, the 12 signals FIS already owns light up as they send data in. In the middle, Enterprise Intelligence works like a cortex: neurons fire as signals arrive and connections light up as it reasons, while the caption underneath cycles through what it does (sees every client and contract, knows the true cost to serve, finds unbilled revenue, spots each client's next buy, forecasts revenue and cash live, and agents act while our people decide). On the right, each result glows as actions arrive: higher margins, stronger retention and faster growth. In PowerPoint or PDF exports this slide shows as a still image.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organising framework a practice team would use: each theme answers one executive question and owns a set of use cases. Themes 1 and 4 are about margin, 2 about retention, 3 about growth, and 5 is the steering layer that sits on top. The next five slides take each in turn.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Most enterprises know revenue by client; few know the true cost to serve. Allocating vendor licensing, contractor time and employee time to contracts, clients and products gives real margin. The matrix then turns that into action: invest, nurture, reprice or exit. This also feeds renewal pricing so we stop renewing unprofitable terms.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client almost always tells us they are unhappy, just not in words. Incidents, SLA breaches, aging tickets, survey dips and falling usage form a chain that precedes escalation. The agent watches that chain against the renewal calendar and intervenes before the client raises the issue. Compression matters as much as churn: a renewal at a lower price or reduced scope is a quiet loss.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Collaborative filtering is how streaming services recommend what to watch next; here it recommends what each client should buy next, based on what similar clients already own. Each recommendation becomes a ready-made pitch with peer evidence. Aggregating the same analysis across segments, products and regions shows whitespace: where to enter new markets and territories. Replace the placeholders with FIS segments and products.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usually the fastest, self-funding win. The engine reads what was signed, compares it line by line to what was billed and used, and packages any gap with the evidence a client will accept: the clause, the usage proof and the invoice history. Contract analysis uses the same engine to compare terms across contracts and flag non-standard clauses. The $68M is estimated annual recovered revenue (about $65M EBITDA) from the value-at-stake slide: 40% recovery of an assumed 2% leakage on $8.5B of recurring revenue. Validate it with a pilot line of business.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leadership layer. Because every contract, renewal and risk score is live, the portfolio view, the revenue and cash forecast and the capital allocation decision all draw on the same numbers. Capital moves toward products and segments with expanding margin and renewal strength, and away from those compressing.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wheel clockwise from the top. Signals flow into the enterprise brain. The Client Office uses them to fix product quality and client experience before the client raises an issue. That earns the Commercial Office the right to renew, upsell and cross-sell. Better retention, recovered revenue and true cost-to-serve lift margin and cut churn and compression. The CSO reallocates that freed capital in real time: grow, sustain or fix, and build, partner or buy to close portfolio gaps. Product investment creates better products, more usage and more signal, and the wheel turns faster. Two speeds: the operating loop runs weekly; the strategic loop moves from the annual budget cycle to continuous allocation. Source: BCG, The Widening AI Value Gap, September 2025.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human-agent collaboration framework. Ambient agents run continuously in the background. Confidence and business impact decide who acts: the agent alone, the agent with one-click approval, or a person with the agent's evidence. Thresholds are set by policy and every action is auditable, which matters in a regulated business. As agents prove accurate, thresholds can move and autonomy grows.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emotional centre of the story. This is not about replacing people; it is about amplifying them. The brain takes on the monitoring, reconciling and drafting; the heart spends its time with clients and on the calls that need judgment. Together they work as one: a symphony of the heart and the brain. Say the headline slowly: the brain thinks at scale; our people care up close. The 3 million hours come from the labor slide (3.09M hours a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FIS 10-K FY2025 (more than 44,000 employees); role pools, time shares and automation rates are estimates. Method: people × 1,800 productive hours × time share on the workflow × share agents take over. Client service: 8,800 people, 30% of time on triage, incident and SLA summaries, 40% automated. FP&amp;A, BI and strategy: 1,056 (40% of time, 50% automated). Billing and finance ops: 1,584 (25%, 50%). Renewal and account health: 990 (20%, 50%). Deal desk and legal ops: 360 (50%, 40%). Cross-sell, upsell and sales: 900 (10%, 50%). Procurement and vendor management: 240 (30%, 50%). The total, 1,717 FTEs, is about 4% of FIS's workforce and 12% of the time in scope. How it lands in the value case: at an assumed ~10% annual attrition, about 170 of the 1,717 freed roles are not backfilled as people leave, so 10% of the $170M capacity is counted as hard EBITDA ($17M). No layoffs are assumed. The other 90% is redeployed into proactive client work, which is what delivers the churn, compression and growth levers on the next slide, so it is not counted twice. Position this as capacity released, not headcount cut.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Baselines come from FIS's FY2025 results: revenue of $10,677M, recurring revenue of $8,543M (80%), adjusted EBITDA of $4,331M at a 40.6% margin, and 6% adjusted revenue growth. Labor capacity comes from the previous slide: 3.09M hours (about 1,720 FTEs) worth $170M at $55 an hour; at ~10% annual attrition, only 10% ($17M) is counted as hard savings from roles not backfilled, and the redeployed 90% is what delivers the churn, compression and growth levers, so it is not double counted. Revenue recovery: MGI Research puts revenue leakage at 3 to 5% of revenue. We assume only 2% on recurring revenue because FIS's billing is mature, which is $171M. Recovering 40% gives $68M a year, and BCG finds about 95% of revenue-assurance value flows to the bottom line. A two-year contractual look-back could add a one-time back-bill of roughly $137M, where contracts allow. FIS does not disclose churn and compression, so the 3.0% and 1.0% figures are assumptions to replace with internal data. Volume levers (churn, growth) are converted to EBITDA at the 40.6% average margin, which is conservative because retained revenue usually carries a higher incremental margin. Scale-up: FIS's 2026 outlook of about $13.8B in revenue, including acquisitions, would lift these figures by roughly 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Sequence by readiness. Month 1 starts with what we can do today, on data we already have: renewal and churn risk scoring, early warning on price compression, each client's next buy with a ready pitch, and a live portfolio view. Months 2 and 3 connect contract, billing and invoicing data, which needs more work, to unlock revenue recovery in a pilot line of business, the true cost to serve and a live revenue and cash forecast. Month 4 hands work to agents under clear guardrails and ends with a scale-up decision for the rest of FIS. This pace assumes data access is granted early and a dedicated pilot team; timings should be validated with data owners.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Change of gear: from the idea to the product. These views show what we can do today: renewal and churn risk, next-buy recommendations, which products to invest in and where the gaps are, and agents working with our people. Show each screen, point to the numbered callouts, and keep it short. If presenting live, run the demo here and keep the next three slides as backup.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Proof of theme 02, Protect the base. Point to the at-risk client, then the signals behind the score, then the suggested intervention. The message: we see the problem before the client raises it, and our people decide what to 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Proof of theme 03, Grow the base. Point to the recommended product, the peer evidence that makes it credible, and the drafted pitch the account team can use or edit. The message: our installed base already tells us what to sell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Proof of themes 01 and 05: know the true economics, then steer capital. Point to each product's true margin, then its growth and renewal strength, then the grow, sustain or fix call. The message: capital goes where live revenue impact is highest, not where last year's budget put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Proof of the strategic loop on the flywheel. Point to where each product is strong, then the gaps where similar clients already buy, then the size of each gap. The message: the same view that drives cross-sell also tells the strategy office where to build, partner or buy to close portfolio gaps.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Proof of the operating model on slide 12: the agent does the work, shows its evidence and confidence, and a person approves, edits or declines in one step. Every action is logged for audit. Close here with the ask: an executive sponsor, a pilot line of business and access to the data. That is what turns this demo into wave 1 of the roadmap.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and body">
    <p:bg>
      <p:bgPr>
        <a:solidFill>
          <a:srgbClr val="FBFBF9"/>
        </a:solidFill>
      </p:bgPr>
    </p:bg>
    <p:spTree>
      <p:nvGrpSpPr>
        <p:cNvPr id="1" name=""/>
        <p:cNvGrpSpPr/>
        <p:nvPr/>
      </p:nvGrpSpPr>
      <p:grpSpPr>
        <a:xfrm>
          <a:off x="0" y="0"/>
          <a:ext cx="0" cy="0"/>
          <a:chOff x="0" y="0"/>
          <a:chExt cx="0" cy="0"/>
        </a:xfrm>
      </p:grpSpPr>
      <p:sp>
        <p:nvSpPr>
          <p:cNvPr id="2" name="Title Placeholder 1"/>
          <p:cNvSpPr/>
          <p:nvPr>
            <p:ph type="title"/>
          </p:nvPr>
        </p:nvSpPr>
        <p:spPr>
          <a:xfrm>
            <a:off x="812800" y="1127720"/>
            <a:ext cx="10566400" cy="759420"/>
          </a:xfrm>
          <a:prstGeom prst="rect">
            <a:avLst/>
          </a:prstGeom>
          <a:noFill/>
          <a:ln/>
        </p:spPr>
        <p:txBody>
          <a:bodyPr wrap="square" lIns="0" tIns="0" rIns="0" bIns="0" rtlCol="0" anchor="t"/>
          <a:lstStyle>
            <a:lvl1pPr algn="l" indent="0" marL="0">
              <a:lnSpc>
                <a:spcPct val="115000"/>
              </a:lnSpc>
              <a:buNone/>
              <a:defRPr lang="en-US" sz="2600" dirty="0">
                <a:solidFill>
                  <a:srgbClr val="051C2C"/>
                </a:solidFill>
                <a:latin typeface="Source Serif 4" pitchFamily="34" charset="0"/>
                <a:ea typeface="Source Serif 4" pitchFamily="34" charset="-122"/>
                <a:cs typeface="Source Serif 4" pitchFamily="34" charset="-120"/>
              </a:defRPr>
            </a:lvl1pPr>
          </a:lstStyle>
          <a:p>
            <a:pPr algn="l" indent="0" marL="0">
              <a:lnSpc>
                <a:spcPct val="115000"/>
              </a:lnSpc>
              <a:buNone/>
            </a:pPr>
            <a:endParaRPr lang="en-US" sz="2600" dirty="0"/>
          </a:p>
        </p:txBody>
      </p:sp>
      <p:sp>
        <p:nvSpPr>
          <p:cNvPr id="3" name="Text Placeholder 2"/>
          <p:cNvSpPr/>
          <p:nvPr>
            <p:ph idx="101" type="body"/>
          </p:nvPr>
        </p:nvSpPr>
        <p:spPr>
          <a:xfrm>
            <a:off x="812800" y="2191941"/>
            <a:ext cx="10566400" cy="3853259"/>
          </a:xfrm>
          <a:prstGeom prst="rect">
            <a:avLst/>
          </a:prstGeom>
          <a:noFill/>
          <a:ln/>
        </p:spPr>
        <p:txBody>
          <a:bodyPr wrap="square" lIns="0" tIns="0" rIns="0" bIns="0" rtlCol="0" anchor="t"/>
          <a:lstStyle>
            <a:lvl1pPr algn="l" indent="0" marL="0">
              <a:lnSpc>
                <a:spcPct val="140000"/>
              </a:lnSpc>
              <a:buNone/>
              <a:defRPr lang="en-US" sz="1600" dirty="0">
                <a:solidFill>
                  <a:srgbClr val="051C2C"/>
                </a:solidFill>
                <a:latin typeface="Inter" pitchFamily="34" charset="0"/>
                <a:ea typeface="Inter" pitchFamily="34" charset="-122"/>
                <a:cs typeface="Inter" pitchFamily="34" charset="-120"/>
              </a:defRPr>
            </a:lvl1pPr>
          </a:lstStyle>
          <a:p>
            <a:pPr algn="l" indent="0" marL="0">
              <a:lnSpc>
                <a:spcPct val="140000"/>
              </a:lnSpc>
              <a:buNone/>
            </a:pPr>
            <a:endParaRPr lang="en-US" sz="1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BFBF9"/>
        </a:solidFill>
      </p:bgPr>
    </p:bg>
    <p:spTree>
      <p:nvGrpSpPr>
        <p:cNvPr id="1" name=""/>
        <p:cNvGrpSpPr/>
        <p:nvPr/>
      </p:nvGrpSpPr>
      <p:grpSpPr>
        <a:xfrm>
          <a:off x="0" y="0"/>
          <a:ext cx="0" cy="0"/>
          <a:chOff x="0" y="0"/>
          <a:chExt cx="0" cy="0"/>
        </a:xfrm>
      </p:grpSpPr>
      <p:sp>
        <p:nvSpPr>
          <p:cNvPr id="2" name="Title Placeholder 1"/>
          <p:cNvSpPr/>
          <p:nvPr>
            <p:ph type="title"/>
          </p:nvPr>
        </p:nvSpPr>
        <p:spPr>
          <a:xfrm>
            <a:off x="812800" y="1127720"/>
            <a:ext cx="10566400" cy="759420"/>
          </a:xfrm>
          <a:prstGeom prst="rect">
            <a:avLst/>
          </a:prstGeom>
          <a:noFill/>
          <a:ln/>
        </p:spPr>
        <p:txBody>
          <a:bodyPr wrap="square" lIns="0" tIns="0" rIns="0" bIns="0" rtlCol="0" anchor="t"/>
          <a:lstStyle>
            <a:lvl1pPr algn="l" indent="0" marL="0">
              <a:lnSpc>
                <a:spcPct val="115000"/>
              </a:lnSpc>
              <a:buNone/>
              <a:defRPr lang="en-US" sz="2600" dirty="0">
                <a:solidFill>
                  <a:srgbClr val="051C2C"/>
                </a:solidFill>
                <a:latin typeface="Source Serif 4" pitchFamily="34" charset="0"/>
                <a:ea typeface="Source Serif 4" pitchFamily="34" charset="-122"/>
                <a:cs typeface="Source Serif 4" pitchFamily="34" charset="-120"/>
              </a:defRPr>
            </a:lvl1pPr>
          </a:lstStyle>
          <a:p>
            <a:pPr algn="l" indent="0" marL="0">
              <a:lnSpc>
                <a:spcPct val="115000"/>
              </a:lnSpc>
              <a:buNone/>
            </a:pPr>
            <a:endParaRPr lang="en-US" sz="2600" dirty="0"/>
          </a:p>
        </p:txBody>
      </p:sp>
      <p:sp>
        <p:nvSpPr>
          <p:cNvPr id="3" name="Text Placeholder 2"/>
          <p:cNvSpPr/>
          <p:nvPr>
            <p:ph idx="101" type="body"/>
          </p:nvPr>
        </p:nvSpPr>
        <p:spPr>
          <a:xfrm>
            <a:off x="812800" y="2191941"/>
            <a:ext cx="10566400" cy="3853259"/>
          </a:xfrm>
          <a:prstGeom prst="rect">
            <a:avLst/>
          </a:prstGeom>
          <a:noFill/>
          <a:ln/>
        </p:spPr>
        <p:txBody>
          <a:bodyPr wrap="square" lIns="0" tIns="0" rIns="0" bIns="0" rtlCol="0" anchor="t"/>
          <a:lstStyle>
            <a:lvl1pPr algn="l" indent="0" marL="0">
              <a:lnSpc>
                <a:spcPct val="140000"/>
              </a:lnSpc>
              <a:buNone/>
              <a:defRPr lang="en-US" sz="1600" dirty="0">
                <a:solidFill>
                  <a:srgbClr val="051C2C"/>
                </a:solidFill>
                <a:latin typeface="Inter" pitchFamily="34" charset="0"/>
                <a:ea typeface="Inter" pitchFamily="34" charset="-122"/>
                <a:cs typeface="Inter" pitchFamily="34" charset="-120"/>
              </a:defRPr>
            </a:lvl1pPr>
          </a:lstStyle>
          <a:p>
            <a:pPr algn="l" indent="0" marL="0">
              <a:lnSpc>
                <a:spcPct val="140000"/>
              </a:lnSpc>
              <a:buNone/>
            </a:pPr>
            <a:endParaRPr lang="en-US" sz="1600"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slideLayout" Target="../slideLayouts/slideLayout2.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51C2C"/>
        </a:solidFill>
      </p:bgPr>
    </p:bg>
    <p:spTree>
      <p:nvGrpSpPr>
        <p:cNvPr id="1" name=""/>
        <p:cNvGrpSpPr/>
        <p:nvPr/>
      </p:nvGrpSpPr>
      <p:grpSpPr>
        <a:xfrm>
          <a:off x="0" y="0"/>
          <a:ext cx="0" cy="0"/>
          <a:chOff x="0" y="0"/>
          <a:chExt cx="0" cy="0"/>
        </a:xfrm>
      </p:grpSpPr>
      <p:pic>
        <p:nvPicPr>
          <p:cNvPr id="2" name="Image 0" descr="web embed">    </p:cNvPr>
          <p:cNvPicPr>
            <a:picLocks noChangeAspect="1"/>
          </p:cNvPicPr>
          <p:nvPr/>
        </p:nvPicPr>
        <p:blipFill>
          <a:blip r:embed="rId1"/>
          <a:srcRect l="0" r="0" t="0" b="0"/>
          <a:stretch/>
        </p:blipFill>
        <p:spPr>
          <a:xfrm>
            <a:off x="7518400" y="1397000"/>
            <a:ext cx="4064000" cy="4064000"/>
          </a:xfrm>
          <a:prstGeom prst="rect">
            <a:avLst/>
          </a:prstGeom>
        </p:spPr>
      </p:pic>
      <p:sp>
        <p:nvSpPr>
          <p:cNvPr id="3" name="Shape 0"/>
          <p:cNvSpPr/>
          <p:nvPr/>
        </p:nvSpPr>
        <p:spPr>
          <a:xfrm>
            <a:off x="812800" y="1506786"/>
            <a:ext cx="762000" cy="38100"/>
          </a:xfrm>
          <a:prstGeom prst="rect">
            <a:avLst/>
          </a:prstGeom>
          <a:solidFill>
            <a:srgbClr val="2251FF"/>
          </a:solidFill>
          <a:ln/>
        </p:spPr>
      </p:sp>
      <p:sp>
        <p:nvSpPr>
          <p:cNvPr id="4" name="Text 1"/>
          <p:cNvSpPr/>
          <p:nvPr/>
        </p:nvSpPr>
        <p:spPr>
          <a:xfrm>
            <a:off x="812800" y="1798886"/>
            <a:ext cx="10883392" cy="274290"/>
          </a:xfrm>
          <a:prstGeom prst="rect">
            <a:avLst/>
          </a:prstGeom>
          <a:noFill/>
          <a:ln/>
        </p:spPr>
        <p:txBody>
          <a:bodyPr wrap="square" lIns="0" tIns="0" rIns="0" bIns="0" rtlCol="0" anchor="t">
            <a:normAutofit/>
          </a:bodyPr>
          <a:lstStyle/>
          <a:p>
            <a:pPr algn="l" indent="0" marL="0">
              <a:lnSpc>
                <a:spcPts val="1960"/>
              </a:lnSpc>
              <a:buNone/>
            </a:pPr>
            <a:r>
              <a:rPr lang="en-US" sz="1400" b="1" spc="200" kern="0" dirty="0">
                <a:solidFill>
                  <a:srgbClr val="00A9F4"/>
                </a:solidFill>
                <a:latin typeface="Inter" pitchFamily="34" charset="0"/>
                <a:ea typeface="Inter" pitchFamily="34" charset="-122"/>
                <a:cs typeface="Inter" pitchFamily="34" charset="-120"/>
              </a:rPr>
              <a:t>ENTERPRISE INTELLIGENCE</a:t>
            </a:r>
            <a:endParaRPr lang="en-US" sz="1400" dirty="0"/>
          </a:p>
        </p:txBody>
      </p:sp>
      <p:sp>
        <p:nvSpPr>
          <p:cNvPr id="5" name="Text 2"/>
          <p:cNvSpPr/>
          <p:nvPr>
            <p:ph type="title"/>
          </p:nvPr>
        </p:nvSpPr>
        <p:spPr>
          <a:xfrm>
            <a:off x="812800" y="2301776"/>
            <a:ext cx="6802120" cy="2000498"/>
          </a:xfrm>
          <a:prstGeom prst="rect">
            <a:avLst/>
          </a:prstGeom>
          <a:noFill/>
          <a:ln/>
        </p:spPr>
        <p:txBody>
          <a:bodyPr wrap="square" lIns="0" tIns="0" rIns="0" bIns="0" rtlCol="0" anchor="t">
            <a:normAutofit/>
          </a:bodyPr>
          <a:lstStyle/>
          <a:p>
            <a:pPr algn="l" indent="0" marL="0">
              <a:lnSpc>
                <a:spcPts val="5184"/>
              </a:lnSpc>
              <a:buNone/>
            </a:pPr>
            <a:r>
              <a:rPr lang="en-US" sz="4800" b="0" i="0" dirty="0">
                <a:solidFill>
                  <a:srgbClr val="F4F6F8"/>
                </a:solidFill>
                <a:latin typeface="Source Serif 4" pitchFamily="18" charset="0"/>
                <a:ea typeface="Source Serif 4" pitchFamily="18" charset="-122"/>
                <a:cs typeface="Source Serif 4" pitchFamily="18" charset="-120"/>
              </a:rPr>
              <a:t>From aggregated to orchestrated intelligence</a:t>
            </a:r>
            <a:endParaRPr lang="en-US" sz="4800" dirty="0"/>
          </a:p>
        </p:txBody>
      </p:sp>
      <p:sp>
        <p:nvSpPr>
          <p:cNvPr id="6" name="Text 3"/>
          <p:cNvSpPr/>
          <p:nvPr/>
        </p:nvSpPr>
        <p:spPr>
          <a:xfrm>
            <a:off x="812800" y="4530874"/>
            <a:ext cx="6540500" cy="642541"/>
          </a:xfrm>
          <a:prstGeom prst="rect">
            <a:avLst/>
          </a:prstGeom>
          <a:noFill/>
          <a:ln/>
        </p:spPr>
        <p:txBody>
          <a:bodyPr wrap="square" lIns="0" tIns="0" rIns="0" bIns="0" rtlCol="0" anchor="t">
            <a:normAutofit/>
          </a:bodyPr>
          <a:lstStyle/>
          <a:p>
            <a:pPr algn="l" indent="0" marL="0">
              <a:lnSpc>
                <a:spcPts val="2430"/>
              </a:lnSpc>
              <a:buNone/>
            </a:pPr>
            <a:r>
              <a:rPr lang="en-US" sz="1800" dirty="0">
                <a:solidFill>
                  <a:srgbClr val="C9D4DD"/>
                </a:solidFill>
                <a:latin typeface="Inter" pitchFamily="34" charset="0"/>
                <a:ea typeface="Inter" pitchFamily="34" charset="-122"/>
                <a:cs typeface="Inter" pitchFamily="34" charset="-120"/>
              </a:rPr>
              <a:t>Unlocking an estimated $195M in annual EBITDA through commercial and operational excellence</a:t>
            </a:r>
            <a:endParaRPr lang="en-US" sz="1800" dirty="0"/>
          </a:p>
        </p:txBody>
      </p:sp>
      <p:sp>
        <p:nvSpPr>
          <p:cNvPr id="7" name="Text 4"/>
          <p:cNvSpPr/>
          <p:nvPr/>
        </p:nvSpPr>
        <p:spPr>
          <a:xfrm>
            <a:off x="812800" y="6238280"/>
            <a:ext cx="78486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8FA3B3"/>
                </a:solidFill>
                <a:latin typeface="Inter" pitchFamily="34" charset="0"/>
                <a:ea typeface="Inter" pitchFamily="34" charset="-122"/>
                <a:cs typeface="Inter" pitchFamily="34" charset="-120"/>
              </a:rPr>
              <a:t>Pawandeep Singh </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BFBF9"/>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2251FF"/>
                </a:solidFill>
                <a:latin typeface="Inter" pitchFamily="34" charset="0"/>
                <a:ea typeface="Inter" pitchFamily="34" charset="-122"/>
                <a:cs typeface="Inter" pitchFamily="34" charset="-120"/>
              </a:rPr>
              <a:t>EXECUTIVE SUMMARY</a:t>
            </a:r>
            <a:endParaRPr lang="en-US" sz="1200" dirty="0"/>
          </a:p>
        </p:txBody>
      </p:sp>
      <p:sp>
        <p:nvSpPr>
          <p:cNvPr id="3" name="Text 1"/>
          <p:cNvSpPr/>
          <p:nvPr>
            <p:ph type="title"/>
          </p:nvPr>
        </p:nvSpPr>
        <p:spPr>
          <a:xfrm>
            <a:off x="812800" y="1127720"/>
            <a:ext cx="10883392" cy="784820"/>
          </a:xfrm>
          <a:prstGeom prst="rect">
            <a:avLst/>
          </a:prstGeom>
          <a:noFill/>
          <a:ln/>
        </p:spPr>
        <p:txBody>
          <a:bodyPr wrap="square" lIns="0" tIns="0" rIns="0" bIns="0" rtlCol="0" anchor="t">
            <a:normAutofit/>
          </a:bodyPr>
          <a:lstStyle/>
          <a:p>
            <a:pPr algn="l" indent="0" marL="0">
              <a:lnSpc>
                <a:spcPts val="2990"/>
              </a:lnSpc>
              <a:buNone/>
            </a:pPr>
            <a:r>
              <a:rPr lang="en-US" sz="2600" b="0" i="0" dirty="0">
                <a:solidFill>
                  <a:srgbClr val="051C2C"/>
                </a:solidFill>
                <a:latin typeface="Source Serif 4" pitchFamily="18" charset="0"/>
                <a:ea typeface="Source Serif 4" pitchFamily="18" charset="-122"/>
                <a:cs typeface="Source Serif 4" pitchFamily="18" charset="-120"/>
              </a:rPr>
              <a:t>FIS already owns the signals. Orchestrated intelligence turns them into higher margins and faster growth.</a:t>
            </a:r>
            <a:endParaRPr lang="en-US" sz="2600" dirty="0"/>
          </a:p>
        </p:txBody>
      </p:sp>
      <p:sp>
        <p:nvSpPr>
          <p:cNvPr id="4" name="Shape 2"/>
          <p:cNvSpPr/>
          <p:nvPr/>
        </p:nvSpPr>
        <p:spPr>
          <a:xfrm>
            <a:off x="812800" y="2198291"/>
            <a:ext cx="10566400" cy="0"/>
          </a:xfrm>
          <a:prstGeom prst="line">
            <a:avLst/>
          </a:prstGeom>
          <a:noFill/>
          <a:ln w="12700">
            <a:solidFill>
              <a:srgbClr val="051C2C"/>
            </a:solidFill>
            <a:prstDash val="solid"/>
          </a:ln>
        </p:spPr>
      </p:sp>
      <p:sp>
        <p:nvSpPr>
          <p:cNvPr id="5" name="Text 3"/>
          <p:cNvSpPr/>
          <p:nvPr/>
        </p:nvSpPr>
        <p:spPr>
          <a:xfrm>
            <a:off x="812800" y="2357041"/>
            <a:ext cx="1962150" cy="256530"/>
          </a:xfrm>
          <a:prstGeom prst="rect">
            <a:avLst/>
          </a:prstGeom>
          <a:noFill/>
          <a:ln/>
        </p:spPr>
        <p:txBody>
          <a:bodyPr wrap="square" lIns="0" tIns="0" rIns="0" bIns="0" rtlCol="0" anchor="t">
            <a:normAutofit/>
          </a:bodyPr>
          <a:lstStyle/>
          <a:p>
            <a:pPr algn="l" indent="0" marL="0">
              <a:lnSpc>
                <a:spcPts val="1560"/>
              </a:lnSpc>
              <a:buNone/>
            </a:pPr>
            <a:r>
              <a:rPr lang="en-US" sz="1300" b="1" dirty="0">
                <a:solidFill>
                  <a:srgbClr val="2251FF"/>
                </a:solidFill>
                <a:latin typeface="Inter" pitchFamily="34" charset="0"/>
                <a:ea typeface="Inter" pitchFamily="34" charset="-122"/>
                <a:cs typeface="Inter" pitchFamily="34" charset="-120"/>
              </a:rPr>
              <a:t>Context</a:t>
            </a:r>
            <a:endParaRPr lang="en-US" sz="1300" dirty="0"/>
          </a:p>
        </p:txBody>
      </p:sp>
      <p:sp>
        <p:nvSpPr>
          <p:cNvPr id="6" name="Text 4"/>
          <p:cNvSpPr/>
          <p:nvPr/>
        </p:nvSpPr>
        <p:spPr>
          <a:xfrm>
            <a:off x="2971800" y="2357041"/>
            <a:ext cx="8659622" cy="25653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24323D"/>
                </a:solidFill>
                <a:latin typeface="Inter" pitchFamily="34" charset="0"/>
                <a:ea typeface="Inter" pitchFamily="34" charset="-122"/>
                <a:cs typeface="Inter" pitchFamily="34" charset="-120"/>
              </a:rPr>
              <a:t>FIS generates every signal it needs: contracts, billing, tickets, SLAs, telemetry, vendor costs and time.</a:t>
            </a:r>
            <a:endParaRPr lang="en-US" sz="1300" dirty="0"/>
          </a:p>
        </p:txBody>
      </p:sp>
      <p:sp>
        <p:nvSpPr>
          <p:cNvPr id="7" name="Shape 5"/>
          <p:cNvSpPr/>
          <p:nvPr/>
        </p:nvSpPr>
        <p:spPr>
          <a:xfrm>
            <a:off x="812800" y="2743746"/>
            <a:ext cx="10566400" cy="0"/>
          </a:xfrm>
          <a:prstGeom prst="line">
            <a:avLst/>
          </a:prstGeom>
          <a:noFill/>
          <a:ln w="6350">
            <a:solidFill>
              <a:srgbClr val="C9D1D8"/>
            </a:solidFill>
            <a:prstDash val="solid"/>
          </a:ln>
        </p:spPr>
      </p:sp>
      <p:sp>
        <p:nvSpPr>
          <p:cNvPr id="8" name="Text 6"/>
          <p:cNvSpPr/>
          <p:nvPr/>
        </p:nvSpPr>
        <p:spPr>
          <a:xfrm>
            <a:off x="812800" y="2899321"/>
            <a:ext cx="1962150" cy="487660"/>
          </a:xfrm>
          <a:prstGeom prst="rect">
            <a:avLst/>
          </a:prstGeom>
          <a:noFill/>
          <a:ln/>
        </p:spPr>
        <p:txBody>
          <a:bodyPr wrap="square" lIns="0" tIns="0" rIns="0" bIns="0" rtlCol="0" anchor="t">
            <a:normAutofit/>
          </a:bodyPr>
          <a:lstStyle/>
          <a:p>
            <a:pPr algn="l" indent="0" marL="0">
              <a:lnSpc>
                <a:spcPts val="1560"/>
              </a:lnSpc>
              <a:buNone/>
            </a:pPr>
            <a:r>
              <a:rPr lang="en-US" sz="1300" b="1" dirty="0">
                <a:solidFill>
                  <a:srgbClr val="2251FF"/>
                </a:solidFill>
                <a:latin typeface="Inter" pitchFamily="34" charset="0"/>
                <a:ea typeface="Inter" pitchFamily="34" charset="-122"/>
                <a:cs typeface="Inter" pitchFamily="34" charset="-120"/>
              </a:rPr>
              <a:t>Problem</a:t>
            </a:r>
            <a:endParaRPr lang="en-US" sz="1300" dirty="0"/>
          </a:p>
        </p:txBody>
      </p:sp>
      <p:sp>
        <p:nvSpPr>
          <p:cNvPr id="9" name="Text 7"/>
          <p:cNvSpPr/>
          <p:nvPr/>
        </p:nvSpPr>
        <p:spPr>
          <a:xfrm>
            <a:off x="2971800" y="2899321"/>
            <a:ext cx="8659622" cy="48766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24323D"/>
                </a:solidFill>
                <a:latin typeface="Inter" pitchFamily="34" charset="0"/>
                <a:ea typeface="Inter" pitchFamily="34" charset="-122"/>
                <a:cs typeface="Inter" pitchFamily="34" charset="-120"/>
              </a:rPr>
              <a:t>Our signals are aggregated into reports, not orchestrated into action. Margin leaks through unbilled services and unknown cost-to-serve; churn and price compression surface at renewal, too late to act.</a:t>
            </a:r>
            <a:endParaRPr lang="en-US" sz="1300" dirty="0"/>
          </a:p>
        </p:txBody>
      </p:sp>
      <p:sp>
        <p:nvSpPr>
          <p:cNvPr id="10" name="Shape 8"/>
          <p:cNvSpPr/>
          <p:nvPr/>
        </p:nvSpPr>
        <p:spPr>
          <a:xfrm>
            <a:off x="812800" y="3517156"/>
            <a:ext cx="10566400" cy="0"/>
          </a:xfrm>
          <a:prstGeom prst="line">
            <a:avLst/>
          </a:prstGeom>
          <a:noFill/>
          <a:ln w="6350">
            <a:solidFill>
              <a:srgbClr val="C9D1D8"/>
            </a:solidFill>
            <a:prstDash val="solid"/>
          </a:ln>
        </p:spPr>
      </p:sp>
      <p:sp>
        <p:nvSpPr>
          <p:cNvPr id="11" name="Text 9"/>
          <p:cNvSpPr/>
          <p:nvPr/>
        </p:nvSpPr>
        <p:spPr>
          <a:xfrm>
            <a:off x="812800" y="3672731"/>
            <a:ext cx="1962150" cy="487660"/>
          </a:xfrm>
          <a:prstGeom prst="rect">
            <a:avLst/>
          </a:prstGeom>
          <a:noFill/>
          <a:ln/>
        </p:spPr>
        <p:txBody>
          <a:bodyPr wrap="square" lIns="0" tIns="0" rIns="0" bIns="0" rtlCol="0" anchor="t">
            <a:normAutofit/>
          </a:bodyPr>
          <a:lstStyle/>
          <a:p>
            <a:pPr algn="l" indent="0" marL="0">
              <a:lnSpc>
                <a:spcPts val="1560"/>
              </a:lnSpc>
              <a:buNone/>
            </a:pPr>
            <a:r>
              <a:rPr lang="en-US" sz="1300" b="1" dirty="0">
                <a:solidFill>
                  <a:srgbClr val="2251FF"/>
                </a:solidFill>
                <a:latin typeface="Inter" pitchFamily="34" charset="0"/>
                <a:ea typeface="Inter" pitchFamily="34" charset="-122"/>
                <a:cs typeface="Inter" pitchFamily="34" charset="-120"/>
              </a:rPr>
              <a:t>Proposal</a:t>
            </a:r>
            <a:endParaRPr lang="en-US" sz="1300" dirty="0"/>
          </a:p>
        </p:txBody>
      </p:sp>
      <p:sp>
        <p:nvSpPr>
          <p:cNvPr id="12" name="Text 10"/>
          <p:cNvSpPr/>
          <p:nvPr/>
        </p:nvSpPr>
        <p:spPr>
          <a:xfrm>
            <a:off x="2971800" y="3672731"/>
            <a:ext cx="8659622" cy="48766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24323D"/>
                </a:solidFill>
                <a:latin typeface="Inter" pitchFamily="34" charset="0"/>
                <a:ea typeface="Inter" pitchFamily="34" charset="-122"/>
                <a:cs typeface="Inter" pitchFamily="34" charset="-120"/>
              </a:rPr>
              <a:t>A shift from reporting what happened to acting on what's next: AI that acts, not just assists, with our people making the critical calls.</a:t>
            </a:r>
            <a:endParaRPr lang="en-US" sz="1300" dirty="0"/>
          </a:p>
        </p:txBody>
      </p:sp>
      <p:sp>
        <p:nvSpPr>
          <p:cNvPr id="13" name="Shape 11"/>
          <p:cNvSpPr/>
          <p:nvPr/>
        </p:nvSpPr>
        <p:spPr>
          <a:xfrm>
            <a:off x="812800" y="4290566"/>
            <a:ext cx="10566400" cy="0"/>
          </a:xfrm>
          <a:prstGeom prst="line">
            <a:avLst/>
          </a:prstGeom>
          <a:noFill/>
          <a:ln w="6350">
            <a:solidFill>
              <a:srgbClr val="C9D1D8"/>
            </a:solidFill>
            <a:prstDash val="solid"/>
          </a:ln>
        </p:spPr>
      </p:sp>
      <p:sp>
        <p:nvSpPr>
          <p:cNvPr id="14" name="Shape 12"/>
          <p:cNvSpPr/>
          <p:nvPr/>
        </p:nvSpPr>
        <p:spPr>
          <a:xfrm>
            <a:off x="812800" y="4832846"/>
            <a:ext cx="10566400" cy="0"/>
          </a:xfrm>
          <a:prstGeom prst="line">
            <a:avLst/>
          </a:prstGeom>
          <a:noFill/>
          <a:ln w="6350">
            <a:solidFill>
              <a:srgbClr val="C9D1D8"/>
            </a:solidFill>
            <a:prstDash val="solid"/>
          </a:ln>
        </p:spPr>
      </p:sp>
      <p:sp>
        <p:nvSpPr>
          <p:cNvPr id="15" name="Text 13"/>
          <p:cNvSpPr/>
          <p:nvPr/>
        </p:nvSpPr>
        <p:spPr>
          <a:xfrm>
            <a:off x="812800" y="4446141"/>
            <a:ext cx="1962150" cy="256530"/>
          </a:xfrm>
          <a:prstGeom prst="rect">
            <a:avLst/>
          </a:prstGeom>
          <a:noFill/>
          <a:ln/>
        </p:spPr>
        <p:txBody>
          <a:bodyPr wrap="square" lIns="0" tIns="0" rIns="0" bIns="0" rtlCol="0" anchor="t">
            <a:normAutofit/>
          </a:bodyPr>
          <a:lstStyle/>
          <a:p>
            <a:pPr algn="l" indent="0" marL="0">
              <a:lnSpc>
                <a:spcPts val="1560"/>
              </a:lnSpc>
              <a:buNone/>
            </a:pPr>
            <a:r>
              <a:rPr lang="en-US" sz="1300" b="1" dirty="0">
                <a:solidFill>
                  <a:srgbClr val="2251FF"/>
                </a:solidFill>
                <a:latin typeface="Inter" pitchFamily="34" charset="0"/>
                <a:ea typeface="Inter" pitchFamily="34" charset="-122"/>
                <a:cs typeface="Inter" pitchFamily="34" charset="-120"/>
              </a:rPr>
              <a:t>Value</a:t>
            </a:r>
            <a:endParaRPr lang="en-US" sz="1300" dirty="0"/>
          </a:p>
        </p:txBody>
      </p:sp>
      <p:sp>
        <p:nvSpPr>
          <p:cNvPr id="16" name="Text 14"/>
          <p:cNvSpPr/>
          <p:nvPr/>
        </p:nvSpPr>
        <p:spPr>
          <a:xfrm>
            <a:off x="2971800" y="4446141"/>
            <a:ext cx="8659622" cy="25653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24323D"/>
                </a:solidFill>
                <a:latin typeface="Inter" pitchFamily="34" charset="0"/>
                <a:ea typeface="Inter" pitchFamily="34" charset="-122"/>
                <a:cs typeface="Inter" pitchFamily="34" charset="-120"/>
              </a:rPr>
              <a:t>An estimated </a:t>
            </a:r>
            <a:r>
              <a:rPr lang="en-US" sz="1300" b="1" dirty="0">
                <a:solidFill>
                  <a:srgbClr val="24323D"/>
                </a:solidFill>
                <a:latin typeface="Inter" pitchFamily="34" charset="0"/>
                <a:ea typeface="Inter" pitchFamily="34" charset="-122"/>
                <a:cs typeface="Inter" pitchFamily="34" charset="-120"/>
              </a:rPr>
              <a:t>$195M in annual EBITDA</a:t>
            </a:r>
            <a:r>
              <a:rPr lang="en-US" sz="1300" dirty="0">
                <a:solidFill>
                  <a:srgbClr val="24323D"/>
                </a:solidFill>
                <a:latin typeface="Inter" pitchFamily="34" charset="0"/>
                <a:ea typeface="Inter" pitchFamily="34" charset="-122"/>
                <a:cs typeface="Inter" pitchFamily="34" charset="-120"/>
              </a:rPr>
              <a:t> and 3 million hours a year handed back to our people. </a:t>
            </a:r>
            <a:endParaRPr lang="en-US" sz="1300" dirty="0"/>
          </a:p>
        </p:txBody>
      </p:sp>
      <p:sp>
        <p:nvSpPr>
          <p:cNvPr id="17" name="Text 15"/>
          <p:cNvSpPr/>
          <p:nvPr/>
        </p:nvSpPr>
        <p:spPr>
          <a:xfrm>
            <a:off x="812800" y="6238280"/>
            <a:ext cx="2366546"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680"/>
                </a:solidFill>
                <a:latin typeface="Inter" pitchFamily="34" charset="0"/>
                <a:ea typeface="Inter" pitchFamily="34" charset="-122"/>
                <a:cs typeface="Inter" pitchFamily="34" charset="-120"/>
              </a:rPr>
              <a:t>Enterprise Intelligence | FIS</a:t>
            </a:r>
            <a:endParaRPr lang="en-US" sz="1200" dirty="0"/>
          </a:p>
        </p:txBody>
      </p:sp>
      <p:sp>
        <p:nvSpPr>
          <p:cNvPr id="18" name="Text 16"/>
          <p:cNvSpPr/>
          <p:nvPr/>
        </p:nvSpPr>
        <p:spPr>
          <a:xfrm>
            <a:off x="11235432" y="6238280"/>
            <a:ext cx="143768"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B7680"/>
                </a:solidFill>
                <a:latin typeface="Inter" pitchFamily="34" charset="0"/>
                <a:ea typeface="Inter" pitchFamily="34" charset="-122"/>
                <a:cs typeface="Inter" pitchFamily="34" charset="-120"/>
              </a:rPr>
              <a:t>2</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BFBF9"/>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2251FF"/>
                </a:solidFill>
                <a:latin typeface="Inter" pitchFamily="34" charset="0"/>
                <a:ea typeface="Inter" pitchFamily="34" charset="-122"/>
                <a:cs typeface="Inter" pitchFamily="34" charset="-120"/>
              </a:rPr>
              <a:t>THE SHIFT</a:t>
            </a:r>
            <a:endParaRPr lang="en-US" sz="1200" dirty="0"/>
          </a:p>
        </p:txBody>
      </p:sp>
      <p:sp>
        <p:nvSpPr>
          <p:cNvPr id="3" name="Text 1"/>
          <p:cNvSpPr/>
          <p:nvPr>
            <p:ph type="title"/>
          </p:nvPr>
        </p:nvSpPr>
        <p:spPr>
          <a:xfrm>
            <a:off x="812800" y="1127720"/>
            <a:ext cx="10883392" cy="784820"/>
          </a:xfrm>
          <a:prstGeom prst="rect">
            <a:avLst/>
          </a:prstGeom>
          <a:noFill/>
          <a:ln/>
        </p:spPr>
        <p:txBody>
          <a:bodyPr wrap="square" lIns="0" tIns="0" rIns="0" bIns="0" rtlCol="0" anchor="t">
            <a:normAutofit/>
          </a:bodyPr>
          <a:lstStyle/>
          <a:p>
            <a:pPr algn="l" indent="0" marL="0">
              <a:lnSpc>
                <a:spcPts val="2990"/>
              </a:lnSpc>
              <a:buNone/>
            </a:pPr>
            <a:r>
              <a:rPr lang="en-US" sz="2600" b="0" i="0" dirty="0">
                <a:solidFill>
                  <a:srgbClr val="051C2C"/>
                </a:solidFill>
                <a:latin typeface="Source Serif 4" pitchFamily="18" charset="0"/>
                <a:ea typeface="Source Serif 4" pitchFamily="18" charset="-122"/>
                <a:cs typeface="Source Serif 4" pitchFamily="18" charset="-120"/>
              </a:rPr>
              <a:t>Most enterprises stop at aggregation. Orchestration is the step change.</a:t>
            </a:r>
            <a:endParaRPr lang="en-US" sz="2600" dirty="0"/>
          </a:p>
        </p:txBody>
      </p:sp>
      <p:sp>
        <p:nvSpPr>
          <p:cNvPr id="4" name="Text 2"/>
          <p:cNvSpPr/>
          <p:nvPr/>
        </p:nvSpPr>
        <p:spPr>
          <a:xfrm>
            <a:off x="812800" y="3868539"/>
            <a:ext cx="2603119"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6B7680"/>
                </a:solidFill>
                <a:latin typeface="Inter" pitchFamily="34" charset="0"/>
                <a:ea typeface="Inter" pitchFamily="34" charset="-122"/>
                <a:cs typeface="Inter" pitchFamily="34" charset="-120"/>
              </a:rPr>
              <a:t>01</a:t>
            </a:r>
            <a:endParaRPr lang="en-US" sz="1200" dirty="0"/>
          </a:p>
        </p:txBody>
      </p:sp>
      <p:sp>
        <p:nvSpPr>
          <p:cNvPr id="5" name="Text 3"/>
          <p:cNvSpPr/>
          <p:nvPr/>
        </p:nvSpPr>
        <p:spPr>
          <a:xfrm>
            <a:off x="812800" y="4132659"/>
            <a:ext cx="2603119" cy="284460"/>
          </a:xfrm>
          <a:prstGeom prst="rect">
            <a:avLst/>
          </a:prstGeom>
          <a:noFill/>
          <a:ln/>
        </p:spPr>
        <p:txBody>
          <a:bodyPr wrap="square" lIns="0" tIns="0" rIns="0" bIns="0" rtlCol="0" anchor="t">
            <a:normAutofit/>
          </a:bodyPr>
          <a:lstStyle/>
          <a:p>
            <a:pPr algn="l" indent="0" marL="0">
              <a:lnSpc>
                <a:spcPts val="2040"/>
              </a:lnSpc>
              <a:buNone/>
            </a:pPr>
            <a:r>
              <a:rPr lang="en-US" sz="1700" dirty="0">
                <a:solidFill>
                  <a:srgbClr val="051C2C"/>
                </a:solidFill>
                <a:latin typeface="Source Serif 4" pitchFamily="18" charset="0"/>
                <a:ea typeface="Source Serif 4" pitchFamily="18" charset="-122"/>
                <a:cs typeface="Source Serif 4" pitchFamily="18" charset="-120"/>
              </a:rPr>
              <a:t>Aggregated</a:t>
            </a:r>
            <a:endParaRPr lang="en-US" sz="1700" dirty="0"/>
          </a:p>
        </p:txBody>
      </p:sp>
      <p:sp>
        <p:nvSpPr>
          <p:cNvPr id="6" name="Text 4"/>
          <p:cNvSpPr/>
          <p:nvPr/>
        </p:nvSpPr>
        <p:spPr>
          <a:xfrm>
            <a:off x="812800" y="4442520"/>
            <a:ext cx="2603119" cy="436860"/>
          </a:xfrm>
          <a:prstGeom prst="rect">
            <a:avLst/>
          </a:prstGeom>
          <a:noFill/>
          <a:ln/>
        </p:spPr>
        <p:txBody>
          <a:bodyPr wrap="square" lIns="0" tIns="0" rIns="0" bIns="0" rtlCol="0" anchor="t">
            <a:normAutofit/>
          </a:bodyPr>
          <a:lstStyle/>
          <a:p>
            <a:pPr algn="l" indent="0" marL="0">
              <a:lnSpc>
                <a:spcPts val="1620"/>
              </a:lnSpc>
              <a:buNone/>
            </a:pPr>
            <a:r>
              <a:rPr lang="en-US" sz="1200" i="1" dirty="0">
                <a:solidFill>
                  <a:srgbClr val="3C4A55"/>
                </a:solidFill>
                <a:latin typeface="Inter" pitchFamily="34" charset="0"/>
                <a:ea typeface="Inter" pitchFamily="34" charset="-122"/>
                <a:cs typeface="Inter" pitchFamily="34" charset="-120"/>
              </a:rPr>
              <a:t>What happened?</a:t>
            </a:r>
            <a:r>
              <a:rPr lang="en-US" sz="1200" dirty="0">
                <a:solidFill>
                  <a:srgbClr val="3C4A55"/>
                </a:solidFill>
                <a:latin typeface="Inter" pitchFamily="34" charset="0"/>
                <a:ea typeface="Inter" pitchFamily="34" charset="-122"/>
                <a:cs typeface="Inter" pitchFamily="34" charset="-120"/>
              </a:rPr>
              <a:t> Monthly reports and dashboards stitched from silos</a:t>
            </a:r>
            <a:endParaRPr lang="en-US" sz="1200" dirty="0"/>
          </a:p>
        </p:txBody>
      </p:sp>
      <p:sp>
        <p:nvSpPr>
          <p:cNvPr id="7" name="Shape 5"/>
          <p:cNvSpPr/>
          <p:nvPr/>
        </p:nvSpPr>
        <p:spPr>
          <a:xfrm>
            <a:off x="812800" y="4955580"/>
            <a:ext cx="2527300" cy="381000"/>
          </a:xfrm>
          <a:prstGeom prst="rect">
            <a:avLst/>
          </a:prstGeom>
          <a:solidFill>
            <a:srgbClr val="DCE3E9"/>
          </a:solidFill>
          <a:ln/>
        </p:spPr>
      </p:sp>
      <p:sp>
        <p:nvSpPr>
          <p:cNvPr id="8" name="Text 6"/>
          <p:cNvSpPr/>
          <p:nvPr/>
        </p:nvSpPr>
        <p:spPr>
          <a:xfrm>
            <a:off x="3492500" y="3424039"/>
            <a:ext cx="2603119"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6B7680"/>
                </a:solidFill>
                <a:latin typeface="Inter" pitchFamily="34" charset="0"/>
                <a:ea typeface="Inter" pitchFamily="34" charset="-122"/>
                <a:cs typeface="Inter" pitchFamily="34" charset="-120"/>
              </a:rPr>
              <a:t>02</a:t>
            </a:r>
            <a:endParaRPr lang="en-US" sz="1200" dirty="0"/>
          </a:p>
        </p:txBody>
      </p:sp>
      <p:sp>
        <p:nvSpPr>
          <p:cNvPr id="9" name="Text 7"/>
          <p:cNvSpPr/>
          <p:nvPr/>
        </p:nvSpPr>
        <p:spPr>
          <a:xfrm>
            <a:off x="3492500" y="3688159"/>
            <a:ext cx="2603119" cy="284460"/>
          </a:xfrm>
          <a:prstGeom prst="rect">
            <a:avLst/>
          </a:prstGeom>
          <a:noFill/>
          <a:ln/>
        </p:spPr>
        <p:txBody>
          <a:bodyPr wrap="square" lIns="0" tIns="0" rIns="0" bIns="0" rtlCol="0" anchor="t">
            <a:normAutofit/>
          </a:bodyPr>
          <a:lstStyle/>
          <a:p>
            <a:pPr algn="l" indent="0" marL="0">
              <a:lnSpc>
                <a:spcPts val="2040"/>
              </a:lnSpc>
              <a:buNone/>
            </a:pPr>
            <a:r>
              <a:rPr lang="en-US" sz="1700" dirty="0">
                <a:solidFill>
                  <a:srgbClr val="051C2C"/>
                </a:solidFill>
                <a:latin typeface="Source Serif 4" pitchFamily="18" charset="0"/>
                <a:ea typeface="Source Serif 4" pitchFamily="18" charset="-122"/>
                <a:cs typeface="Source Serif 4" pitchFamily="18" charset="-120"/>
              </a:rPr>
              <a:t>Analyzed</a:t>
            </a:r>
            <a:endParaRPr lang="en-US" sz="1700" dirty="0"/>
          </a:p>
        </p:txBody>
      </p:sp>
      <p:sp>
        <p:nvSpPr>
          <p:cNvPr id="10" name="Text 8"/>
          <p:cNvSpPr/>
          <p:nvPr/>
        </p:nvSpPr>
        <p:spPr>
          <a:xfrm>
            <a:off x="3492500" y="3998020"/>
            <a:ext cx="2603119" cy="436860"/>
          </a:xfrm>
          <a:prstGeom prst="rect">
            <a:avLst/>
          </a:prstGeom>
          <a:noFill/>
          <a:ln/>
        </p:spPr>
        <p:txBody>
          <a:bodyPr wrap="square" lIns="0" tIns="0" rIns="0" bIns="0" rtlCol="0" anchor="t">
            <a:normAutofit/>
          </a:bodyPr>
          <a:lstStyle/>
          <a:p>
            <a:pPr algn="l" indent="0" marL="0">
              <a:lnSpc>
                <a:spcPts val="1620"/>
              </a:lnSpc>
              <a:buNone/>
            </a:pPr>
            <a:r>
              <a:rPr lang="en-US" sz="1200" i="1" dirty="0">
                <a:solidFill>
                  <a:srgbClr val="3C4A55"/>
                </a:solidFill>
                <a:latin typeface="Inter" pitchFamily="34" charset="0"/>
                <a:ea typeface="Inter" pitchFamily="34" charset="-122"/>
                <a:cs typeface="Inter" pitchFamily="34" charset="-120"/>
              </a:rPr>
              <a:t>Why did it happen?</a:t>
            </a:r>
            <a:r>
              <a:rPr lang="en-US" sz="1200" dirty="0">
                <a:solidFill>
                  <a:srgbClr val="3C4A55"/>
                </a:solidFill>
                <a:latin typeface="Inter" pitchFamily="34" charset="0"/>
                <a:ea typeface="Inter" pitchFamily="34" charset="-122"/>
                <a:cs typeface="Inter" pitchFamily="34" charset="-120"/>
              </a:rPr>
              <a:t> Root cause across clients, products and costs</a:t>
            </a:r>
            <a:endParaRPr lang="en-US" sz="1200" dirty="0"/>
          </a:p>
        </p:txBody>
      </p:sp>
      <p:sp>
        <p:nvSpPr>
          <p:cNvPr id="11" name="Shape 9"/>
          <p:cNvSpPr/>
          <p:nvPr/>
        </p:nvSpPr>
        <p:spPr>
          <a:xfrm>
            <a:off x="3492500" y="4511080"/>
            <a:ext cx="2527300" cy="825500"/>
          </a:xfrm>
          <a:prstGeom prst="rect">
            <a:avLst/>
          </a:prstGeom>
          <a:solidFill>
            <a:srgbClr val="A9BCCD"/>
          </a:solidFill>
          <a:ln/>
        </p:spPr>
      </p:sp>
      <p:sp>
        <p:nvSpPr>
          <p:cNvPr id="12" name="Text 10"/>
          <p:cNvSpPr/>
          <p:nvPr/>
        </p:nvSpPr>
        <p:spPr>
          <a:xfrm>
            <a:off x="6172200" y="2773809"/>
            <a:ext cx="2603119"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6B7680"/>
                </a:solidFill>
                <a:latin typeface="Inter" pitchFamily="34" charset="0"/>
                <a:ea typeface="Inter" pitchFamily="34" charset="-122"/>
                <a:cs typeface="Inter" pitchFamily="34" charset="-120"/>
              </a:rPr>
              <a:t>03</a:t>
            </a:r>
            <a:endParaRPr lang="en-US" sz="1200" dirty="0"/>
          </a:p>
        </p:txBody>
      </p:sp>
      <p:sp>
        <p:nvSpPr>
          <p:cNvPr id="13" name="Text 11"/>
          <p:cNvSpPr/>
          <p:nvPr/>
        </p:nvSpPr>
        <p:spPr>
          <a:xfrm>
            <a:off x="6172200" y="3037929"/>
            <a:ext cx="2603119" cy="284460"/>
          </a:xfrm>
          <a:prstGeom prst="rect">
            <a:avLst/>
          </a:prstGeom>
          <a:noFill/>
          <a:ln/>
        </p:spPr>
        <p:txBody>
          <a:bodyPr wrap="square" lIns="0" tIns="0" rIns="0" bIns="0" rtlCol="0" anchor="t">
            <a:normAutofit/>
          </a:bodyPr>
          <a:lstStyle/>
          <a:p>
            <a:pPr algn="l" indent="0" marL="0">
              <a:lnSpc>
                <a:spcPts val="2040"/>
              </a:lnSpc>
              <a:buNone/>
            </a:pPr>
            <a:r>
              <a:rPr lang="en-US" sz="1700" dirty="0">
                <a:solidFill>
                  <a:srgbClr val="051C2C"/>
                </a:solidFill>
                <a:latin typeface="Source Serif 4" pitchFamily="18" charset="0"/>
                <a:ea typeface="Source Serif 4" pitchFamily="18" charset="-122"/>
                <a:cs typeface="Source Serif 4" pitchFamily="18" charset="-120"/>
              </a:rPr>
              <a:t>Predictive</a:t>
            </a:r>
            <a:endParaRPr lang="en-US" sz="1700" dirty="0"/>
          </a:p>
        </p:txBody>
      </p:sp>
      <p:sp>
        <p:nvSpPr>
          <p:cNvPr id="14" name="Text 12"/>
          <p:cNvSpPr/>
          <p:nvPr/>
        </p:nvSpPr>
        <p:spPr>
          <a:xfrm>
            <a:off x="6172200" y="3347789"/>
            <a:ext cx="2603119" cy="642590"/>
          </a:xfrm>
          <a:prstGeom prst="rect">
            <a:avLst/>
          </a:prstGeom>
          <a:noFill/>
          <a:ln/>
        </p:spPr>
        <p:txBody>
          <a:bodyPr wrap="square" lIns="0" tIns="0" rIns="0" bIns="0" rtlCol="0" anchor="t">
            <a:normAutofit/>
          </a:bodyPr>
          <a:lstStyle/>
          <a:p>
            <a:pPr algn="l" indent="0" marL="0">
              <a:lnSpc>
                <a:spcPts val="1620"/>
              </a:lnSpc>
              <a:buNone/>
            </a:pPr>
            <a:r>
              <a:rPr lang="en-US" sz="1200" i="1" dirty="0">
                <a:solidFill>
                  <a:srgbClr val="3C4A55"/>
                </a:solidFill>
                <a:latin typeface="Inter" pitchFamily="34" charset="0"/>
                <a:ea typeface="Inter" pitchFamily="34" charset="-122"/>
                <a:cs typeface="Inter" pitchFamily="34" charset="-120"/>
              </a:rPr>
              <a:t>What will happen?</a:t>
            </a:r>
            <a:r>
              <a:rPr lang="en-US" sz="1200" dirty="0">
                <a:solidFill>
                  <a:srgbClr val="3C4A55"/>
                </a:solidFill>
                <a:latin typeface="Inter" pitchFamily="34" charset="0"/>
                <a:ea typeface="Inter" pitchFamily="34" charset="-122"/>
                <a:cs typeface="Inter" pitchFamily="34" charset="-120"/>
              </a:rPr>
              <a:t> Churn, compression, revenue and cash forecasts</a:t>
            </a:r>
            <a:endParaRPr lang="en-US" sz="1200" dirty="0"/>
          </a:p>
        </p:txBody>
      </p:sp>
      <p:sp>
        <p:nvSpPr>
          <p:cNvPr id="15" name="Shape 13"/>
          <p:cNvSpPr/>
          <p:nvPr/>
        </p:nvSpPr>
        <p:spPr>
          <a:xfrm>
            <a:off x="6172200" y="4066580"/>
            <a:ext cx="2527300" cy="1270000"/>
          </a:xfrm>
          <a:prstGeom prst="rect">
            <a:avLst/>
          </a:prstGeom>
          <a:solidFill>
            <a:srgbClr val="5F86B0"/>
          </a:solidFill>
          <a:ln/>
        </p:spPr>
      </p:sp>
      <p:sp>
        <p:nvSpPr>
          <p:cNvPr id="16" name="Text 14"/>
          <p:cNvSpPr/>
          <p:nvPr/>
        </p:nvSpPr>
        <p:spPr>
          <a:xfrm>
            <a:off x="8851900" y="2329309"/>
            <a:ext cx="2603119"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2251FF"/>
                </a:solidFill>
                <a:latin typeface="Inter" pitchFamily="34" charset="0"/>
                <a:ea typeface="Inter" pitchFamily="34" charset="-122"/>
                <a:cs typeface="Inter" pitchFamily="34" charset="-120"/>
              </a:rPr>
              <a:t>04</a:t>
            </a:r>
            <a:endParaRPr lang="en-US" sz="1200" dirty="0"/>
          </a:p>
        </p:txBody>
      </p:sp>
      <p:sp>
        <p:nvSpPr>
          <p:cNvPr id="17" name="Text 15"/>
          <p:cNvSpPr/>
          <p:nvPr/>
        </p:nvSpPr>
        <p:spPr>
          <a:xfrm>
            <a:off x="8851900" y="2593429"/>
            <a:ext cx="2603119" cy="284460"/>
          </a:xfrm>
          <a:prstGeom prst="rect">
            <a:avLst/>
          </a:prstGeom>
          <a:noFill/>
          <a:ln/>
        </p:spPr>
        <p:txBody>
          <a:bodyPr wrap="square" lIns="0" tIns="0" rIns="0" bIns="0" rtlCol="0" anchor="t">
            <a:normAutofit/>
          </a:bodyPr>
          <a:lstStyle/>
          <a:p>
            <a:pPr algn="l" indent="0" marL="0">
              <a:lnSpc>
                <a:spcPts val="2040"/>
              </a:lnSpc>
              <a:buNone/>
            </a:pPr>
            <a:r>
              <a:rPr lang="en-US" sz="1700" b="1" dirty="0">
                <a:solidFill>
                  <a:srgbClr val="2251FF"/>
                </a:solidFill>
                <a:latin typeface="Source Serif 4" pitchFamily="18" charset="0"/>
                <a:ea typeface="Source Serif 4" pitchFamily="18" charset="-122"/>
                <a:cs typeface="Source Serif 4" pitchFamily="18" charset="-120"/>
              </a:rPr>
              <a:t>Orchestrated</a:t>
            </a:r>
            <a:endParaRPr lang="en-US" sz="1700" dirty="0"/>
          </a:p>
        </p:txBody>
      </p:sp>
      <p:sp>
        <p:nvSpPr>
          <p:cNvPr id="18" name="Text 16"/>
          <p:cNvSpPr/>
          <p:nvPr/>
        </p:nvSpPr>
        <p:spPr>
          <a:xfrm>
            <a:off x="8851900" y="2903289"/>
            <a:ext cx="2603119" cy="642590"/>
          </a:xfrm>
          <a:prstGeom prst="rect">
            <a:avLst/>
          </a:prstGeom>
          <a:noFill/>
          <a:ln/>
        </p:spPr>
        <p:txBody>
          <a:bodyPr wrap="square" lIns="0" tIns="0" rIns="0" bIns="0" rtlCol="0" anchor="t">
            <a:normAutofit/>
          </a:bodyPr>
          <a:lstStyle/>
          <a:p>
            <a:pPr algn="l" indent="0" marL="0">
              <a:lnSpc>
                <a:spcPts val="1620"/>
              </a:lnSpc>
              <a:buNone/>
            </a:pPr>
            <a:r>
              <a:rPr lang="en-US" sz="1200" i="1" dirty="0">
                <a:solidFill>
                  <a:srgbClr val="3C4A55"/>
                </a:solidFill>
                <a:latin typeface="Inter" pitchFamily="34" charset="0"/>
                <a:ea typeface="Inter" pitchFamily="34" charset="-122"/>
                <a:cs typeface="Inter" pitchFamily="34" charset="-120"/>
              </a:rPr>
              <a:t>What should we do, and do it.</a:t>
            </a:r>
            <a:r>
              <a:rPr lang="en-US" sz="1200" dirty="0">
                <a:solidFill>
                  <a:srgbClr val="3C4A55"/>
                </a:solidFill>
                <a:latin typeface="Inter" pitchFamily="34" charset="0"/>
                <a:ea typeface="Inter" pitchFamily="34" charset="-122"/>
                <a:cs typeface="Inter" pitchFamily="34" charset="-120"/>
              </a:rPr>
              <a:t> Agents act; people decide the critical calls</a:t>
            </a:r>
            <a:endParaRPr lang="en-US" sz="1200" dirty="0"/>
          </a:p>
        </p:txBody>
      </p:sp>
      <p:sp>
        <p:nvSpPr>
          <p:cNvPr id="19" name="Text 17"/>
          <p:cNvSpPr/>
          <p:nvPr/>
        </p:nvSpPr>
        <p:spPr>
          <a:xfrm>
            <a:off x="8851900" y="3622080"/>
            <a:ext cx="2527300" cy="1714500"/>
          </a:xfrm>
          <a:prstGeom prst="rect">
            <a:avLst/>
          </a:prstGeom>
          <a:solidFill>
            <a:srgbClr val="2251FF"/>
          </a:solidFill>
          <a:ln/>
        </p:spPr>
        <p:txBody>
          <a:bodyPr wrap="square" lIns="152400" tIns="152400" rIns="152400" bIns="152400" rtlCol="0" anchor="b">
            <a:normAutofit/>
          </a:bodyPr>
          <a:lstStyle/>
          <a:p>
            <a:pPr algn="l" indent="0" marL="0">
              <a:lnSpc>
                <a:spcPts val="1680"/>
              </a:lnSpc>
              <a:buNone/>
            </a:pPr>
            <a:r>
              <a:rPr lang="en-US" sz="1200" b="1" dirty="0">
                <a:solidFill>
                  <a:srgbClr val="FFFFFF"/>
                </a:solidFill>
                <a:latin typeface="Inter" pitchFamily="34" charset="0"/>
                <a:ea typeface="Inter" pitchFamily="34" charset="-122"/>
                <a:cs typeface="Inter" pitchFamily="34" charset="-120"/>
              </a:rPr>
              <a:t>Target state</a:t>
            </a:r>
            <a:endParaRPr lang="en-US" sz="1200" dirty="0"/>
          </a:p>
        </p:txBody>
      </p:sp>
      <p:sp>
        <p:nvSpPr>
          <p:cNvPr id="20" name="Shape 18"/>
          <p:cNvSpPr/>
          <p:nvPr/>
        </p:nvSpPr>
        <p:spPr>
          <a:xfrm>
            <a:off x="8693150" y="5438180"/>
            <a:ext cx="0" cy="114300"/>
          </a:xfrm>
          <a:prstGeom prst="line">
            <a:avLst/>
          </a:prstGeom>
          <a:noFill/>
          <a:ln w="12700">
            <a:solidFill>
              <a:srgbClr val="6B7680"/>
            </a:solidFill>
            <a:prstDash val="solid"/>
          </a:ln>
        </p:spPr>
      </p:sp>
      <p:sp>
        <p:nvSpPr>
          <p:cNvPr id="21" name="Shape 19"/>
          <p:cNvSpPr/>
          <p:nvPr/>
        </p:nvSpPr>
        <p:spPr>
          <a:xfrm>
            <a:off x="812800" y="5546130"/>
            <a:ext cx="7886700" cy="0"/>
          </a:xfrm>
          <a:prstGeom prst="line">
            <a:avLst/>
          </a:prstGeom>
          <a:noFill/>
          <a:ln w="12700">
            <a:solidFill>
              <a:srgbClr val="6B7680"/>
            </a:solidFill>
            <a:prstDash val="solid"/>
          </a:ln>
        </p:spPr>
      </p:sp>
      <p:sp>
        <p:nvSpPr>
          <p:cNvPr id="22" name="Shape 20"/>
          <p:cNvSpPr/>
          <p:nvPr/>
        </p:nvSpPr>
        <p:spPr>
          <a:xfrm>
            <a:off x="819150" y="5438180"/>
            <a:ext cx="0" cy="114300"/>
          </a:xfrm>
          <a:prstGeom prst="line">
            <a:avLst/>
          </a:prstGeom>
          <a:noFill/>
          <a:ln w="12700">
            <a:solidFill>
              <a:srgbClr val="6B7680"/>
            </a:solidFill>
            <a:prstDash val="solid"/>
          </a:ln>
        </p:spPr>
      </p:sp>
      <p:sp>
        <p:nvSpPr>
          <p:cNvPr id="23" name="Text 21"/>
          <p:cNvSpPr/>
          <p:nvPr/>
        </p:nvSpPr>
        <p:spPr>
          <a:xfrm>
            <a:off x="694500" y="5628680"/>
            <a:ext cx="8123301" cy="238720"/>
          </a:xfrm>
          <a:prstGeom prst="rect">
            <a:avLst/>
          </a:prstGeom>
          <a:noFill/>
          <a:ln/>
        </p:spPr>
        <p:txBody>
          <a:bodyPr wrap="square" lIns="0" tIns="0" rIns="0" bIns="0" rtlCol="0" anchor="t">
            <a:normAutofit/>
          </a:bodyPr>
          <a:lstStyle/>
          <a:p>
            <a:pPr algn="ctr" indent="0" marL="0">
              <a:lnSpc>
                <a:spcPts val="1680"/>
              </a:lnSpc>
              <a:buNone/>
            </a:pPr>
            <a:r>
              <a:rPr lang="en-US" sz="1200" b="1" dirty="0">
                <a:solidFill>
                  <a:srgbClr val="24323D"/>
                </a:solidFill>
                <a:latin typeface="Inter" pitchFamily="34" charset="0"/>
                <a:ea typeface="Inter" pitchFamily="34" charset="-122"/>
                <a:cs typeface="Inter" pitchFamily="34" charset="-120"/>
              </a:rPr>
              <a:t>FIS today: strong pockets at every stage, in silos</a:t>
            </a:r>
            <a:endParaRPr lang="en-US" sz="1200" dirty="0"/>
          </a:p>
        </p:txBody>
      </p:sp>
      <p:sp>
        <p:nvSpPr>
          <p:cNvPr id="24" name="Text 22"/>
          <p:cNvSpPr/>
          <p:nvPr/>
        </p:nvSpPr>
        <p:spPr>
          <a:xfrm>
            <a:off x="812800" y="6238280"/>
            <a:ext cx="2366546"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680"/>
                </a:solidFill>
                <a:latin typeface="Inter" pitchFamily="34" charset="0"/>
                <a:ea typeface="Inter" pitchFamily="34" charset="-122"/>
                <a:cs typeface="Inter" pitchFamily="34" charset="-120"/>
              </a:rPr>
              <a:t>Enterprise Intelligence | FIS</a:t>
            </a:r>
            <a:endParaRPr lang="en-US" sz="1200" dirty="0"/>
          </a:p>
        </p:txBody>
      </p:sp>
      <p:sp>
        <p:nvSpPr>
          <p:cNvPr id="25" name="Text 23"/>
          <p:cNvSpPr/>
          <p:nvPr/>
        </p:nvSpPr>
        <p:spPr>
          <a:xfrm>
            <a:off x="11234241" y="6238280"/>
            <a:ext cx="144959"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B7680"/>
                </a:solidFill>
                <a:latin typeface="Inter" pitchFamily="34" charset="0"/>
                <a:ea typeface="Inter" pitchFamily="34" charset="-122"/>
                <a:cs typeface="Inter" pitchFamily="34" charset="-120"/>
              </a:rPr>
              <a:t>3</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BFBF9"/>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2251FF"/>
                </a:solidFill>
                <a:latin typeface="Inter" pitchFamily="34" charset="0"/>
                <a:ea typeface="Inter" pitchFamily="34" charset="-122"/>
                <a:cs typeface="Inter" pitchFamily="34" charset="-120"/>
              </a:rPr>
              <a:t>HOW IT WORKS</a:t>
            </a:r>
            <a:endParaRPr lang="en-US" sz="1200" dirty="0"/>
          </a:p>
        </p:txBody>
      </p:sp>
      <p:sp>
        <p:nvSpPr>
          <p:cNvPr id="3" name="Text 1"/>
          <p:cNvSpPr/>
          <p:nvPr>
            <p:ph type="title"/>
          </p:nvPr>
        </p:nvSpPr>
        <p:spPr>
          <a:xfrm>
            <a:off x="812800" y="1127720"/>
            <a:ext cx="10883392" cy="784820"/>
          </a:xfrm>
          <a:prstGeom prst="rect">
            <a:avLst/>
          </a:prstGeom>
          <a:noFill/>
          <a:ln/>
        </p:spPr>
        <p:txBody>
          <a:bodyPr wrap="square" lIns="0" tIns="0" rIns="0" bIns="0" rtlCol="0" anchor="t">
            <a:normAutofit/>
          </a:bodyPr>
          <a:lstStyle/>
          <a:p>
            <a:pPr algn="l" indent="0" marL="0">
              <a:lnSpc>
                <a:spcPts val="2990"/>
              </a:lnSpc>
              <a:buNone/>
            </a:pPr>
            <a:r>
              <a:rPr lang="en-US" sz="2600" b="0" i="0" dirty="0">
                <a:solidFill>
                  <a:srgbClr val="051C2C"/>
                </a:solidFill>
                <a:latin typeface="Source Serif 4" pitchFamily="18" charset="0"/>
                <a:ea typeface="Source Serif 4" pitchFamily="18" charset="-122"/>
                <a:cs typeface="Source Serif 4" pitchFamily="18" charset="-120"/>
              </a:rPr>
              <a:t>Every signal, unified to drive commercial and operational excellence.</a:t>
            </a:r>
            <a:endParaRPr lang="en-US" sz="2600" dirty="0"/>
          </a:p>
        </p:txBody>
      </p:sp>
      <p:sp>
        <p:nvSpPr>
          <p:cNvPr id="4" name="Text 2"/>
          <p:cNvSpPr/>
          <p:nvPr/>
        </p:nvSpPr>
        <p:spPr>
          <a:xfrm>
            <a:off x="812800" y="2141141"/>
            <a:ext cx="4316730"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6B7680"/>
                </a:solidFill>
                <a:latin typeface="Inter" pitchFamily="34" charset="0"/>
                <a:ea typeface="Inter" pitchFamily="34" charset="-122"/>
                <a:cs typeface="Inter" pitchFamily="34" charset="-120"/>
              </a:rPr>
              <a:t>Starting with 12 signals</a:t>
            </a:r>
            <a:endParaRPr lang="en-US" sz="1200" dirty="0"/>
          </a:p>
        </p:txBody>
      </p:sp>
      <p:sp>
        <p:nvSpPr>
          <p:cNvPr id="5" name="Shape 3"/>
          <p:cNvSpPr/>
          <p:nvPr/>
        </p:nvSpPr>
        <p:spPr>
          <a:xfrm>
            <a:off x="815975" y="2433836"/>
            <a:ext cx="2051050" cy="844451"/>
          </a:xfrm>
          <a:prstGeom prst="rect">
            <a:avLst/>
          </a:prstGeom>
          <a:solidFill>
            <a:srgbClr val="FFFFFF"/>
          </a:solidFill>
          <a:ln w="6350">
            <a:solidFill>
              <a:srgbClr val="D5DCE2"/>
            </a:solidFill>
            <a:prstDash val="solid"/>
          </a:ln>
        </p:spPr>
      </p:sp>
      <p:sp>
        <p:nvSpPr>
          <p:cNvPr id="6" name="Text 4"/>
          <p:cNvSpPr/>
          <p:nvPr/>
        </p:nvSpPr>
        <p:spPr>
          <a:xfrm>
            <a:off x="946150" y="2538611"/>
            <a:ext cx="1844421" cy="208260"/>
          </a:xfrm>
          <a:prstGeom prst="rect">
            <a:avLst/>
          </a:prstGeom>
          <a:noFill/>
          <a:ln/>
        </p:spPr>
        <p:txBody>
          <a:bodyPr wrap="square" lIns="0" tIns="0" rIns="0" bIns="0" rtlCol="0" anchor="t">
            <a:normAutofit/>
          </a:bodyPr>
          <a:lstStyle/>
          <a:p>
            <a:pPr algn="l" indent="0" marL="0">
              <a:lnSpc>
                <a:spcPts val="1440"/>
              </a:lnSpc>
              <a:buNone/>
            </a:pPr>
            <a:r>
              <a:rPr lang="en-US" sz="1200" b="1" dirty="0">
                <a:solidFill>
                  <a:srgbClr val="051C2C"/>
                </a:solidFill>
                <a:latin typeface="Inter" pitchFamily="34" charset="0"/>
                <a:ea typeface="Inter" pitchFamily="34" charset="-122"/>
                <a:cs typeface="Inter" pitchFamily="34" charset="-120"/>
              </a:rPr>
              <a:t>Commercial</a:t>
            </a:r>
            <a:endParaRPr lang="en-US" sz="1200" dirty="0"/>
          </a:p>
        </p:txBody>
      </p:sp>
      <p:sp>
        <p:nvSpPr>
          <p:cNvPr id="7" name="Text 5"/>
          <p:cNvSpPr/>
          <p:nvPr/>
        </p:nvSpPr>
        <p:spPr>
          <a:xfrm>
            <a:off x="946150" y="2746871"/>
            <a:ext cx="1844421"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3C4A55"/>
                </a:solidFill>
                <a:latin typeface="Inter" pitchFamily="34" charset="0"/>
                <a:ea typeface="Inter" pitchFamily="34" charset="-122"/>
                <a:cs typeface="Inter" pitchFamily="34" charset="-120"/>
              </a:rPr>
              <a:t>Contracts · Billing · Invoicing</a:t>
            </a:r>
            <a:endParaRPr lang="en-US" sz="1200" dirty="0"/>
          </a:p>
        </p:txBody>
      </p:sp>
      <p:sp>
        <p:nvSpPr>
          <p:cNvPr id="8" name="Shape 6"/>
          <p:cNvSpPr/>
          <p:nvPr/>
        </p:nvSpPr>
        <p:spPr>
          <a:xfrm>
            <a:off x="2949575" y="2433836"/>
            <a:ext cx="2051050" cy="844451"/>
          </a:xfrm>
          <a:prstGeom prst="rect">
            <a:avLst/>
          </a:prstGeom>
          <a:solidFill>
            <a:srgbClr val="FFFFFF"/>
          </a:solidFill>
          <a:ln w="6350">
            <a:solidFill>
              <a:srgbClr val="D5DCE2"/>
            </a:solidFill>
            <a:prstDash val="solid"/>
          </a:ln>
        </p:spPr>
      </p:sp>
      <p:sp>
        <p:nvSpPr>
          <p:cNvPr id="9" name="Text 7"/>
          <p:cNvSpPr/>
          <p:nvPr/>
        </p:nvSpPr>
        <p:spPr>
          <a:xfrm>
            <a:off x="3079750" y="2538611"/>
            <a:ext cx="1844421" cy="208260"/>
          </a:xfrm>
          <a:prstGeom prst="rect">
            <a:avLst/>
          </a:prstGeom>
          <a:noFill/>
          <a:ln/>
        </p:spPr>
        <p:txBody>
          <a:bodyPr wrap="square" lIns="0" tIns="0" rIns="0" bIns="0" rtlCol="0" anchor="t">
            <a:normAutofit/>
          </a:bodyPr>
          <a:lstStyle/>
          <a:p>
            <a:pPr algn="l" indent="0" marL="0">
              <a:lnSpc>
                <a:spcPts val="1440"/>
              </a:lnSpc>
              <a:buNone/>
            </a:pPr>
            <a:r>
              <a:rPr lang="en-US" sz="1200" b="1" dirty="0">
                <a:solidFill>
                  <a:srgbClr val="051C2C"/>
                </a:solidFill>
                <a:latin typeface="Inter" pitchFamily="34" charset="0"/>
                <a:ea typeface="Inter" pitchFamily="34" charset="-122"/>
                <a:cs typeface="Inter" pitchFamily="34" charset="-120"/>
              </a:rPr>
              <a:t>Service</a:t>
            </a:r>
            <a:endParaRPr lang="en-US" sz="1200" dirty="0"/>
          </a:p>
        </p:txBody>
      </p:sp>
      <p:sp>
        <p:nvSpPr>
          <p:cNvPr id="10" name="Text 8"/>
          <p:cNvSpPr/>
          <p:nvPr/>
        </p:nvSpPr>
        <p:spPr>
          <a:xfrm>
            <a:off x="3079750" y="2746871"/>
            <a:ext cx="1844421"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3C4A55"/>
                </a:solidFill>
                <a:latin typeface="Inter" pitchFamily="34" charset="0"/>
                <a:ea typeface="Inter" pitchFamily="34" charset="-122"/>
                <a:cs typeface="Inter" pitchFamily="34" charset="-120"/>
              </a:rPr>
              <a:t>Tickets · SLAs · Incidents</a:t>
            </a:r>
            <a:endParaRPr lang="en-US" sz="1200" dirty="0"/>
          </a:p>
        </p:txBody>
      </p:sp>
      <p:sp>
        <p:nvSpPr>
          <p:cNvPr id="11" name="Shape 9"/>
          <p:cNvSpPr/>
          <p:nvPr/>
        </p:nvSpPr>
        <p:spPr>
          <a:xfrm>
            <a:off x="815975" y="3360837"/>
            <a:ext cx="2051050" cy="844451"/>
          </a:xfrm>
          <a:prstGeom prst="rect">
            <a:avLst/>
          </a:prstGeom>
          <a:solidFill>
            <a:srgbClr val="FFFFFF"/>
          </a:solidFill>
          <a:ln w="6350">
            <a:solidFill>
              <a:srgbClr val="D5DCE2"/>
            </a:solidFill>
            <a:prstDash val="solid"/>
          </a:ln>
        </p:spPr>
      </p:sp>
      <p:sp>
        <p:nvSpPr>
          <p:cNvPr id="12" name="Text 10"/>
          <p:cNvSpPr/>
          <p:nvPr/>
        </p:nvSpPr>
        <p:spPr>
          <a:xfrm>
            <a:off x="946150" y="3465612"/>
            <a:ext cx="1844421" cy="208260"/>
          </a:xfrm>
          <a:prstGeom prst="rect">
            <a:avLst/>
          </a:prstGeom>
          <a:noFill/>
          <a:ln/>
        </p:spPr>
        <p:txBody>
          <a:bodyPr wrap="square" lIns="0" tIns="0" rIns="0" bIns="0" rtlCol="0" anchor="t">
            <a:normAutofit/>
          </a:bodyPr>
          <a:lstStyle/>
          <a:p>
            <a:pPr algn="l" indent="0" marL="0">
              <a:lnSpc>
                <a:spcPts val="1440"/>
              </a:lnSpc>
              <a:buNone/>
            </a:pPr>
            <a:r>
              <a:rPr lang="en-US" sz="1200" b="1" dirty="0">
                <a:solidFill>
                  <a:srgbClr val="051C2C"/>
                </a:solidFill>
                <a:latin typeface="Inter" pitchFamily="34" charset="0"/>
                <a:ea typeface="Inter" pitchFamily="34" charset="-122"/>
                <a:cs typeface="Inter" pitchFamily="34" charset="-120"/>
              </a:rPr>
              <a:t>Client voice</a:t>
            </a:r>
            <a:endParaRPr lang="en-US" sz="1200" dirty="0"/>
          </a:p>
        </p:txBody>
      </p:sp>
      <p:sp>
        <p:nvSpPr>
          <p:cNvPr id="13" name="Text 11"/>
          <p:cNvSpPr/>
          <p:nvPr/>
        </p:nvSpPr>
        <p:spPr>
          <a:xfrm>
            <a:off x="946150" y="3673872"/>
            <a:ext cx="1844421"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3C4A55"/>
                </a:solidFill>
                <a:latin typeface="Inter" pitchFamily="34" charset="0"/>
                <a:ea typeface="Inter" pitchFamily="34" charset="-122"/>
                <a:cs typeface="Inter" pitchFamily="34" charset="-120"/>
              </a:rPr>
              <a:t>Surveys</a:t>
            </a:r>
            <a:endParaRPr lang="en-US" sz="1200" dirty="0"/>
          </a:p>
        </p:txBody>
      </p:sp>
      <p:sp>
        <p:nvSpPr>
          <p:cNvPr id="14" name="Shape 12"/>
          <p:cNvSpPr/>
          <p:nvPr/>
        </p:nvSpPr>
        <p:spPr>
          <a:xfrm>
            <a:off x="2949575" y="3360837"/>
            <a:ext cx="2051050" cy="844451"/>
          </a:xfrm>
          <a:prstGeom prst="rect">
            <a:avLst/>
          </a:prstGeom>
          <a:solidFill>
            <a:srgbClr val="FFFFFF"/>
          </a:solidFill>
          <a:ln w="6350">
            <a:solidFill>
              <a:srgbClr val="D5DCE2"/>
            </a:solidFill>
            <a:prstDash val="solid"/>
          </a:ln>
        </p:spPr>
      </p:sp>
      <p:sp>
        <p:nvSpPr>
          <p:cNvPr id="15" name="Text 13"/>
          <p:cNvSpPr/>
          <p:nvPr/>
        </p:nvSpPr>
        <p:spPr>
          <a:xfrm>
            <a:off x="3079750" y="3465612"/>
            <a:ext cx="1844421" cy="208260"/>
          </a:xfrm>
          <a:prstGeom prst="rect">
            <a:avLst/>
          </a:prstGeom>
          <a:noFill/>
          <a:ln/>
        </p:spPr>
        <p:txBody>
          <a:bodyPr wrap="square" lIns="0" tIns="0" rIns="0" bIns="0" rtlCol="0" anchor="t">
            <a:normAutofit/>
          </a:bodyPr>
          <a:lstStyle/>
          <a:p>
            <a:pPr algn="l" indent="0" marL="0">
              <a:lnSpc>
                <a:spcPts val="1440"/>
              </a:lnSpc>
              <a:buNone/>
            </a:pPr>
            <a:r>
              <a:rPr lang="en-US" sz="1200" b="1" dirty="0">
                <a:solidFill>
                  <a:srgbClr val="051C2C"/>
                </a:solidFill>
                <a:latin typeface="Inter" pitchFamily="34" charset="0"/>
                <a:ea typeface="Inter" pitchFamily="34" charset="-122"/>
                <a:cs typeface="Inter" pitchFamily="34" charset="-120"/>
              </a:rPr>
              <a:t>Product</a:t>
            </a:r>
            <a:endParaRPr lang="en-US" sz="1200" dirty="0"/>
          </a:p>
        </p:txBody>
      </p:sp>
      <p:sp>
        <p:nvSpPr>
          <p:cNvPr id="16" name="Text 14"/>
          <p:cNvSpPr/>
          <p:nvPr/>
        </p:nvSpPr>
        <p:spPr>
          <a:xfrm>
            <a:off x="3079750" y="3673872"/>
            <a:ext cx="1844421"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3C4A55"/>
                </a:solidFill>
                <a:latin typeface="Inter" pitchFamily="34" charset="0"/>
                <a:ea typeface="Inter" pitchFamily="34" charset="-122"/>
                <a:cs typeface="Inter" pitchFamily="34" charset="-120"/>
              </a:rPr>
              <a:t>Catalog · Usage telemetry</a:t>
            </a:r>
            <a:endParaRPr lang="en-US" sz="1200" dirty="0"/>
          </a:p>
        </p:txBody>
      </p:sp>
      <p:sp>
        <p:nvSpPr>
          <p:cNvPr id="17" name="Shape 15"/>
          <p:cNvSpPr/>
          <p:nvPr/>
        </p:nvSpPr>
        <p:spPr>
          <a:xfrm>
            <a:off x="815975" y="4287838"/>
            <a:ext cx="2051050" cy="844451"/>
          </a:xfrm>
          <a:prstGeom prst="rect">
            <a:avLst/>
          </a:prstGeom>
          <a:solidFill>
            <a:srgbClr val="FFFFFF"/>
          </a:solidFill>
          <a:ln w="6350">
            <a:solidFill>
              <a:srgbClr val="D5DCE2"/>
            </a:solidFill>
            <a:prstDash val="solid"/>
          </a:ln>
        </p:spPr>
      </p:sp>
      <p:sp>
        <p:nvSpPr>
          <p:cNvPr id="18" name="Text 16"/>
          <p:cNvSpPr/>
          <p:nvPr/>
        </p:nvSpPr>
        <p:spPr>
          <a:xfrm>
            <a:off x="946150" y="4392613"/>
            <a:ext cx="1844421" cy="208260"/>
          </a:xfrm>
          <a:prstGeom prst="rect">
            <a:avLst/>
          </a:prstGeom>
          <a:noFill/>
          <a:ln/>
        </p:spPr>
        <p:txBody>
          <a:bodyPr wrap="square" lIns="0" tIns="0" rIns="0" bIns="0" rtlCol="0" anchor="t">
            <a:normAutofit/>
          </a:bodyPr>
          <a:lstStyle/>
          <a:p>
            <a:pPr algn="l" indent="0" marL="0">
              <a:lnSpc>
                <a:spcPts val="1440"/>
              </a:lnSpc>
              <a:buNone/>
            </a:pPr>
            <a:r>
              <a:rPr lang="en-US" sz="1200" b="1" dirty="0">
                <a:solidFill>
                  <a:srgbClr val="051C2C"/>
                </a:solidFill>
                <a:latin typeface="Inter" pitchFamily="34" charset="0"/>
                <a:ea typeface="Inter" pitchFamily="34" charset="-122"/>
                <a:cs typeface="Inter" pitchFamily="34" charset="-120"/>
              </a:rPr>
              <a:t>Vendors</a:t>
            </a:r>
            <a:endParaRPr lang="en-US" sz="1200" dirty="0"/>
          </a:p>
        </p:txBody>
      </p:sp>
      <p:sp>
        <p:nvSpPr>
          <p:cNvPr id="19" name="Text 17"/>
          <p:cNvSpPr/>
          <p:nvPr/>
        </p:nvSpPr>
        <p:spPr>
          <a:xfrm>
            <a:off x="946150" y="4600873"/>
            <a:ext cx="1844421"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3C4A55"/>
                </a:solidFill>
                <a:latin typeface="Inter" pitchFamily="34" charset="0"/>
                <a:ea typeface="Inter" pitchFamily="34" charset="-122"/>
                <a:cs typeface="Inter" pitchFamily="34" charset="-120"/>
              </a:rPr>
              <a:t>Vendors · Vendor contracts</a:t>
            </a:r>
            <a:endParaRPr lang="en-US" sz="1200" dirty="0"/>
          </a:p>
        </p:txBody>
      </p:sp>
      <p:sp>
        <p:nvSpPr>
          <p:cNvPr id="20" name="Shape 18"/>
          <p:cNvSpPr/>
          <p:nvPr/>
        </p:nvSpPr>
        <p:spPr>
          <a:xfrm>
            <a:off x="2949575" y="4287838"/>
            <a:ext cx="2051050" cy="844451"/>
          </a:xfrm>
          <a:prstGeom prst="rect">
            <a:avLst/>
          </a:prstGeom>
          <a:solidFill>
            <a:srgbClr val="FFFFFF"/>
          </a:solidFill>
          <a:ln w="6350">
            <a:solidFill>
              <a:srgbClr val="D5DCE2"/>
            </a:solidFill>
            <a:prstDash val="solid"/>
          </a:ln>
        </p:spPr>
      </p:sp>
      <p:sp>
        <p:nvSpPr>
          <p:cNvPr id="21" name="Text 19"/>
          <p:cNvSpPr/>
          <p:nvPr/>
        </p:nvSpPr>
        <p:spPr>
          <a:xfrm>
            <a:off x="3079750" y="4392613"/>
            <a:ext cx="1844421" cy="208260"/>
          </a:xfrm>
          <a:prstGeom prst="rect">
            <a:avLst/>
          </a:prstGeom>
          <a:noFill/>
          <a:ln/>
        </p:spPr>
        <p:txBody>
          <a:bodyPr wrap="square" lIns="0" tIns="0" rIns="0" bIns="0" rtlCol="0" anchor="t">
            <a:normAutofit/>
          </a:bodyPr>
          <a:lstStyle/>
          <a:p>
            <a:pPr algn="l" indent="0" marL="0">
              <a:lnSpc>
                <a:spcPts val="1440"/>
              </a:lnSpc>
              <a:buNone/>
            </a:pPr>
            <a:r>
              <a:rPr lang="en-US" sz="1200" b="1" dirty="0">
                <a:solidFill>
                  <a:srgbClr val="051C2C"/>
                </a:solidFill>
                <a:latin typeface="Inter" pitchFamily="34" charset="0"/>
                <a:ea typeface="Inter" pitchFamily="34" charset="-122"/>
                <a:cs typeface="Inter" pitchFamily="34" charset="-120"/>
              </a:rPr>
              <a:t>People</a:t>
            </a:r>
            <a:endParaRPr lang="en-US" sz="1200" dirty="0"/>
          </a:p>
        </p:txBody>
      </p:sp>
      <p:sp>
        <p:nvSpPr>
          <p:cNvPr id="22" name="Text 20"/>
          <p:cNvSpPr/>
          <p:nvPr/>
        </p:nvSpPr>
        <p:spPr>
          <a:xfrm>
            <a:off x="3079750" y="4600873"/>
            <a:ext cx="1844421"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3C4A55"/>
                </a:solidFill>
                <a:latin typeface="Inter" pitchFamily="34" charset="0"/>
                <a:ea typeface="Inter" pitchFamily="34" charset="-122"/>
                <a:cs typeface="Inter" pitchFamily="34" charset="-120"/>
              </a:rPr>
              <a:t>Time tracking</a:t>
            </a:r>
            <a:endParaRPr lang="en-US" sz="1200" dirty="0"/>
          </a:p>
        </p:txBody>
      </p:sp>
      <p:sp>
        <p:nvSpPr>
          <p:cNvPr id="23" name="Text 21"/>
          <p:cNvSpPr/>
          <p:nvPr/>
        </p:nvSpPr>
        <p:spPr>
          <a:xfrm>
            <a:off x="4978400" y="3424932"/>
            <a:ext cx="406400" cy="452090"/>
          </a:xfrm>
          <a:prstGeom prst="rect">
            <a:avLst/>
          </a:prstGeom>
          <a:noFill/>
          <a:ln/>
        </p:spPr>
        <p:txBody>
          <a:bodyPr wrap="square" lIns="0" tIns="0" rIns="0" bIns="0" rtlCol="0" anchor="t">
            <a:normAutofit/>
          </a:bodyPr>
          <a:lstStyle/>
          <a:p>
            <a:pPr algn="ctr" indent="0" marL="0">
              <a:lnSpc>
                <a:spcPts val="3360"/>
              </a:lnSpc>
              <a:buNone/>
            </a:pPr>
            <a:r>
              <a:rPr lang="en-US" sz="2400" dirty="0">
                <a:solidFill>
                  <a:srgbClr val="2251FF"/>
                </a:solidFill>
                <a:latin typeface="Inter" pitchFamily="34" charset="0"/>
                <a:ea typeface="Inter" pitchFamily="34" charset="-122"/>
                <a:cs typeface="Inter" pitchFamily="34" charset="-120"/>
              </a:rPr>
              <a:t>→</a:t>
            </a:r>
            <a:endParaRPr lang="en-US" sz="2400" dirty="0"/>
          </a:p>
        </p:txBody>
      </p:sp>
      <p:sp>
        <p:nvSpPr>
          <p:cNvPr id="24" name="Shape 22"/>
          <p:cNvSpPr/>
          <p:nvPr/>
        </p:nvSpPr>
        <p:spPr>
          <a:xfrm>
            <a:off x="5359400" y="2434431"/>
            <a:ext cx="3048000" cy="2407741"/>
          </a:xfrm>
          <a:prstGeom prst="rect">
            <a:avLst/>
          </a:prstGeom>
          <a:solidFill>
            <a:srgbClr val="051C2C"/>
          </a:solidFill>
          <a:ln/>
        </p:spPr>
      </p:sp>
      <p:sp>
        <p:nvSpPr>
          <p:cNvPr id="25" name="Text 23"/>
          <p:cNvSpPr/>
          <p:nvPr/>
        </p:nvSpPr>
        <p:spPr>
          <a:xfrm>
            <a:off x="5562600" y="2637631"/>
            <a:ext cx="2720848"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00A9F4"/>
                </a:solidFill>
                <a:latin typeface="Inter" pitchFamily="34" charset="0"/>
                <a:ea typeface="Inter" pitchFamily="34" charset="-122"/>
                <a:cs typeface="Inter" pitchFamily="34" charset="-120"/>
              </a:rPr>
              <a:t>ENTERPRISE INTELLIGENCE</a:t>
            </a:r>
            <a:endParaRPr lang="en-US" sz="1200" dirty="0"/>
          </a:p>
        </p:txBody>
      </p:sp>
      <p:sp>
        <p:nvSpPr>
          <p:cNvPr id="26" name="Text 24"/>
          <p:cNvSpPr/>
          <p:nvPr/>
        </p:nvSpPr>
        <p:spPr>
          <a:xfrm>
            <a:off x="5562600" y="2952552"/>
            <a:ext cx="2720848" cy="284460"/>
          </a:xfrm>
          <a:prstGeom prst="rect">
            <a:avLst/>
          </a:prstGeom>
          <a:noFill/>
          <a:ln/>
        </p:spPr>
        <p:txBody>
          <a:bodyPr wrap="square" lIns="0" tIns="0" rIns="0" bIns="0" rtlCol="0" anchor="t">
            <a:normAutofit/>
          </a:bodyPr>
          <a:lstStyle/>
          <a:p>
            <a:pPr algn="l" indent="0" marL="0">
              <a:lnSpc>
                <a:spcPts val="2040"/>
              </a:lnSpc>
              <a:buNone/>
            </a:pPr>
            <a:r>
              <a:rPr lang="en-US" sz="1700" dirty="0">
                <a:solidFill>
                  <a:srgbClr val="F4F6F8"/>
                </a:solidFill>
                <a:latin typeface="Source Serif 4" pitchFamily="18" charset="0"/>
                <a:ea typeface="Source Serif 4" pitchFamily="18" charset="-122"/>
                <a:cs typeface="Source Serif 4" pitchFamily="18" charset="-120"/>
              </a:rPr>
              <a:t>One view of FIS</a:t>
            </a:r>
            <a:endParaRPr lang="en-US" sz="1700" dirty="0"/>
          </a:p>
        </p:txBody>
      </p:sp>
      <p:sp>
        <p:nvSpPr>
          <p:cNvPr id="27" name="Text 25"/>
          <p:cNvSpPr/>
          <p:nvPr/>
        </p:nvSpPr>
        <p:spPr>
          <a:xfrm>
            <a:off x="5591556" y="3313212"/>
            <a:ext cx="2686558" cy="1351161"/>
          </a:xfrm>
          <a:prstGeom prst="rect">
            <a:avLst/>
          </a:prstGeom>
          <a:noFill/>
          <a:ln/>
        </p:spPr>
        <p:txBody>
          <a:bodyPr wrap="square" lIns="0" tIns="0" rIns="0" bIns="0" rtlCol="0" anchor="t">
            <a:normAutofit/>
          </a:bodyPr>
          <a:lstStyle/>
          <a:p>
            <a:pPr algn="l" marL="148844" indent="-148844">
              <a:lnSpc>
                <a:spcPts val="1740"/>
              </a:lnSpc>
              <a:buSzPct val="100000"/>
              <a:buChar char="•"/>
            </a:pPr>
            <a:r>
              <a:rPr lang="en-US" sz="1200" dirty="0">
                <a:solidFill>
                  <a:srgbClr val="C9D4DD"/>
                </a:solidFill>
                <a:latin typeface="Inter" pitchFamily="34" charset="0"/>
                <a:ea typeface="Inter" pitchFamily="34" charset="-122"/>
                <a:cs typeface="Inter" pitchFamily="34" charset="-120"/>
              </a:rPr>
              <a:t>Sees every client and contract</a:t>
            </a:r>
            <a:endParaRPr lang="en-US" sz="1200" dirty="0"/>
          </a:p>
          <a:p>
            <a:pPr algn="l" marL="148844" indent="-148844">
              <a:lnSpc>
                <a:spcPts val="1740"/>
              </a:lnSpc>
              <a:buSzPct val="100000"/>
              <a:buChar char="•"/>
            </a:pPr>
            <a:r>
              <a:rPr lang="en-US" sz="1200" dirty="0">
                <a:solidFill>
                  <a:srgbClr val="C9D4DD"/>
                </a:solidFill>
                <a:latin typeface="Inter" pitchFamily="34" charset="0"/>
                <a:ea typeface="Inter" pitchFamily="34" charset="-122"/>
                <a:cs typeface="Inter" pitchFamily="34" charset="-120"/>
              </a:rPr>
              <a:t>Knows the true cost to serve</a:t>
            </a:r>
            <a:endParaRPr lang="en-US" sz="1200" dirty="0"/>
          </a:p>
          <a:p>
            <a:pPr algn="l" marL="148844" indent="-148844">
              <a:lnSpc>
                <a:spcPts val="1740"/>
              </a:lnSpc>
              <a:buSzPct val="100000"/>
              <a:buChar char="•"/>
            </a:pPr>
            <a:r>
              <a:rPr lang="en-US" sz="1200" dirty="0">
                <a:solidFill>
                  <a:srgbClr val="C9D4DD"/>
                </a:solidFill>
                <a:latin typeface="Inter" pitchFamily="34" charset="0"/>
                <a:ea typeface="Inter" pitchFamily="34" charset="-122"/>
                <a:cs typeface="Inter" pitchFamily="34" charset="-120"/>
              </a:rPr>
              <a:t>Finds unbilled revenue</a:t>
            </a:r>
            <a:endParaRPr lang="en-US" sz="1200" dirty="0"/>
          </a:p>
          <a:p>
            <a:pPr algn="l" marL="148844" indent="-148844">
              <a:lnSpc>
                <a:spcPts val="1740"/>
              </a:lnSpc>
              <a:buSzPct val="100000"/>
              <a:buChar char="•"/>
            </a:pPr>
            <a:r>
              <a:rPr lang="en-US" sz="1200" dirty="0">
                <a:solidFill>
                  <a:srgbClr val="C9D4DD"/>
                </a:solidFill>
                <a:latin typeface="Inter" pitchFamily="34" charset="0"/>
                <a:ea typeface="Inter" pitchFamily="34" charset="-122"/>
                <a:cs typeface="Inter" pitchFamily="34" charset="-120"/>
              </a:rPr>
              <a:t>Spots each client's next buy</a:t>
            </a:r>
            <a:endParaRPr lang="en-US" sz="1200" dirty="0"/>
          </a:p>
          <a:p>
            <a:pPr algn="l" marL="148844" indent="-148844">
              <a:lnSpc>
                <a:spcPts val="1740"/>
              </a:lnSpc>
              <a:buSzPct val="100000"/>
              <a:buChar char="•"/>
            </a:pPr>
            <a:r>
              <a:rPr lang="en-US" sz="1200" dirty="0">
                <a:solidFill>
                  <a:srgbClr val="C9D4DD"/>
                </a:solidFill>
                <a:latin typeface="Inter" pitchFamily="34" charset="0"/>
                <a:ea typeface="Inter" pitchFamily="34" charset="-122"/>
                <a:cs typeface="Inter" pitchFamily="34" charset="-120"/>
              </a:rPr>
              <a:t>Forecasts revenue and cash, live</a:t>
            </a:r>
            <a:endParaRPr lang="en-US" sz="1200" dirty="0"/>
          </a:p>
          <a:p>
            <a:pPr algn="l" marL="148844" indent="-148844">
              <a:lnSpc>
                <a:spcPts val="1740"/>
              </a:lnSpc>
              <a:buSzPct val="100000"/>
              <a:buChar char="•"/>
            </a:pPr>
            <a:r>
              <a:rPr lang="en-US" sz="1200" dirty="0">
                <a:solidFill>
                  <a:srgbClr val="C9D4DD"/>
                </a:solidFill>
                <a:latin typeface="Inter" pitchFamily="34" charset="0"/>
                <a:ea typeface="Inter" pitchFamily="34" charset="-122"/>
                <a:cs typeface="Inter" pitchFamily="34" charset="-120"/>
              </a:rPr>
              <a:t>Agents act; our people decide</a:t>
            </a:r>
            <a:endParaRPr lang="en-US" sz="1200" dirty="0"/>
          </a:p>
        </p:txBody>
      </p:sp>
      <p:sp>
        <p:nvSpPr>
          <p:cNvPr id="28" name="Text 26"/>
          <p:cNvSpPr/>
          <p:nvPr/>
        </p:nvSpPr>
        <p:spPr>
          <a:xfrm>
            <a:off x="8382000" y="3424932"/>
            <a:ext cx="406400" cy="452090"/>
          </a:xfrm>
          <a:prstGeom prst="rect">
            <a:avLst/>
          </a:prstGeom>
          <a:noFill/>
          <a:ln/>
        </p:spPr>
        <p:txBody>
          <a:bodyPr wrap="square" lIns="0" tIns="0" rIns="0" bIns="0" rtlCol="0" anchor="t">
            <a:normAutofit/>
          </a:bodyPr>
          <a:lstStyle/>
          <a:p>
            <a:pPr algn="ctr" indent="0" marL="0">
              <a:lnSpc>
                <a:spcPts val="3360"/>
              </a:lnSpc>
              <a:buNone/>
            </a:pPr>
            <a:r>
              <a:rPr lang="en-US" sz="2400" dirty="0">
                <a:solidFill>
                  <a:srgbClr val="2251FF"/>
                </a:solidFill>
                <a:latin typeface="Inter" pitchFamily="34" charset="0"/>
                <a:ea typeface="Inter" pitchFamily="34" charset="-122"/>
                <a:cs typeface="Inter" pitchFamily="34" charset="-120"/>
              </a:rPr>
              <a:t>→</a:t>
            </a:r>
            <a:endParaRPr lang="en-US" sz="2400" dirty="0"/>
          </a:p>
        </p:txBody>
      </p:sp>
      <p:sp>
        <p:nvSpPr>
          <p:cNvPr id="29" name="Shape 27"/>
          <p:cNvSpPr/>
          <p:nvPr/>
        </p:nvSpPr>
        <p:spPr>
          <a:xfrm>
            <a:off x="8763000" y="2553841"/>
            <a:ext cx="2616200" cy="0"/>
          </a:xfrm>
          <a:prstGeom prst="line">
            <a:avLst/>
          </a:prstGeom>
          <a:noFill/>
          <a:ln w="25400">
            <a:solidFill>
              <a:srgbClr val="2251FF"/>
            </a:solidFill>
            <a:prstDash val="solid"/>
          </a:ln>
        </p:spPr>
      </p:sp>
      <p:sp>
        <p:nvSpPr>
          <p:cNvPr id="30" name="Text 28"/>
          <p:cNvSpPr/>
          <p:nvPr/>
        </p:nvSpPr>
        <p:spPr>
          <a:xfrm>
            <a:off x="8763000" y="2668141"/>
            <a:ext cx="2694686" cy="238720"/>
          </a:xfrm>
          <a:prstGeom prst="rect">
            <a:avLst/>
          </a:prstGeom>
          <a:noFill/>
          <a:ln/>
        </p:spPr>
        <p:txBody>
          <a:bodyPr wrap="square" lIns="0" tIns="0" rIns="0" bIns="0" rtlCol="0" anchor="t">
            <a:normAutofit/>
          </a:bodyPr>
          <a:lstStyle/>
          <a:p>
            <a:pPr algn="l" indent="0" marL="0">
              <a:lnSpc>
                <a:spcPts val="1680"/>
              </a:lnSpc>
              <a:buNone/>
            </a:pPr>
            <a:r>
              <a:rPr lang="en-US" sz="1400" b="1" dirty="0">
                <a:solidFill>
                  <a:srgbClr val="051C2C"/>
                </a:solidFill>
                <a:latin typeface="Inter" pitchFamily="34" charset="0"/>
                <a:ea typeface="Inter" pitchFamily="34" charset="-122"/>
                <a:cs typeface="Inter" pitchFamily="34" charset="-120"/>
              </a:rPr>
              <a:t>Higher margins</a:t>
            </a:r>
            <a:endParaRPr lang="en-US" sz="1400" dirty="0"/>
          </a:p>
        </p:txBody>
      </p:sp>
      <p:sp>
        <p:nvSpPr>
          <p:cNvPr id="31" name="Text 29"/>
          <p:cNvSpPr/>
          <p:nvPr/>
        </p:nvSpPr>
        <p:spPr>
          <a:xfrm>
            <a:off x="8763000" y="2906861"/>
            <a:ext cx="2694686"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3C4A55"/>
                </a:solidFill>
                <a:latin typeface="Inter" pitchFamily="34" charset="0"/>
                <a:ea typeface="Inter" pitchFamily="34" charset="-122"/>
                <a:cs typeface="Inter" pitchFamily="34" charset="-120"/>
              </a:rPr>
              <a:t>True cost, recovered revenue</a:t>
            </a:r>
            <a:endParaRPr lang="en-US" sz="1200" dirty="0"/>
          </a:p>
        </p:txBody>
      </p:sp>
      <p:sp>
        <p:nvSpPr>
          <p:cNvPr id="32" name="Shape 30"/>
          <p:cNvSpPr/>
          <p:nvPr/>
        </p:nvSpPr>
        <p:spPr>
          <a:xfrm>
            <a:off x="8763000" y="3310682"/>
            <a:ext cx="2616200" cy="0"/>
          </a:xfrm>
          <a:prstGeom prst="line">
            <a:avLst/>
          </a:prstGeom>
          <a:noFill/>
          <a:ln w="25400">
            <a:solidFill>
              <a:srgbClr val="2251FF"/>
            </a:solidFill>
            <a:prstDash val="solid"/>
          </a:ln>
        </p:spPr>
      </p:sp>
      <p:sp>
        <p:nvSpPr>
          <p:cNvPr id="33" name="Text 31"/>
          <p:cNvSpPr/>
          <p:nvPr/>
        </p:nvSpPr>
        <p:spPr>
          <a:xfrm>
            <a:off x="8763000" y="3424982"/>
            <a:ext cx="2694686" cy="238720"/>
          </a:xfrm>
          <a:prstGeom prst="rect">
            <a:avLst/>
          </a:prstGeom>
          <a:noFill/>
          <a:ln/>
        </p:spPr>
        <p:txBody>
          <a:bodyPr wrap="square" lIns="0" tIns="0" rIns="0" bIns="0" rtlCol="0" anchor="t">
            <a:normAutofit/>
          </a:bodyPr>
          <a:lstStyle/>
          <a:p>
            <a:pPr algn="l" indent="0" marL="0">
              <a:lnSpc>
                <a:spcPts val="1680"/>
              </a:lnSpc>
              <a:buNone/>
            </a:pPr>
            <a:r>
              <a:rPr lang="en-US" sz="1400" b="1" dirty="0">
                <a:solidFill>
                  <a:srgbClr val="051C2C"/>
                </a:solidFill>
                <a:latin typeface="Inter" pitchFamily="34" charset="0"/>
                <a:ea typeface="Inter" pitchFamily="34" charset="-122"/>
                <a:cs typeface="Inter" pitchFamily="34" charset="-120"/>
              </a:rPr>
              <a:t>Stronger retention</a:t>
            </a:r>
            <a:endParaRPr lang="en-US" sz="1400" dirty="0"/>
          </a:p>
        </p:txBody>
      </p:sp>
      <p:sp>
        <p:nvSpPr>
          <p:cNvPr id="34" name="Text 32"/>
          <p:cNvSpPr/>
          <p:nvPr/>
        </p:nvSpPr>
        <p:spPr>
          <a:xfrm>
            <a:off x="8763000" y="3663702"/>
            <a:ext cx="2694686"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3C4A55"/>
                </a:solidFill>
                <a:latin typeface="Inter" pitchFamily="34" charset="0"/>
                <a:ea typeface="Inter" pitchFamily="34" charset="-122"/>
                <a:cs typeface="Inter" pitchFamily="34" charset="-120"/>
              </a:rPr>
              <a:t>Less churn and price compression</a:t>
            </a:r>
            <a:endParaRPr lang="en-US" sz="1200" dirty="0"/>
          </a:p>
        </p:txBody>
      </p:sp>
      <p:sp>
        <p:nvSpPr>
          <p:cNvPr id="35" name="Shape 33"/>
          <p:cNvSpPr/>
          <p:nvPr/>
        </p:nvSpPr>
        <p:spPr>
          <a:xfrm>
            <a:off x="8763000" y="4067522"/>
            <a:ext cx="2616200" cy="0"/>
          </a:xfrm>
          <a:prstGeom prst="line">
            <a:avLst/>
          </a:prstGeom>
          <a:noFill/>
          <a:ln w="25400">
            <a:solidFill>
              <a:srgbClr val="2251FF"/>
            </a:solidFill>
            <a:prstDash val="solid"/>
          </a:ln>
        </p:spPr>
      </p:sp>
      <p:sp>
        <p:nvSpPr>
          <p:cNvPr id="36" name="Text 34"/>
          <p:cNvSpPr/>
          <p:nvPr/>
        </p:nvSpPr>
        <p:spPr>
          <a:xfrm>
            <a:off x="8763000" y="4181822"/>
            <a:ext cx="2694686" cy="238720"/>
          </a:xfrm>
          <a:prstGeom prst="rect">
            <a:avLst/>
          </a:prstGeom>
          <a:noFill/>
          <a:ln/>
        </p:spPr>
        <p:txBody>
          <a:bodyPr wrap="square" lIns="0" tIns="0" rIns="0" bIns="0" rtlCol="0" anchor="t">
            <a:normAutofit/>
          </a:bodyPr>
          <a:lstStyle/>
          <a:p>
            <a:pPr algn="l" indent="0" marL="0">
              <a:lnSpc>
                <a:spcPts val="1680"/>
              </a:lnSpc>
              <a:buNone/>
            </a:pPr>
            <a:r>
              <a:rPr lang="en-US" sz="1400" b="1" dirty="0">
                <a:solidFill>
                  <a:srgbClr val="051C2C"/>
                </a:solidFill>
                <a:latin typeface="Inter" pitchFamily="34" charset="0"/>
                <a:ea typeface="Inter" pitchFamily="34" charset="-122"/>
                <a:cs typeface="Inter" pitchFamily="34" charset="-120"/>
              </a:rPr>
              <a:t>Faster growth</a:t>
            </a:r>
            <a:endParaRPr lang="en-US" sz="1400" dirty="0"/>
          </a:p>
        </p:txBody>
      </p:sp>
      <p:sp>
        <p:nvSpPr>
          <p:cNvPr id="37" name="Text 35"/>
          <p:cNvSpPr/>
          <p:nvPr/>
        </p:nvSpPr>
        <p:spPr>
          <a:xfrm>
            <a:off x="8763000" y="4420543"/>
            <a:ext cx="2694686"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3C4A55"/>
                </a:solidFill>
                <a:latin typeface="Inter" pitchFamily="34" charset="0"/>
                <a:ea typeface="Inter" pitchFamily="34" charset="-122"/>
                <a:cs typeface="Inter" pitchFamily="34" charset="-120"/>
              </a:rPr>
              <a:t>Cross-sell, upsell, new markets</a:t>
            </a:r>
            <a:endParaRPr lang="en-US" sz="1200" dirty="0"/>
          </a:p>
        </p:txBody>
      </p:sp>
      <p:sp>
        <p:nvSpPr>
          <p:cNvPr id="38" name="Text 36"/>
          <p:cNvSpPr/>
          <p:nvPr/>
        </p:nvSpPr>
        <p:spPr>
          <a:xfrm>
            <a:off x="812800" y="6238280"/>
            <a:ext cx="2366546"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680"/>
                </a:solidFill>
                <a:latin typeface="Inter" pitchFamily="34" charset="0"/>
                <a:ea typeface="Inter" pitchFamily="34" charset="-122"/>
                <a:cs typeface="Inter" pitchFamily="34" charset="-120"/>
              </a:rPr>
              <a:t>Enterprise Intelligence | FIS</a:t>
            </a:r>
            <a:endParaRPr lang="en-US" sz="1200" dirty="0"/>
          </a:p>
        </p:txBody>
      </p:sp>
      <p:sp>
        <p:nvSpPr>
          <p:cNvPr id="39" name="Text 37"/>
          <p:cNvSpPr/>
          <p:nvPr/>
        </p:nvSpPr>
        <p:spPr>
          <a:xfrm>
            <a:off x="11229925" y="6238280"/>
            <a:ext cx="149275"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B7680"/>
                </a:solidFill>
                <a:latin typeface="Inter" pitchFamily="34" charset="0"/>
                <a:ea typeface="Inter" pitchFamily="34" charset="-122"/>
                <a:cs typeface="Inter" pitchFamily="34" charset="-120"/>
              </a:rPr>
              <a:t>4</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51C2C"/>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00A9F4"/>
                </a:solidFill>
                <a:latin typeface="Inter" pitchFamily="34" charset="0"/>
                <a:ea typeface="Inter" pitchFamily="34" charset="-122"/>
                <a:cs typeface="Inter" pitchFamily="34" charset="-120"/>
              </a:rPr>
              <a:t>HOW IT WORKS</a:t>
            </a:r>
            <a:endParaRPr lang="en-US" sz="1200" dirty="0"/>
          </a:p>
        </p:txBody>
      </p:sp>
      <p:sp>
        <p:nvSpPr>
          <p:cNvPr id="3" name="Text 1"/>
          <p:cNvSpPr/>
          <p:nvPr>
            <p:ph type="title"/>
          </p:nvPr>
        </p:nvSpPr>
        <p:spPr>
          <a:xfrm>
            <a:off x="812800" y="1127720"/>
            <a:ext cx="10883392" cy="784820"/>
          </a:xfrm>
          <a:prstGeom prst="rect">
            <a:avLst/>
          </a:prstGeom>
          <a:noFill/>
          <a:ln/>
        </p:spPr>
        <p:txBody>
          <a:bodyPr wrap="square" lIns="0" tIns="0" rIns="0" bIns="0" rtlCol="0" anchor="t">
            <a:normAutofit/>
          </a:bodyPr>
          <a:lstStyle/>
          <a:p>
            <a:pPr algn="l" indent="0" marL="0">
              <a:lnSpc>
                <a:spcPts val="2990"/>
              </a:lnSpc>
              <a:buNone/>
            </a:pPr>
            <a:r>
              <a:rPr lang="en-US" sz="2600" b="0" i="0" dirty="0">
                <a:solidFill>
                  <a:srgbClr val="F4F6F8"/>
                </a:solidFill>
                <a:latin typeface="Source Serif 4" pitchFamily="18" charset="0"/>
                <a:ea typeface="Source Serif 4" pitchFamily="18" charset="-122"/>
                <a:cs typeface="Source Serif 4" pitchFamily="18" charset="-120"/>
              </a:rPr>
              <a:t>Every signal, unified to drive commercial and operational excellence.</a:t>
            </a:r>
            <a:endParaRPr lang="en-US" sz="2600" dirty="0"/>
          </a:p>
        </p:txBody>
      </p:sp>
      <p:pic>
        <p:nvPicPr>
          <p:cNvPr id="4" name="Image 0" descr="web embed">    </p:cNvPr>
          <p:cNvPicPr>
            <a:picLocks noChangeAspect="1"/>
          </p:cNvPicPr>
          <p:nvPr/>
        </p:nvPicPr>
        <p:blipFill>
          <a:blip r:embed="rId1"/>
          <a:srcRect l="0" r="0" t="0" b="0"/>
          <a:stretch/>
        </p:blipFill>
        <p:spPr>
          <a:xfrm>
            <a:off x="812800" y="2095500"/>
            <a:ext cx="10566400" cy="3746500"/>
          </a:xfrm>
          <a:prstGeom prst="rect">
            <a:avLst/>
          </a:prstGeom>
        </p:spPr>
      </p:pic>
      <p:sp>
        <p:nvSpPr>
          <p:cNvPr id="5" name="Text 2"/>
          <p:cNvSpPr/>
          <p:nvPr/>
        </p:nvSpPr>
        <p:spPr>
          <a:xfrm>
            <a:off x="812800" y="6238280"/>
            <a:ext cx="2417981"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680"/>
                </a:solidFill>
                <a:latin typeface="Inter" pitchFamily="34" charset="0"/>
                <a:ea typeface="Inter" pitchFamily="34" charset="-122"/>
                <a:cs typeface="Inter" pitchFamily="34" charset="-120"/>
              </a:rPr>
              <a:t>Enterprise Intelligence | FIS </a:t>
            </a:r>
            <a:endParaRPr lang="en-US" sz="1200" dirty="0"/>
          </a:p>
        </p:txBody>
      </p:sp>
      <p:sp>
        <p:nvSpPr>
          <p:cNvPr id="6" name="Text 3"/>
          <p:cNvSpPr/>
          <p:nvPr/>
        </p:nvSpPr>
        <p:spPr>
          <a:xfrm>
            <a:off x="11229925" y="6238280"/>
            <a:ext cx="149275"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B7680"/>
                </a:solidFill>
                <a:latin typeface="Inter" pitchFamily="34" charset="0"/>
                <a:ea typeface="Inter" pitchFamily="34" charset="-122"/>
                <a:cs typeface="Inter" pitchFamily="34" charset="-120"/>
              </a:rPr>
              <a:t>4</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BFBF9"/>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2251FF"/>
                </a:solidFill>
                <a:latin typeface="Inter" pitchFamily="34" charset="0"/>
                <a:ea typeface="Inter" pitchFamily="34" charset="-122"/>
                <a:cs typeface="Inter" pitchFamily="34" charset="-120"/>
              </a:rPr>
              <a:t>VALUE THEMES</a:t>
            </a:r>
            <a:endParaRPr lang="en-US" sz="1200" dirty="0"/>
          </a:p>
        </p:txBody>
      </p:sp>
      <p:sp>
        <p:nvSpPr>
          <p:cNvPr id="3" name="Text 1"/>
          <p:cNvSpPr/>
          <p:nvPr>
            <p:ph type="title"/>
          </p:nvPr>
        </p:nvSpPr>
        <p:spPr>
          <a:xfrm>
            <a:off x="812800" y="1127720"/>
            <a:ext cx="10883392" cy="784820"/>
          </a:xfrm>
          <a:prstGeom prst="rect">
            <a:avLst/>
          </a:prstGeom>
          <a:noFill/>
          <a:ln/>
        </p:spPr>
        <p:txBody>
          <a:bodyPr wrap="square" lIns="0" tIns="0" rIns="0" bIns="0" rtlCol="0" anchor="t">
            <a:normAutofit/>
          </a:bodyPr>
          <a:lstStyle/>
          <a:p>
            <a:pPr algn="l" indent="0" marL="0">
              <a:lnSpc>
                <a:spcPts val="2990"/>
              </a:lnSpc>
              <a:buNone/>
            </a:pPr>
            <a:r>
              <a:rPr lang="en-US" sz="2600" b="0" i="0" dirty="0">
                <a:solidFill>
                  <a:srgbClr val="051C2C"/>
                </a:solidFill>
                <a:latin typeface="Source Serif 4" pitchFamily="18" charset="0"/>
                <a:ea typeface="Source Serif 4" pitchFamily="18" charset="-122"/>
                <a:cs typeface="Source Serif 4" pitchFamily="18" charset="-120"/>
              </a:rPr>
              <a:t>The questions our leaders ask every quarter, now answered in one place</a:t>
            </a:r>
            <a:endParaRPr lang="en-US" sz="2600" dirty="0"/>
          </a:p>
        </p:txBody>
      </p:sp>
      <p:sp>
        <p:nvSpPr>
          <p:cNvPr id="4" name="Shape 2"/>
          <p:cNvSpPr/>
          <p:nvPr/>
        </p:nvSpPr>
        <p:spPr>
          <a:xfrm>
            <a:off x="815975" y="2195116"/>
            <a:ext cx="2005310" cy="3643709"/>
          </a:xfrm>
          <a:prstGeom prst="rect">
            <a:avLst/>
          </a:prstGeom>
          <a:solidFill>
            <a:srgbClr val="FFFFFF"/>
          </a:solidFill>
          <a:ln w="6350">
            <a:solidFill>
              <a:srgbClr val="D5DCE2"/>
            </a:solidFill>
            <a:prstDash val="solid"/>
          </a:ln>
        </p:spPr>
      </p:sp>
      <p:sp>
        <p:nvSpPr>
          <p:cNvPr id="5" name="Text 3"/>
          <p:cNvSpPr/>
          <p:nvPr/>
        </p:nvSpPr>
        <p:spPr>
          <a:xfrm>
            <a:off x="971550" y="2376091"/>
            <a:ext cx="1744985"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2251FF"/>
                </a:solidFill>
                <a:latin typeface="Inter" pitchFamily="34" charset="0"/>
                <a:ea typeface="Inter" pitchFamily="34" charset="-122"/>
                <a:cs typeface="Inter" pitchFamily="34" charset="-120"/>
              </a:rPr>
              <a:t>01</a:t>
            </a:r>
            <a:endParaRPr lang="en-US" sz="1200" dirty="0"/>
          </a:p>
        </p:txBody>
      </p:sp>
      <p:sp>
        <p:nvSpPr>
          <p:cNvPr id="6" name="Text 4"/>
          <p:cNvSpPr/>
          <p:nvPr/>
        </p:nvSpPr>
        <p:spPr>
          <a:xfrm>
            <a:off x="971550" y="2691011"/>
            <a:ext cx="1744985" cy="492720"/>
          </a:xfrm>
          <a:prstGeom prst="rect">
            <a:avLst/>
          </a:prstGeom>
          <a:noFill/>
          <a:ln/>
        </p:spPr>
        <p:txBody>
          <a:bodyPr wrap="square" lIns="0" tIns="0" rIns="0" bIns="0" rtlCol="0" anchor="t">
            <a:normAutofit/>
          </a:bodyPr>
          <a:lstStyle/>
          <a:p>
            <a:pPr algn="l" indent="0" marL="0">
              <a:lnSpc>
                <a:spcPts val="1840"/>
              </a:lnSpc>
              <a:buNone/>
            </a:pPr>
            <a:r>
              <a:rPr lang="en-US" sz="1600" dirty="0">
                <a:solidFill>
                  <a:srgbClr val="051C2C"/>
                </a:solidFill>
                <a:latin typeface="Source Serif 4" pitchFamily="18" charset="0"/>
                <a:ea typeface="Source Serif 4" pitchFamily="18" charset="-122"/>
                <a:cs typeface="Source Serif 4" pitchFamily="18" charset="-120"/>
              </a:rPr>
              <a:t>Know the true economics</a:t>
            </a:r>
            <a:endParaRPr lang="en-US" sz="1600" dirty="0"/>
          </a:p>
        </p:txBody>
      </p:sp>
      <p:sp>
        <p:nvSpPr>
          <p:cNvPr id="7" name="Text 5"/>
          <p:cNvSpPr/>
          <p:nvPr/>
        </p:nvSpPr>
        <p:spPr>
          <a:xfrm>
            <a:off x="971550" y="3259931"/>
            <a:ext cx="1744985" cy="642590"/>
          </a:xfrm>
          <a:prstGeom prst="rect">
            <a:avLst/>
          </a:prstGeom>
          <a:noFill/>
          <a:ln/>
        </p:spPr>
        <p:txBody>
          <a:bodyPr wrap="square" lIns="0" tIns="0" rIns="0" bIns="0" rtlCol="0" anchor="t">
            <a:normAutofit/>
          </a:bodyPr>
          <a:lstStyle/>
          <a:p>
            <a:pPr algn="l" indent="0" marL="0">
              <a:lnSpc>
                <a:spcPts val="1620"/>
              </a:lnSpc>
              <a:buNone/>
            </a:pPr>
            <a:r>
              <a:rPr lang="en-US" sz="1200" i="1" dirty="0">
                <a:solidFill>
                  <a:srgbClr val="3C4A55"/>
                </a:solidFill>
                <a:latin typeface="Inter" pitchFamily="34" charset="0"/>
                <a:ea typeface="Inter" pitchFamily="34" charset="-122"/>
                <a:cs typeface="Inter" pitchFamily="34" charset="-120"/>
              </a:rPr>
              <a:t>Which contracts, clients and products make money?</a:t>
            </a:r>
            <a:endParaRPr lang="en-US" sz="1200" dirty="0"/>
          </a:p>
        </p:txBody>
      </p:sp>
      <p:pic>
        <p:nvPicPr>
          <p:cNvPr id="8" name="Image 0" descr="line">    </p:cNvPr>
          <p:cNvPicPr>
            <a:picLocks noChangeAspect="1"/>
          </p:cNvPicPr>
          <p:nvPr/>
        </p:nvPicPr>
        <p:blipFill>
          <a:blip r:embed="rId1"/>
          <a:srcRect l="0" r="0" t="-39" b="-39"/>
          <a:stretch/>
        </p:blipFill>
        <p:spPr>
          <a:xfrm>
            <a:off x="971550" y="3978721"/>
            <a:ext cx="1694160" cy="6350"/>
          </a:xfrm>
          <a:prstGeom prst="rect">
            <a:avLst/>
          </a:prstGeom>
        </p:spPr>
      </p:pic>
      <p:sp>
        <p:nvSpPr>
          <p:cNvPr id="9" name="Text 6"/>
          <p:cNvSpPr/>
          <p:nvPr/>
        </p:nvSpPr>
        <p:spPr>
          <a:xfrm>
            <a:off x="975106" y="4086671"/>
            <a:ext cx="1741404" cy="436860"/>
          </a:xfrm>
          <a:prstGeom prst="rect">
            <a:avLst/>
          </a:prstGeom>
          <a:noFill/>
          <a:ln/>
        </p:spPr>
        <p:txBody>
          <a:bodyPr wrap="square" lIns="0" tIns="0" rIns="0" bIns="0" rtlCol="0" anchor="t">
            <a:normAutofit/>
          </a:bodyPr>
          <a:lstStyle/>
          <a:p>
            <a:pPr algn="l" marL="148844" indent="-148844">
              <a:lnSpc>
                <a:spcPts val="1620"/>
              </a:lnSpc>
              <a:buSzPct val="100000"/>
              <a:buChar char="•"/>
            </a:pPr>
            <a:r>
              <a:rPr lang="en-US" sz="1200" dirty="0">
                <a:solidFill>
                  <a:srgbClr val="051C2C"/>
                </a:solidFill>
                <a:latin typeface="Inter" pitchFamily="34" charset="0"/>
                <a:ea typeface="Inter" pitchFamily="34" charset="-122"/>
                <a:cs typeface="Inter" pitchFamily="34" charset="-120"/>
              </a:rPr>
              <a:t>True cost-to-serve and profitability</a:t>
            </a:r>
            <a:endParaRPr lang="en-US" sz="1200" dirty="0"/>
          </a:p>
        </p:txBody>
      </p:sp>
      <p:sp>
        <p:nvSpPr>
          <p:cNvPr id="10" name="Shape 7"/>
          <p:cNvSpPr/>
          <p:nvPr/>
        </p:nvSpPr>
        <p:spPr>
          <a:xfrm>
            <a:off x="2954635" y="2195116"/>
            <a:ext cx="2005310" cy="3643709"/>
          </a:xfrm>
          <a:prstGeom prst="rect">
            <a:avLst/>
          </a:prstGeom>
          <a:solidFill>
            <a:srgbClr val="FFFFFF"/>
          </a:solidFill>
          <a:ln w="6350">
            <a:solidFill>
              <a:srgbClr val="D5DCE2"/>
            </a:solidFill>
            <a:prstDash val="solid"/>
          </a:ln>
        </p:spPr>
      </p:sp>
      <p:sp>
        <p:nvSpPr>
          <p:cNvPr id="11" name="Text 8"/>
          <p:cNvSpPr/>
          <p:nvPr/>
        </p:nvSpPr>
        <p:spPr>
          <a:xfrm>
            <a:off x="3110210" y="2376091"/>
            <a:ext cx="1744985"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2251FF"/>
                </a:solidFill>
                <a:latin typeface="Inter" pitchFamily="34" charset="0"/>
                <a:ea typeface="Inter" pitchFamily="34" charset="-122"/>
                <a:cs typeface="Inter" pitchFamily="34" charset="-120"/>
              </a:rPr>
              <a:t>02</a:t>
            </a:r>
            <a:endParaRPr lang="en-US" sz="1200" dirty="0"/>
          </a:p>
        </p:txBody>
      </p:sp>
      <p:sp>
        <p:nvSpPr>
          <p:cNvPr id="12" name="Text 9"/>
          <p:cNvSpPr/>
          <p:nvPr/>
        </p:nvSpPr>
        <p:spPr>
          <a:xfrm>
            <a:off x="3110210" y="2691011"/>
            <a:ext cx="1744985" cy="259060"/>
          </a:xfrm>
          <a:prstGeom prst="rect">
            <a:avLst/>
          </a:prstGeom>
          <a:noFill/>
          <a:ln/>
        </p:spPr>
        <p:txBody>
          <a:bodyPr wrap="square" lIns="0" tIns="0" rIns="0" bIns="0" rtlCol="0" anchor="t">
            <a:normAutofit/>
          </a:bodyPr>
          <a:lstStyle/>
          <a:p>
            <a:pPr algn="l" indent="0" marL="0">
              <a:lnSpc>
                <a:spcPts val="1840"/>
              </a:lnSpc>
              <a:buNone/>
            </a:pPr>
            <a:r>
              <a:rPr lang="en-US" sz="1600" dirty="0">
                <a:solidFill>
                  <a:srgbClr val="051C2C"/>
                </a:solidFill>
                <a:latin typeface="Source Serif 4" pitchFamily="18" charset="0"/>
                <a:ea typeface="Source Serif 4" pitchFamily="18" charset="-122"/>
                <a:cs typeface="Source Serif 4" pitchFamily="18" charset="-120"/>
              </a:rPr>
              <a:t>Protect the base</a:t>
            </a:r>
            <a:endParaRPr lang="en-US" sz="1600" dirty="0"/>
          </a:p>
        </p:txBody>
      </p:sp>
      <p:sp>
        <p:nvSpPr>
          <p:cNvPr id="13" name="Text 10"/>
          <p:cNvSpPr/>
          <p:nvPr/>
        </p:nvSpPr>
        <p:spPr>
          <a:xfrm>
            <a:off x="3110210" y="3026271"/>
            <a:ext cx="1744985" cy="642590"/>
          </a:xfrm>
          <a:prstGeom prst="rect">
            <a:avLst/>
          </a:prstGeom>
          <a:noFill/>
          <a:ln/>
        </p:spPr>
        <p:txBody>
          <a:bodyPr wrap="square" lIns="0" tIns="0" rIns="0" bIns="0" rtlCol="0" anchor="t">
            <a:normAutofit/>
          </a:bodyPr>
          <a:lstStyle/>
          <a:p>
            <a:pPr algn="l" indent="0" marL="0">
              <a:lnSpc>
                <a:spcPts val="1620"/>
              </a:lnSpc>
              <a:buNone/>
            </a:pPr>
            <a:r>
              <a:rPr lang="en-US" sz="1200" i="1" dirty="0">
                <a:solidFill>
                  <a:srgbClr val="3C4A55"/>
                </a:solidFill>
                <a:latin typeface="Inter" pitchFamily="34" charset="0"/>
                <a:ea typeface="Inter" pitchFamily="34" charset="-122"/>
                <a:cs typeface="Inter" pitchFamily="34" charset="-120"/>
              </a:rPr>
              <a:t>Who is at risk, and what do we do before they tell us?</a:t>
            </a:r>
            <a:endParaRPr lang="en-US" sz="1200" dirty="0"/>
          </a:p>
        </p:txBody>
      </p:sp>
      <p:pic>
        <p:nvPicPr>
          <p:cNvPr id="14" name="Image 1" descr="line">    </p:cNvPr>
          <p:cNvPicPr>
            <a:picLocks noChangeAspect="1"/>
          </p:cNvPicPr>
          <p:nvPr/>
        </p:nvPicPr>
        <p:blipFill>
          <a:blip r:embed="rId2"/>
          <a:srcRect l="0" r="0" t="-39" b="-39"/>
          <a:stretch/>
        </p:blipFill>
        <p:spPr>
          <a:xfrm>
            <a:off x="3110210" y="3745061"/>
            <a:ext cx="1694160" cy="6350"/>
          </a:xfrm>
          <a:prstGeom prst="rect">
            <a:avLst/>
          </a:prstGeom>
        </p:spPr>
      </p:pic>
      <p:sp>
        <p:nvSpPr>
          <p:cNvPr id="15" name="Text 11"/>
          <p:cNvSpPr/>
          <p:nvPr/>
        </p:nvSpPr>
        <p:spPr>
          <a:xfrm>
            <a:off x="3113766" y="3853011"/>
            <a:ext cx="1741404" cy="642590"/>
          </a:xfrm>
          <a:prstGeom prst="rect">
            <a:avLst/>
          </a:prstGeom>
          <a:noFill/>
          <a:ln/>
        </p:spPr>
        <p:txBody>
          <a:bodyPr wrap="square" lIns="0" tIns="0" rIns="0" bIns="0" rtlCol="0" anchor="t">
            <a:normAutofit/>
          </a:bodyPr>
          <a:lstStyle/>
          <a:p>
            <a:pPr algn="l" marL="148844" indent="-148844">
              <a:lnSpc>
                <a:spcPts val="1620"/>
              </a:lnSpc>
              <a:buSzPct val="100000"/>
              <a:buChar char="•"/>
            </a:pPr>
            <a:r>
              <a:rPr lang="en-US" sz="1200" dirty="0">
                <a:solidFill>
                  <a:srgbClr val="051C2C"/>
                </a:solidFill>
                <a:latin typeface="Inter" pitchFamily="34" charset="0"/>
                <a:ea typeface="Inter" pitchFamily="34" charset="-122"/>
                <a:cs typeface="Inter" pitchFamily="34" charset="-120"/>
              </a:rPr>
              <a:t>Proactive renewals</a:t>
            </a:r>
            <a:endParaRPr lang="en-US" sz="1200" dirty="0"/>
          </a:p>
          <a:p>
            <a:pPr algn="l" marL="148844" indent="-148844">
              <a:lnSpc>
                <a:spcPts val="1620"/>
              </a:lnSpc>
              <a:buSzPct val="100000"/>
              <a:buChar char="•"/>
            </a:pPr>
            <a:r>
              <a:rPr lang="en-US" sz="1200" dirty="0">
                <a:solidFill>
                  <a:srgbClr val="051C2C"/>
                </a:solidFill>
                <a:latin typeface="Inter" pitchFamily="34" charset="0"/>
                <a:ea typeface="Inter" pitchFamily="34" charset="-122"/>
                <a:cs typeface="Inter" pitchFamily="34" charset="-120"/>
              </a:rPr>
              <a:t>Client-level churn and compression</a:t>
            </a:r>
            <a:endParaRPr lang="en-US" sz="1200" dirty="0"/>
          </a:p>
        </p:txBody>
      </p:sp>
      <p:sp>
        <p:nvSpPr>
          <p:cNvPr id="16" name="Shape 12"/>
          <p:cNvSpPr/>
          <p:nvPr/>
        </p:nvSpPr>
        <p:spPr>
          <a:xfrm>
            <a:off x="5093295" y="2195116"/>
            <a:ext cx="2005360" cy="3643709"/>
          </a:xfrm>
          <a:prstGeom prst="rect">
            <a:avLst/>
          </a:prstGeom>
          <a:solidFill>
            <a:srgbClr val="FFFFFF"/>
          </a:solidFill>
          <a:ln w="6350">
            <a:solidFill>
              <a:srgbClr val="D5DCE2"/>
            </a:solidFill>
            <a:prstDash val="solid"/>
          </a:ln>
        </p:spPr>
      </p:sp>
      <p:sp>
        <p:nvSpPr>
          <p:cNvPr id="17" name="Text 13"/>
          <p:cNvSpPr/>
          <p:nvPr/>
        </p:nvSpPr>
        <p:spPr>
          <a:xfrm>
            <a:off x="5248870" y="2376091"/>
            <a:ext cx="1745036"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2251FF"/>
                </a:solidFill>
                <a:latin typeface="Inter" pitchFamily="34" charset="0"/>
                <a:ea typeface="Inter" pitchFamily="34" charset="-122"/>
                <a:cs typeface="Inter" pitchFamily="34" charset="-120"/>
              </a:rPr>
              <a:t>03</a:t>
            </a:r>
            <a:endParaRPr lang="en-US" sz="1200" dirty="0"/>
          </a:p>
        </p:txBody>
      </p:sp>
      <p:sp>
        <p:nvSpPr>
          <p:cNvPr id="18" name="Text 14"/>
          <p:cNvSpPr/>
          <p:nvPr/>
        </p:nvSpPr>
        <p:spPr>
          <a:xfrm>
            <a:off x="5248870" y="2691011"/>
            <a:ext cx="1745036" cy="259060"/>
          </a:xfrm>
          <a:prstGeom prst="rect">
            <a:avLst/>
          </a:prstGeom>
          <a:noFill/>
          <a:ln/>
        </p:spPr>
        <p:txBody>
          <a:bodyPr wrap="square" lIns="0" tIns="0" rIns="0" bIns="0" rtlCol="0" anchor="t">
            <a:normAutofit/>
          </a:bodyPr>
          <a:lstStyle/>
          <a:p>
            <a:pPr algn="l" indent="0" marL="0">
              <a:lnSpc>
                <a:spcPts val="1840"/>
              </a:lnSpc>
              <a:buNone/>
            </a:pPr>
            <a:r>
              <a:rPr lang="en-US" sz="1600" dirty="0">
                <a:solidFill>
                  <a:srgbClr val="051C2C"/>
                </a:solidFill>
                <a:latin typeface="Source Serif 4" pitchFamily="18" charset="0"/>
                <a:ea typeface="Source Serif 4" pitchFamily="18" charset="-122"/>
                <a:cs typeface="Source Serif 4" pitchFamily="18" charset="-120"/>
              </a:rPr>
              <a:t>Grow the base</a:t>
            </a:r>
            <a:endParaRPr lang="en-US" sz="1600" dirty="0"/>
          </a:p>
        </p:txBody>
      </p:sp>
      <p:sp>
        <p:nvSpPr>
          <p:cNvPr id="19" name="Text 15"/>
          <p:cNvSpPr/>
          <p:nvPr/>
        </p:nvSpPr>
        <p:spPr>
          <a:xfrm>
            <a:off x="5248870" y="3026271"/>
            <a:ext cx="1745036" cy="642590"/>
          </a:xfrm>
          <a:prstGeom prst="rect">
            <a:avLst/>
          </a:prstGeom>
          <a:noFill/>
          <a:ln/>
        </p:spPr>
        <p:txBody>
          <a:bodyPr wrap="square" lIns="0" tIns="0" rIns="0" bIns="0" rtlCol="0" anchor="t">
            <a:normAutofit/>
          </a:bodyPr>
          <a:lstStyle/>
          <a:p>
            <a:pPr algn="l" indent="0" marL="0">
              <a:lnSpc>
                <a:spcPts val="1620"/>
              </a:lnSpc>
              <a:buNone/>
            </a:pPr>
            <a:r>
              <a:rPr lang="en-US" sz="1200" i="1" dirty="0">
                <a:solidFill>
                  <a:srgbClr val="3C4A55"/>
                </a:solidFill>
                <a:latin typeface="Inter" pitchFamily="34" charset="0"/>
                <a:ea typeface="Inter" pitchFamily="34" charset="-122"/>
                <a:cs typeface="Inter" pitchFamily="34" charset="-120"/>
              </a:rPr>
              <a:t>What should each client buy next, and where are the gaps?</a:t>
            </a:r>
            <a:endParaRPr lang="en-US" sz="1200" dirty="0"/>
          </a:p>
        </p:txBody>
      </p:sp>
      <p:pic>
        <p:nvPicPr>
          <p:cNvPr id="20" name="Image 2" descr="line">    </p:cNvPr>
          <p:cNvPicPr>
            <a:picLocks noChangeAspect="1"/>
          </p:cNvPicPr>
          <p:nvPr/>
        </p:nvPicPr>
        <p:blipFill>
          <a:blip r:embed="rId3"/>
          <a:srcRect l="0" r="0" t="-39" b="-39"/>
          <a:stretch/>
        </p:blipFill>
        <p:spPr>
          <a:xfrm>
            <a:off x="5248870" y="3745061"/>
            <a:ext cx="1694210" cy="6350"/>
          </a:xfrm>
          <a:prstGeom prst="rect">
            <a:avLst/>
          </a:prstGeom>
        </p:spPr>
      </p:pic>
      <p:sp>
        <p:nvSpPr>
          <p:cNvPr id="21" name="Text 16"/>
          <p:cNvSpPr/>
          <p:nvPr/>
        </p:nvSpPr>
        <p:spPr>
          <a:xfrm>
            <a:off x="5252426" y="3853011"/>
            <a:ext cx="1741454" cy="1465511"/>
          </a:xfrm>
          <a:prstGeom prst="rect">
            <a:avLst/>
          </a:prstGeom>
          <a:noFill/>
          <a:ln/>
        </p:spPr>
        <p:txBody>
          <a:bodyPr wrap="square" lIns="0" tIns="0" rIns="0" bIns="0" rtlCol="0" anchor="t">
            <a:normAutofit/>
          </a:bodyPr>
          <a:lstStyle/>
          <a:p>
            <a:pPr algn="l" marL="148844" indent="-148844">
              <a:lnSpc>
                <a:spcPts val="1620"/>
              </a:lnSpc>
              <a:buSzPct val="100000"/>
              <a:buChar char="•"/>
            </a:pPr>
            <a:r>
              <a:rPr lang="en-US" sz="1200" dirty="0">
                <a:solidFill>
                  <a:srgbClr val="051C2C"/>
                </a:solidFill>
                <a:latin typeface="Inter" pitchFamily="34" charset="0"/>
                <a:ea typeface="Inter" pitchFamily="34" charset="-122"/>
                <a:cs typeface="Inter" pitchFamily="34" charset="-120"/>
              </a:rPr>
              <a:t>Product recommendations</a:t>
            </a:r>
            <a:endParaRPr lang="en-US" sz="1200" dirty="0"/>
          </a:p>
          <a:p>
            <a:pPr algn="l" marL="148844" indent="-148844">
              <a:lnSpc>
                <a:spcPts val="1620"/>
              </a:lnSpc>
              <a:buSzPct val="100000"/>
              <a:buChar char="•"/>
            </a:pPr>
            <a:r>
              <a:rPr lang="en-US" sz="1200" dirty="0">
                <a:solidFill>
                  <a:srgbClr val="051C2C"/>
                </a:solidFill>
                <a:latin typeface="Inter" pitchFamily="34" charset="0"/>
                <a:ea typeface="Inter" pitchFamily="34" charset="-122"/>
                <a:cs typeface="Inter" pitchFamily="34" charset="-120"/>
              </a:rPr>
              <a:t>New-deal opportunities and pitches</a:t>
            </a:r>
            <a:endParaRPr lang="en-US" sz="1200" dirty="0"/>
          </a:p>
          <a:p>
            <a:pPr algn="l" marL="148844" indent="-148844">
              <a:lnSpc>
                <a:spcPts val="1620"/>
              </a:lnSpc>
              <a:buSzPct val="100000"/>
              <a:buChar char="•"/>
            </a:pPr>
            <a:r>
              <a:rPr lang="en-US" sz="1200" dirty="0">
                <a:solidFill>
                  <a:srgbClr val="051C2C"/>
                </a:solidFill>
                <a:latin typeface="Inter" pitchFamily="34" charset="0"/>
                <a:ea typeface="Inter" pitchFamily="34" charset="-122"/>
                <a:cs typeface="Inter" pitchFamily="34" charset="-120"/>
              </a:rPr>
              <a:t>Product and market whitespace</a:t>
            </a:r>
            <a:endParaRPr lang="en-US" sz="1200" dirty="0"/>
          </a:p>
        </p:txBody>
      </p:sp>
      <p:sp>
        <p:nvSpPr>
          <p:cNvPr id="22" name="Shape 17"/>
          <p:cNvSpPr/>
          <p:nvPr/>
        </p:nvSpPr>
        <p:spPr>
          <a:xfrm>
            <a:off x="7232005" y="2195116"/>
            <a:ext cx="2005310" cy="3643709"/>
          </a:xfrm>
          <a:prstGeom prst="rect">
            <a:avLst/>
          </a:prstGeom>
          <a:solidFill>
            <a:srgbClr val="FFFFFF"/>
          </a:solidFill>
          <a:ln w="6350">
            <a:solidFill>
              <a:srgbClr val="D5DCE2"/>
            </a:solidFill>
            <a:prstDash val="solid"/>
          </a:ln>
        </p:spPr>
      </p:sp>
      <p:sp>
        <p:nvSpPr>
          <p:cNvPr id="23" name="Text 18"/>
          <p:cNvSpPr/>
          <p:nvPr/>
        </p:nvSpPr>
        <p:spPr>
          <a:xfrm>
            <a:off x="7387580" y="2376091"/>
            <a:ext cx="1744985"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2251FF"/>
                </a:solidFill>
                <a:latin typeface="Inter" pitchFamily="34" charset="0"/>
                <a:ea typeface="Inter" pitchFamily="34" charset="-122"/>
                <a:cs typeface="Inter" pitchFamily="34" charset="-120"/>
              </a:rPr>
              <a:t>04</a:t>
            </a:r>
            <a:endParaRPr lang="en-US" sz="1200" dirty="0"/>
          </a:p>
        </p:txBody>
      </p:sp>
      <p:sp>
        <p:nvSpPr>
          <p:cNvPr id="24" name="Text 19"/>
          <p:cNvSpPr/>
          <p:nvPr/>
        </p:nvSpPr>
        <p:spPr>
          <a:xfrm>
            <a:off x="7387580" y="2691011"/>
            <a:ext cx="1744985" cy="492720"/>
          </a:xfrm>
          <a:prstGeom prst="rect">
            <a:avLst/>
          </a:prstGeom>
          <a:noFill/>
          <a:ln/>
        </p:spPr>
        <p:txBody>
          <a:bodyPr wrap="square" lIns="0" tIns="0" rIns="0" bIns="0" rtlCol="0" anchor="t">
            <a:normAutofit/>
          </a:bodyPr>
          <a:lstStyle/>
          <a:p>
            <a:pPr algn="l" indent="0" marL="0">
              <a:lnSpc>
                <a:spcPts val="1840"/>
              </a:lnSpc>
              <a:buNone/>
            </a:pPr>
            <a:r>
              <a:rPr lang="en-US" sz="1600" dirty="0">
                <a:solidFill>
                  <a:srgbClr val="051C2C"/>
                </a:solidFill>
                <a:latin typeface="Source Serif 4" pitchFamily="18" charset="0"/>
                <a:ea typeface="Source Serif 4" pitchFamily="18" charset="-122"/>
                <a:cs typeface="Source Serif 4" pitchFamily="18" charset="-120"/>
              </a:rPr>
              <a:t>Recover what is contracted</a:t>
            </a:r>
            <a:endParaRPr lang="en-US" sz="1600" dirty="0"/>
          </a:p>
        </p:txBody>
      </p:sp>
      <p:sp>
        <p:nvSpPr>
          <p:cNvPr id="25" name="Text 20"/>
          <p:cNvSpPr/>
          <p:nvPr/>
        </p:nvSpPr>
        <p:spPr>
          <a:xfrm>
            <a:off x="7387580" y="3259931"/>
            <a:ext cx="1744985" cy="436860"/>
          </a:xfrm>
          <a:prstGeom prst="rect">
            <a:avLst/>
          </a:prstGeom>
          <a:noFill/>
          <a:ln/>
        </p:spPr>
        <p:txBody>
          <a:bodyPr wrap="square" lIns="0" tIns="0" rIns="0" bIns="0" rtlCol="0" anchor="t">
            <a:normAutofit/>
          </a:bodyPr>
          <a:lstStyle/>
          <a:p>
            <a:pPr algn="l" indent="0" marL="0">
              <a:lnSpc>
                <a:spcPts val="1620"/>
              </a:lnSpc>
              <a:buNone/>
            </a:pPr>
            <a:r>
              <a:rPr lang="en-US" sz="1200" i="1" dirty="0">
                <a:solidFill>
                  <a:srgbClr val="3C4A55"/>
                </a:solidFill>
                <a:latin typeface="Inter" pitchFamily="34" charset="0"/>
                <a:ea typeface="Inter" pitchFamily="34" charset="-122"/>
                <a:cs typeface="Inter" pitchFamily="34" charset="-120"/>
              </a:rPr>
              <a:t>Are we billing for everything we signed?</a:t>
            </a:r>
            <a:endParaRPr lang="en-US" sz="1200" dirty="0"/>
          </a:p>
        </p:txBody>
      </p:sp>
      <p:pic>
        <p:nvPicPr>
          <p:cNvPr id="26" name="Image 3" descr="line">    </p:cNvPr>
          <p:cNvPicPr>
            <a:picLocks noChangeAspect="1"/>
          </p:cNvPicPr>
          <p:nvPr/>
        </p:nvPicPr>
        <p:blipFill>
          <a:blip r:embed="rId4"/>
          <a:srcRect l="0" r="0" t="-39" b="-39"/>
          <a:stretch/>
        </p:blipFill>
        <p:spPr>
          <a:xfrm>
            <a:off x="7387580" y="3772991"/>
            <a:ext cx="1694160" cy="6350"/>
          </a:xfrm>
          <a:prstGeom prst="rect">
            <a:avLst/>
          </a:prstGeom>
        </p:spPr>
      </p:pic>
      <p:sp>
        <p:nvSpPr>
          <p:cNvPr id="27" name="Text 21"/>
          <p:cNvSpPr/>
          <p:nvPr/>
        </p:nvSpPr>
        <p:spPr>
          <a:xfrm>
            <a:off x="7391136" y="3880941"/>
            <a:ext cx="1741404" cy="848320"/>
          </a:xfrm>
          <a:prstGeom prst="rect">
            <a:avLst/>
          </a:prstGeom>
          <a:noFill/>
          <a:ln/>
        </p:spPr>
        <p:txBody>
          <a:bodyPr wrap="square" lIns="0" tIns="0" rIns="0" bIns="0" rtlCol="0" anchor="t">
            <a:normAutofit/>
          </a:bodyPr>
          <a:lstStyle/>
          <a:p>
            <a:pPr algn="l" marL="148844" indent="-148844">
              <a:lnSpc>
                <a:spcPts val="1620"/>
              </a:lnSpc>
              <a:buSzPct val="100000"/>
              <a:buChar char="•"/>
            </a:pPr>
            <a:r>
              <a:rPr lang="en-US" sz="1200" dirty="0">
                <a:solidFill>
                  <a:srgbClr val="051C2C"/>
                </a:solidFill>
                <a:latin typeface="Inter" pitchFamily="34" charset="0"/>
                <a:ea typeface="Inter" pitchFamily="34" charset="-122"/>
                <a:cs typeface="Inter" pitchFamily="34" charset="-120"/>
              </a:rPr>
              <a:t>Contract analysis and comparison</a:t>
            </a:r>
            <a:endParaRPr lang="en-US" sz="1200" dirty="0"/>
          </a:p>
          <a:p>
            <a:pPr algn="l" marL="148844" indent="-148844">
              <a:lnSpc>
                <a:spcPts val="1620"/>
              </a:lnSpc>
              <a:buSzPct val="100000"/>
              <a:buChar char="•"/>
            </a:pPr>
            <a:r>
              <a:rPr lang="en-US" sz="1200" dirty="0">
                <a:solidFill>
                  <a:srgbClr val="051C2C"/>
                </a:solidFill>
                <a:latin typeface="Inter" pitchFamily="34" charset="0"/>
                <a:ea typeface="Inter" pitchFamily="34" charset="-122"/>
                <a:cs typeface="Inter" pitchFamily="34" charset="-120"/>
              </a:rPr>
              <a:t>Revenue recovery and back-billing</a:t>
            </a:r>
            <a:endParaRPr lang="en-US" sz="1200" dirty="0"/>
          </a:p>
        </p:txBody>
      </p:sp>
      <p:sp>
        <p:nvSpPr>
          <p:cNvPr id="28" name="Shape 22"/>
          <p:cNvSpPr/>
          <p:nvPr/>
        </p:nvSpPr>
        <p:spPr>
          <a:xfrm>
            <a:off x="9370665" y="2195116"/>
            <a:ext cx="2005310" cy="3643709"/>
          </a:xfrm>
          <a:prstGeom prst="rect">
            <a:avLst/>
          </a:prstGeom>
          <a:solidFill>
            <a:srgbClr val="FFFFFF"/>
          </a:solidFill>
          <a:ln w="6350">
            <a:solidFill>
              <a:srgbClr val="D5DCE2"/>
            </a:solidFill>
            <a:prstDash val="solid"/>
          </a:ln>
        </p:spPr>
      </p:sp>
      <p:sp>
        <p:nvSpPr>
          <p:cNvPr id="29" name="Text 23"/>
          <p:cNvSpPr/>
          <p:nvPr/>
        </p:nvSpPr>
        <p:spPr>
          <a:xfrm>
            <a:off x="9526240" y="2376091"/>
            <a:ext cx="1744985"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2251FF"/>
                </a:solidFill>
                <a:latin typeface="Inter" pitchFamily="34" charset="0"/>
                <a:ea typeface="Inter" pitchFamily="34" charset="-122"/>
                <a:cs typeface="Inter" pitchFamily="34" charset="-120"/>
              </a:rPr>
              <a:t>05</a:t>
            </a:r>
            <a:endParaRPr lang="en-US" sz="1200" dirty="0"/>
          </a:p>
        </p:txBody>
      </p:sp>
      <p:sp>
        <p:nvSpPr>
          <p:cNvPr id="30" name="Text 24"/>
          <p:cNvSpPr/>
          <p:nvPr/>
        </p:nvSpPr>
        <p:spPr>
          <a:xfrm>
            <a:off x="9526240" y="2691011"/>
            <a:ext cx="1744985" cy="492720"/>
          </a:xfrm>
          <a:prstGeom prst="rect">
            <a:avLst/>
          </a:prstGeom>
          <a:noFill/>
          <a:ln/>
        </p:spPr>
        <p:txBody>
          <a:bodyPr wrap="square" lIns="0" tIns="0" rIns="0" bIns="0" rtlCol="0" anchor="t">
            <a:normAutofit/>
          </a:bodyPr>
          <a:lstStyle/>
          <a:p>
            <a:pPr algn="l" indent="0" marL="0">
              <a:lnSpc>
                <a:spcPts val="1840"/>
              </a:lnSpc>
              <a:buNone/>
            </a:pPr>
            <a:r>
              <a:rPr lang="en-US" sz="1600" dirty="0">
                <a:solidFill>
                  <a:srgbClr val="051C2C"/>
                </a:solidFill>
                <a:latin typeface="Source Serif 4" pitchFamily="18" charset="0"/>
                <a:ea typeface="Source Serif 4" pitchFamily="18" charset="-122"/>
                <a:cs typeface="Source Serif 4" pitchFamily="18" charset="-120"/>
              </a:rPr>
              <a:t>Steer the enterprise</a:t>
            </a:r>
            <a:endParaRPr lang="en-US" sz="1600" dirty="0"/>
          </a:p>
        </p:txBody>
      </p:sp>
      <p:sp>
        <p:nvSpPr>
          <p:cNvPr id="31" name="Text 25"/>
          <p:cNvSpPr/>
          <p:nvPr/>
        </p:nvSpPr>
        <p:spPr>
          <a:xfrm>
            <a:off x="9526240" y="3259931"/>
            <a:ext cx="1744985" cy="436860"/>
          </a:xfrm>
          <a:prstGeom prst="rect">
            <a:avLst/>
          </a:prstGeom>
          <a:noFill/>
          <a:ln/>
        </p:spPr>
        <p:txBody>
          <a:bodyPr wrap="square" lIns="0" tIns="0" rIns="0" bIns="0" rtlCol="0" anchor="t">
            <a:normAutofit/>
          </a:bodyPr>
          <a:lstStyle/>
          <a:p>
            <a:pPr algn="l" indent="0" marL="0">
              <a:lnSpc>
                <a:spcPts val="1620"/>
              </a:lnSpc>
              <a:buNone/>
            </a:pPr>
            <a:r>
              <a:rPr lang="en-US" sz="1200" i="1" dirty="0">
                <a:solidFill>
                  <a:srgbClr val="3C4A55"/>
                </a:solidFill>
                <a:latin typeface="Inter" pitchFamily="34" charset="0"/>
                <a:ea typeface="Inter" pitchFamily="34" charset="-122"/>
                <a:cs typeface="Inter" pitchFamily="34" charset="-120"/>
              </a:rPr>
              <a:t>Where should capital go next quarter?</a:t>
            </a:r>
            <a:endParaRPr lang="en-US" sz="1200" dirty="0"/>
          </a:p>
        </p:txBody>
      </p:sp>
      <p:pic>
        <p:nvPicPr>
          <p:cNvPr id="32" name="Image 4" descr="line">    </p:cNvPr>
          <p:cNvPicPr>
            <a:picLocks noChangeAspect="1"/>
          </p:cNvPicPr>
          <p:nvPr/>
        </p:nvPicPr>
        <p:blipFill>
          <a:blip r:embed="rId5"/>
          <a:srcRect l="0" r="0" t="-39" b="-39"/>
          <a:stretch/>
        </p:blipFill>
        <p:spPr>
          <a:xfrm>
            <a:off x="9526240" y="3772991"/>
            <a:ext cx="1694160" cy="6350"/>
          </a:xfrm>
          <a:prstGeom prst="rect">
            <a:avLst/>
          </a:prstGeom>
        </p:spPr>
      </p:pic>
      <p:sp>
        <p:nvSpPr>
          <p:cNvPr id="33" name="Text 26"/>
          <p:cNvSpPr/>
          <p:nvPr/>
        </p:nvSpPr>
        <p:spPr>
          <a:xfrm>
            <a:off x="9529796" y="3880941"/>
            <a:ext cx="1741404" cy="848320"/>
          </a:xfrm>
          <a:prstGeom prst="rect">
            <a:avLst/>
          </a:prstGeom>
          <a:noFill/>
          <a:ln/>
        </p:spPr>
        <p:txBody>
          <a:bodyPr wrap="square" lIns="0" tIns="0" rIns="0" bIns="0" rtlCol="0" anchor="t">
            <a:normAutofit/>
          </a:bodyPr>
          <a:lstStyle/>
          <a:p>
            <a:pPr algn="l" marL="148844" indent="-148844">
              <a:lnSpc>
                <a:spcPts val="1620"/>
              </a:lnSpc>
              <a:buSzPct val="100000"/>
              <a:buChar char="•"/>
            </a:pPr>
            <a:r>
              <a:rPr lang="en-US" sz="1200" dirty="0">
                <a:solidFill>
                  <a:srgbClr val="051C2C"/>
                </a:solidFill>
                <a:latin typeface="Inter" pitchFamily="34" charset="0"/>
                <a:ea typeface="Inter" pitchFamily="34" charset="-122"/>
                <a:cs typeface="Inter" pitchFamily="34" charset="-120"/>
              </a:rPr>
              <a:t>Portfolio at a glance</a:t>
            </a:r>
            <a:endParaRPr lang="en-US" sz="1200" dirty="0"/>
          </a:p>
          <a:p>
            <a:pPr algn="l" marL="148844" indent="-148844">
              <a:lnSpc>
                <a:spcPts val="1620"/>
              </a:lnSpc>
              <a:buSzPct val="100000"/>
              <a:buChar char="•"/>
            </a:pPr>
            <a:r>
              <a:rPr lang="en-US" sz="1200" dirty="0">
                <a:solidFill>
                  <a:srgbClr val="051C2C"/>
                </a:solidFill>
                <a:latin typeface="Inter" pitchFamily="34" charset="0"/>
                <a:ea typeface="Inter" pitchFamily="34" charset="-122"/>
                <a:cs typeface="Inter" pitchFamily="34" charset="-120"/>
              </a:rPr>
              <a:t>Real-time cash and revenue forecast</a:t>
            </a:r>
            <a:endParaRPr lang="en-US" sz="1200" dirty="0"/>
          </a:p>
          <a:p>
            <a:pPr algn="l" marL="148844" indent="-148844">
              <a:lnSpc>
                <a:spcPts val="1620"/>
              </a:lnSpc>
              <a:buSzPct val="100000"/>
              <a:buChar char="•"/>
            </a:pPr>
            <a:r>
              <a:rPr lang="en-US" sz="1200" dirty="0">
                <a:solidFill>
                  <a:srgbClr val="051C2C"/>
                </a:solidFill>
                <a:latin typeface="Inter" pitchFamily="34" charset="0"/>
                <a:ea typeface="Inter" pitchFamily="34" charset="-122"/>
                <a:cs typeface="Inter" pitchFamily="34" charset="-120"/>
              </a:rPr>
              <a:t>Capital allocation</a:t>
            </a:r>
            <a:endParaRPr lang="en-US" sz="1200" dirty="0"/>
          </a:p>
        </p:txBody>
      </p:sp>
      <p:sp>
        <p:nvSpPr>
          <p:cNvPr id="34" name="Text 27"/>
          <p:cNvSpPr/>
          <p:nvPr/>
        </p:nvSpPr>
        <p:spPr>
          <a:xfrm>
            <a:off x="812800" y="6238280"/>
            <a:ext cx="2366546"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680"/>
                </a:solidFill>
                <a:latin typeface="Inter" pitchFamily="34" charset="0"/>
                <a:ea typeface="Inter" pitchFamily="34" charset="-122"/>
                <a:cs typeface="Inter" pitchFamily="34" charset="-120"/>
              </a:rPr>
              <a:t>Enterprise Intelligence | FIS</a:t>
            </a:r>
            <a:endParaRPr lang="en-US" sz="1200" dirty="0"/>
          </a:p>
        </p:txBody>
      </p:sp>
      <p:sp>
        <p:nvSpPr>
          <p:cNvPr id="35" name="Text 28"/>
          <p:cNvSpPr/>
          <p:nvPr/>
        </p:nvSpPr>
        <p:spPr>
          <a:xfrm>
            <a:off x="11237962" y="6238280"/>
            <a:ext cx="141238"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B7680"/>
                </a:solidFill>
                <a:latin typeface="Inter" pitchFamily="34" charset="0"/>
                <a:ea typeface="Inter" pitchFamily="34" charset="-122"/>
                <a:cs typeface="Inter" pitchFamily="34" charset="-120"/>
              </a:rPr>
              <a:t>5</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BFBF9"/>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2251FF"/>
                </a:solidFill>
                <a:latin typeface="Inter" pitchFamily="34" charset="0"/>
                <a:ea typeface="Inter" pitchFamily="34" charset="-122"/>
                <a:cs typeface="Inter" pitchFamily="34" charset="-120"/>
              </a:rPr>
              <a:t>01 KNOW THE TRUE ECONOMICS</a:t>
            </a:r>
            <a:endParaRPr lang="en-US" sz="1200" dirty="0"/>
          </a:p>
        </p:txBody>
      </p:sp>
      <p:sp>
        <p:nvSpPr>
          <p:cNvPr id="3" name="Text 1"/>
          <p:cNvSpPr/>
          <p:nvPr>
            <p:ph type="title"/>
          </p:nvPr>
        </p:nvSpPr>
        <p:spPr>
          <a:xfrm>
            <a:off x="812800" y="1127720"/>
            <a:ext cx="10883392" cy="784820"/>
          </a:xfrm>
          <a:prstGeom prst="rect">
            <a:avLst/>
          </a:prstGeom>
          <a:noFill/>
          <a:ln/>
        </p:spPr>
        <p:txBody>
          <a:bodyPr wrap="square" lIns="0" tIns="0" rIns="0" bIns="0" rtlCol="0" anchor="t">
            <a:normAutofit/>
          </a:bodyPr>
          <a:lstStyle/>
          <a:p>
            <a:pPr algn="l" indent="0" marL="0">
              <a:lnSpc>
                <a:spcPts val="2990"/>
              </a:lnSpc>
              <a:buNone/>
            </a:pPr>
            <a:r>
              <a:rPr lang="en-US" sz="2600" b="0" i="0" dirty="0">
                <a:solidFill>
                  <a:srgbClr val="051C2C"/>
                </a:solidFill>
                <a:latin typeface="Source Serif 4" pitchFamily="18" charset="0"/>
                <a:ea typeface="Source Serif 4" pitchFamily="18" charset="-122"/>
                <a:cs typeface="Source Serif 4" pitchFamily="18" charset="-120"/>
              </a:rPr>
              <a:t>True cost-to-serve reveals which contracts, clients and products actually create value</a:t>
            </a:r>
            <a:endParaRPr lang="en-US" sz="2600" dirty="0"/>
          </a:p>
        </p:txBody>
      </p:sp>
      <p:sp>
        <p:nvSpPr>
          <p:cNvPr id="4" name="Text 2"/>
          <p:cNvSpPr/>
          <p:nvPr/>
        </p:nvSpPr>
        <p:spPr>
          <a:xfrm>
            <a:off x="812800" y="2191941"/>
            <a:ext cx="4709160" cy="223490"/>
          </a:xfrm>
          <a:prstGeom prst="rect">
            <a:avLst/>
          </a:prstGeom>
          <a:noFill/>
          <a:ln/>
        </p:spPr>
        <p:txBody>
          <a:bodyPr wrap="square" lIns="0" tIns="0" rIns="0" bIns="0" rtlCol="0" anchor="t">
            <a:normAutofit/>
          </a:bodyPr>
          <a:lstStyle/>
          <a:p>
            <a:pPr algn="l" indent="0" marL="0">
              <a:lnSpc>
                <a:spcPts val="1560"/>
              </a:lnSpc>
              <a:buNone/>
            </a:pPr>
            <a:r>
              <a:rPr lang="en-US" sz="1300" b="1" dirty="0">
                <a:solidFill>
                  <a:srgbClr val="051C2C"/>
                </a:solidFill>
                <a:latin typeface="Inter" pitchFamily="34" charset="0"/>
                <a:ea typeface="Inter" pitchFamily="34" charset="-122"/>
                <a:cs typeface="Inter" pitchFamily="34" charset="-120"/>
              </a:rPr>
              <a:t>What it really costs to serve</a:t>
            </a:r>
            <a:endParaRPr lang="en-US" sz="1300" dirty="0"/>
          </a:p>
        </p:txBody>
      </p:sp>
      <p:sp>
        <p:nvSpPr>
          <p:cNvPr id="5" name="Shape 3"/>
          <p:cNvSpPr/>
          <p:nvPr/>
        </p:nvSpPr>
        <p:spPr>
          <a:xfrm>
            <a:off x="815975" y="2494806"/>
            <a:ext cx="4565650" cy="491480"/>
          </a:xfrm>
          <a:prstGeom prst="rect">
            <a:avLst/>
          </a:prstGeom>
          <a:solidFill>
            <a:srgbClr val="FFFFFF"/>
          </a:solidFill>
          <a:ln w="6350">
            <a:solidFill>
              <a:srgbClr val="D5DCE2"/>
            </a:solidFill>
            <a:prstDash val="solid"/>
          </a:ln>
        </p:spPr>
      </p:sp>
      <p:sp>
        <p:nvSpPr>
          <p:cNvPr id="6" name="Text 4"/>
          <p:cNvSpPr/>
          <p:nvPr/>
        </p:nvSpPr>
        <p:spPr>
          <a:xfrm>
            <a:off x="971550" y="2624981"/>
            <a:ext cx="1562457" cy="25653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051C2C"/>
                </a:solidFill>
                <a:latin typeface="Inter" pitchFamily="34" charset="0"/>
                <a:ea typeface="Inter" pitchFamily="34" charset="-122"/>
                <a:cs typeface="Inter" pitchFamily="34" charset="-120"/>
              </a:rPr>
              <a:t>Vendor licensing</a:t>
            </a:r>
            <a:endParaRPr lang="en-US" sz="1300" dirty="0"/>
          </a:p>
        </p:txBody>
      </p:sp>
      <p:sp>
        <p:nvSpPr>
          <p:cNvPr id="7" name="Text 5"/>
          <p:cNvSpPr/>
          <p:nvPr/>
        </p:nvSpPr>
        <p:spPr>
          <a:xfrm>
            <a:off x="3757652" y="2624981"/>
            <a:ext cx="1468398" cy="25653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B7680"/>
                </a:solidFill>
                <a:latin typeface="Inter" pitchFamily="34" charset="0"/>
                <a:ea typeface="Inter" pitchFamily="34" charset="-122"/>
                <a:cs typeface="Inter" pitchFamily="34" charset="-120"/>
              </a:rPr>
              <a:t>vendor contracts</a:t>
            </a:r>
            <a:endParaRPr lang="en-US" sz="1200" dirty="0"/>
          </a:p>
        </p:txBody>
      </p:sp>
      <p:sp>
        <p:nvSpPr>
          <p:cNvPr id="8" name="Shape 6"/>
          <p:cNvSpPr/>
          <p:nvPr/>
        </p:nvSpPr>
        <p:spPr>
          <a:xfrm>
            <a:off x="815975" y="3094236"/>
            <a:ext cx="4565650" cy="491480"/>
          </a:xfrm>
          <a:prstGeom prst="rect">
            <a:avLst/>
          </a:prstGeom>
          <a:solidFill>
            <a:srgbClr val="FFFFFF"/>
          </a:solidFill>
          <a:ln w="6350">
            <a:solidFill>
              <a:srgbClr val="D5DCE2"/>
            </a:solidFill>
            <a:prstDash val="solid"/>
          </a:ln>
        </p:spPr>
      </p:sp>
      <p:sp>
        <p:nvSpPr>
          <p:cNvPr id="9" name="Text 7"/>
          <p:cNvSpPr/>
          <p:nvPr/>
        </p:nvSpPr>
        <p:spPr>
          <a:xfrm>
            <a:off x="971550" y="3224411"/>
            <a:ext cx="1645087" cy="25653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051C2C"/>
                </a:solidFill>
                <a:latin typeface="Inter" pitchFamily="34" charset="0"/>
                <a:ea typeface="Inter" pitchFamily="34" charset="-122"/>
                <a:cs typeface="Inter" pitchFamily="34" charset="-120"/>
              </a:rPr>
              <a:t>+ Contractor time</a:t>
            </a:r>
            <a:endParaRPr lang="en-US" sz="1300" dirty="0"/>
          </a:p>
        </p:txBody>
      </p:sp>
      <p:sp>
        <p:nvSpPr>
          <p:cNvPr id="10" name="Text 8"/>
          <p:cNvSpPr/>
          <p:nvPr/>
        </p:nvSpPr>
        <p:spPr>
          <a:xfrm>
            <a:off x="4102933" y="3224411"/>
            <a:ext cx="1123117" cy="25653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B7680"/>
                </a:solidFill>
                <a:latin typeface="Inter" pitchFamily="34" charset="0"/>
                <a:ea typeface="Inter" pitchFamily="34" charset="-122"/>
                <a:cs typeface="Inter" pitchFamily="34" charset="-120"/>
              </a:rPr>
              <a:t>time tracking</a:t>
            </a:r>
            <a:endParaRPr lang="en-US" sz="1200" dirty="0"/>
          </a:p>
        </p:txBody>
      </p:sp>
      <p:sp>
        <p:nvSpPr>
          <p:cNvPr id="11" name="Shape 9"/>
          <p:cNvSpPr/>
          <p:nvPr/>
        </p:nvSpPr>
        <p:spPr>
          <a:xfrm>
            <a:off x="815975" y="3693666"/>
            <a:ext cx="4565650" cy="491480"/>
          </a:xfrm>
          <a:prstGeom prst="rect">
            <a:avLst/>
          </a:prstGeom>
          <a:solidFill>
            <a:srgbClr val="FFFFFF"/>
          </a:solidFill>
          <a:ln w="6350">
            <a:solidFill>
              <a:srgbClr val="D5DCE2"/>
            </a:solidFill>
            <a:prstDash val="solid"/>
          </a:ln>
        </p:spPr>
      </p:sp>
      <p:sp>
        <p:nvSpPr>
          <p:cNvPr id="12" name="Text 10"/>
          <p:cNvSpPr/>
          <p:nvPr/>
        </p:nvSpPr>
        <p:spPr>
          <a:xfrm>
            <a:off x="971550" y="3823841"/>
            <a:ext cx="1559719" cy="25653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051C2C"/>
                </a:solidFill>
                <a:latin typeface="Inter" pitchFamily="34" charset="0"/>
                <a:ea typeface="Inter" pitchFamily="34" charset="-122"/>
                <a:cs typeface="Inter" pitchFamily="34" charset="-120"/>
              </a:rPr>
              <a:t>+ Employee time</a:t>
            </a:r>
            <a:endParaRPr lang="en-US" sz="1300" dirty="0"/>
          </a:p>
        </p:txBody>
      </p:sp>
      <p:sp>
        <p:nvSpPr>
          <p:cNvPr id="13" name="Text 11"/>
          <p:cNvSpPr/>
          <p:nvPr/>
        </p:nvSpPr>
        <p:spPr>
          <a:xfrm>
            <a:off x="4102933" y="3823841"/>
            <a:ext cx="1123117" cy="25653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B7680"/>
                </a:solidFill>
                <a:latin typeface="Inter" pitchFamily="34" charset="0"/>
                <a:ea typeface="Inter" pitchFamily="34" charset="-122"/>
                <a:cs typeface="Inter" pitchFamily="34" charset="-120"/>
              </a:rPr>
              <a:t>time tracking</a:t>
            </a:r>
            <a:endParaRPr lang="en-US" sz="1200" dirty="0"/>
          </a:p>
        </p:txBody>
      </p:sp>
      <p:sp>
        <p:nvSpPr>
          <p:cNvPr id="14" name="Shape 12"/>
          <p:cNvSpPr/>
          <p:nvPr/>
        </p:nvSpPr>
        <p:spPr>
          <a:xfrm>
            <a:off x="812800" y="4289921"/>
            <a:ext cx="4572000" cy="485130"/>
          </a:xfrm>
          <a:prstGeom prst="rect">
            <a:avLst/>
          </a:prstGeom>
          <a:solidFill>
            <a:srgbClr val="051C2C"/>
          </a:solidFill>
          <a:ln/>
        </p:spPr>
      </p:sp>
      <p:sp>
        <p:nvSpPr>
          <p:cNvPr id="15" name="Text 13"/>
          <p:cNvSpPr/>
          <p:nvPr/>
        </p:nvSpPr>
        <p:spPr>
          <a:xfrm>
            <a:off x="965200" y="4416921"/>
            <a:ext cx="1925241" cy="25653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F4F6F8"/>
                </a:solidFill>
                <a:latin typeface="Inter" pitchFamily="34" charset="0"/>
                <a:ea typeface="Inter" pitchFamily="34" charset="-122"/>
                <a:cs typeface="Inter" pitchFamily="34" charset="-120"/>
              </a:rPr>
              <a:t>= True cost to serve</a:t>
            </a:r>
            <a:endParaRPr lang="en-US" sz="1300" dirty="0"/>
          </a:p>
        </p:txBody>
      </p:sp>
      <p:sp>
        <p:nvSpPr>
          <p:cNvPr id="16" name="Text 14"/>
          <p:cNvSpPr/>
          <p:nvPr/>
        </p:nvSpPr>
        <p:spPr>
          <a:xfrm>
            <a:off x="2899147" y="4416921"/>
            <a:ext cx="2333253" cy="25653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00A9F4"/>
                </a:solidFill>
                <a:latin typeface="Inter" pitchFamily="34" charset="0"/>
                <a:ea typeface="Inter" pitchFamily="34" charset="-122"/>
                <a:cs typeface="Inter" pitchFamily="34" charset="-120"/>
              </a:rPr>
              <a:t>per contract, client, product</a:t>
            </a:r>
            <a:endParaRPr lang="en-US" sz="1200" dirty="0"/>
          </a:p>
        </p:txBody>
      </p:sp>
      <p:sp>
        <p:nvSpPr>
          <p:cNvPr id="17" name="Text 15"/>
          <p:cNvSpPr/>
          <p:nvPr/>
        </p:nvSpPr>
        <p:spPr>
          <a:xfrm>
            <a:off x="812800" y="4876651"/>
            <a:ext cx="4709160"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3C4A55"/>
                </a:solidFill>
                <a:latin typeface="Inter" pitchFamily="34" charset="0"/>
                <a:ea typeface="Inter" pitchFamily="34" charset="-122"/>
                <a:cs typeface="Inter" pitchFamily="34" charset="-120"/>
              </a:rPr>
              <a:t>Compare it with what we bill, and we see real margin by contract, client and product.</a:t>
            </a:r>
            <a:endParaRPr lang="en-US" sz="1200" dirty="0"/>
          </a:p>
        </p:txBody>
      </p:sp>
      <p:sp>
        <p:nvSpPr>
          <p:cNvPr id="18" name="Text 16"/>
          <p:cNvSpPr/>
          <p:nvPr/>
        </p:nvSpPr>
        <p:spPr>
          <a:xfrm>
            <a:off x="5892800" y="2191941"/>
            <a:ext cx="5650992" cy="223490"/>
          </a:xfrm>
          <a:prstGeom prst="rect">
            <a:avLst/>
          </a:prstGeom>
          <a:noFill/>
          <a:ln/>
        </p:spPr>
        <p:txBody>
          <a:bodyPr wrap="square" lIns="0" tIns="0" rIns="0" bIns="0" rtlCol="0" anchor="t">
            <a:normAutofit/>
          </a:bodyPr>
          <a:lstStyle/>
          <a:p>
            <a:pPr algn="l" indent="0" marL="0">
              <a:lnSpc>
                <a:spcPts val="1560"/>
              </a:lnSpc>
              <a:buNone/>
            </a:pPr>
            <a:r>
              <a:rPr lang="en-US" sz="1300" b="1" dirty="0">
                <a:solidFill>
                  <a:srgbClr val="051C2C"/>
                </a:solidFill>
                <a:latin typeface="Inter" pitchFamily="34" charset="0"/>
                <a:ea typeface="Inter" pitchFamily="34" charset="-122"/>
                <a:cs typeface="Inter" pitchFamily="34" charset="-120"/>
              </a:rPr>
              <a:t>Act on every client and product</a:t>
            </a:r>
            <a:endParaRPr lang="en-US" sz="1300" dirty="0"/>
          </a:p>
        </p:txBody>
      </p:sp>
      <p:sp>
        <p:nvSpPr>
          <p:cNvPr id="19" name="Shape 17"/>
          <p:cNvSpPr/>
          <p:nvPr/>
        </p:nvSpPr>
        <p:spPr>
          <a:xfrm>
            <a:off x="5892800" y="2491631"/>
            <a:ext cx="2717800" cy="1598960"/>
          </a:xfrm>
          <a:prstGeom prst="rect">
            <a:avLst/>
          </a:prstGeom>
          <a:solidFill>
            <a:srgbClr val="DCE3E9"/>
          </a:solidFill>
          <a:ln/>
        </p:spPr>
      </p:sp>
      <p:sp>
        <p:nvSpPr>
          <p:cNvPr id="20" name="Text 18"/>
          <p:cNvSpPr/>
          <p:nvPr/>
        </p:nvSpPr>
        <p:spPr>
          <a:xfrm>
            <a:off x="6045200" y="2644031"/>
            <a:ext cx="2485390" cy="238720"/>
          </a:xfrm>
          <a:prstGeom prst="rect">
            <a:avLst/>
          </a:prstGeom>
          <a:noFill/>
          <a:ln/>
        </p:spPr>
        <p:txBody>
          <a:bodyPr wrap="square" lIns="0" tIns="0" rIns="0" bIns="0" rtlCol="0" anchor="t">
            <a:normAutofit/>
          </a:bodyPr>
          <a:lstStyle/>
          <a:p>
            <a:pPr algn="l" indent="0" marL="0">
              <a:lnSpc>
                <a:spcPts val="1680"/>
              </a:lnSpc>
              <a:buNone/>
            </a:pPr>
            <a:r>
              <a:rPr lang="en-US" sz="1400" b="1" dirty="0">
                <a:solidFill>
                  <a:srgbClr val="051C2C"/>
                </a:solidFill>
                <a:latin typeface="Inter" pitchFamily="34" charset="0"/>
                <a:ea typeface="Inter" pitchFamily="34" charset="-122"/>
                <a:cs typeface="Inter" pitchFamily="34" charset="-120"/>
              </a:rPr>
              <a:t>Nurture</a:t>
            </a:r>
            <a:endParaRPr lang="en-US" sz="1400" dirty="0"/>
          </a:p>
        </p:txBody>
      </p:sp>
      <p:sp>
        <p:nvSpPr>
          <p:cNvPr id="21" name="Text 19"/>
          <p:cNvSpPr/>
          <p:nvPr/>
        </p:nvSpPr>
        <p:spPr>
          <a:xfrm>
            <a:off x="6045200" y="2908151"/>
            <a:ext cx="2485390"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3C4A55"/>
                </a:solidFill>
                <a:latin typeface="Inter" pitchFamily="34" charset="0"/>
                <a:ea typeface="Inter" pitchFamily="34" charset="-122"/>
                <a:cs typeface="Inter" pitchFamily="34" charset="-120"/>
              </a:rPr>
              <a:t>High margin, low revenue: expand</a:t>
            </a:r>
            <a:endParaRPr lang="en-US" sz="1200" dirty="0"/>
          </a:p>
        </p:txBody>
      </p:sp>
      <p:sp>
        <p:nvSpPr>
          <p:cNvPr id="22" name="Shape 20"/>
          <p:cNvSpPr/>
          <p:nvPr/>
        </p:nvSpPr>
        <p:spPr>
          <a:xfrm>
            <a:off x="8661400" y="2491631"/>
            <a:ext cx="2717800" cy="1598960"/>
          </a:xfrm>
          <a:prstGeom prst="rect">
            <a:avLst/>
          </a:prstGeom>
          <a:solidFill>
            <a:srgbClr val="2251FF"/>
          </a:solidFill>
          <a:ln/>
        </p:spPr>
      </p:sp>
      <p:sp>
        <p:nvSpPr>
          <p:cNvPr id="23" name="Text 21"/>
          <p:cNvSpPr/>
          <p:nvPr/>
        </p:nvSpPr>
        <p:spPr>
          <a:xfrm>
            <a:off x="8813800" y="2644031"/>
            <a:ext cx="2485390" cy="238720"/>
          </a:xfrm>
          <a:prstGeom prst="rect">
            <a:avLst/>
          </a:prstGeom>
          <a:noFill/>
          <a:ln/>
        </p:spPr>
        <p:txBody>
          <a:bodyPr wrap="square" lIns="0" tIns="0" rIns="0" bIns="0" rtlCol="0" anchor="t">
            <a:normAutofit/>
          </a:bodyPr>
          <a:lstStyle/>
          <a:p>
            <a:pPr algn="l" indent="0" marL="0">
              <a:lnSpc>
                <a:spcPts val="1680"/>
              </a:lnSpc>
              <a:buNone/>
            </a:pPr>
            <a:r>
              <a:rPr lang="en-US" sz="1400" b="1" dirty="0">
                <a:solidFill>
                  <a:srgbClr val="FFFFFF"/>
                </a:solidFill>
                <a:latin typeface="Inter" pitchFamily="34" charset="0"/>
                <a:ea typeface="Inter" pitchFamily="34" charset="-122"/>
                <a:cs typeface="Inter" pitchFamily="34" charset="-120"/>
              </a:rPr>
              <a:t>Invest and grow</a:t>
            </a:r>
            <a:endParaRPr lang="en-US" sz="1400" dirty="0"/>
          </a:p>
        </p:txBody>
      </p:sp>
      <p:sp>
        <p:nvSpPr>
          <p:cNvPr id="24" name="Text 22"/>
          <p:cNvSpPr/>
          <p:nvPr/>
        </p:nvSpPr>
        <p:spPr>
          <a:xfrm>
            <a:off x="8813800" y="2908151"/>
            <a:ext cx="248539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E6ECFF"/>
                </a:solidFill>
                <a:latin typeface="Inter" pitchFamily="34" charset="0"/>
                <a:ea typeface="Inter" pitchFamily="34" charset="-122"/>
                <a:cs typeface="Inter" pitchFamily="34" charset="-120"/>
              </a:rPr>
              <a:t>High margin, high revenue</a:t>
            </a:r>
            <a:endParaRPr lang="en-US" sz="1200" dirty="0"/>
          </a:p>
        </p:txBody>
      </p:sp>
      <p:sp>
        <p:nvSpPr>
          <p:cNvPr id="25" name="Shape 23"/>
          <p:cNvSpPr/>
          <p:nvPr/>
        </p:nvSpPr>
        <p:spPr>
          <a:xfrm>
            <a:off x="5892800" y="4141391"/>
            <a:ext cx="2717800" cy="1385689"/>
          </a:xfrm>
          <a:prstGeom prst="rect">
            <a:avLst/>
          </a:prstGeom>
          <a:solidFill>
            <a:srgbClr val="EEF1F4"/>
          </a:solidFill>
          <a:ln/>
        </p:spPr>
      </p:sp>
      <p:sp>
        <p:nvSpPr>
          <p:cNvPr id="26" name="Text 24"/>
          <p:cNvSpPr/>
          <p:nvPr/>
        </p:nvSpPr>
        <p:spPr>
          <a:xfrm>
            <a:off x="6045200" y="4293791"/>
            <a:ext cx="2485390" cy="238720"/>
          </a:xfrm>
          <a:prstGeom prst="rect">
            <a:avLst/>
          </a:prstGeom>
          <a:noFill/>
          <a:ln/>
        </p:spPr>
        <p:txBody>
          <a:bodyPr wrap="square" lIns="0" tIns="0" rIns="0" bIns="0" rtlCol="0" anchor="t">
            <a:normAutofit/>
          </a:bodyPr>
          <a:lstStyle/>
          <a:p>
            <a:pPr algn="l" indent="0" marL="0">
              <a:lnSpc>
                <a:spcPts val="1680"/>
              </a:lnSpc>
              <a:buNone/>
            </a:pPr>
            <a:r>
              <a:rPr lang="en-US" sz="1400" b="1" dirty="0">
                <a:solidFill>
                  <a:srgbClr val="051C2C"/>
                </a:solidFill>
                <a:latin typeface="Inter" pitchFamily="34" charset="0"/>
                <a:ea typeface="Inter" pitchFamily="34" charset="-122"/>
                <a:cs typeface="Inter" pitchFamily="34" charset="-120"/>
              </a:rPr>
              <a:t>Rethink or sunset</a:t>
            </a:r>
            <a:endParaRPr lang="en-US" sz="1400" dirty="0"/>
          </a:p>
        </p:txBody>
      </p:sp>
      <p:sp>
        <p:nvSpPr>
          <p:cNvPr id="27" name="Text 25"/>
          <p:cNvSpPr/>
          <p:nvPr/>
        </p:nvSpPr>
        <p:spPr>
          <a:xfrm>
            <a:off x="6045200" y="4557911"/>
            <a:ext cx="248539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3C4A55"/>
                </a:solidFill>
                <a:latin typeface="Inter" pitchFamily="34" charset="0"/>
                <a:ea typeface="Inter" pitchFamily="34" charset="-122"/>
                <a:cs typeface="Inter" pitchFamily="34" charset="-120"/>
              </a:rPr>
              <a:t>Low margin, low revenue</a:t>
            </a:r>
            <a:endParaRPr lang="en-US" sz="1200" dirty="0"/>
          </a:p>
        </p:txBody>
      </p:sp>
      <p:sp>
        <p:nvSpPr>
          <p:cNvPr id="28" name="Shape 26"/>
          <p:cNvSpPr/>
          <p:nvPr/>
        </p:nvSpPr>
        <p:spPr>
          <a:xfrm>
            <a:off x="8661400" y="4141391"/>
            <a:ext cx="2717800" cy="1385689"/>
          </a:xfrm>
          <a:prstGeom prst="rect">
            <a:avLst/>
          </a:prstGeom>
          <a:solidFill>
            <a:srgbClr val="A9BCCD"/>
          </a:solidFill>
          <a:ln/>
        </p:spPr>
      </p:sp>
      <p:sp>
        <p:nvSpPr>
          <p:cNvPr id="29" name="Text 27"/>
          <p:cNvSpPr/>
          <p:nvPr/>
        </p:nvSpPr>
        <p:spPr>
          <a:xfrm>
            <a:off x="8813800" y="4293791"/>
            <a:ext cx="2485390" cy="238720"/>
          </a:xfrm>
          <a:prstGeom prst="rect">
            <a:avLst/>
          </a:prstGeom>
          <a:noFill/>
          <a:ln/>
        </p:spPr>
        <p:txBody>
          <a:bodyPr wrap="square" lIns="0" tIns="0" rIns="0" bIns="0" rtlCol="0" anchor="t">
            <a:normAutofit/>
          </a:bodyPr>
          <a:lstStyle/>
          <a:p>
            <a:pPr algn="l" indent="0" marL="0">
              <a:lnSpc>
                <a:spcPts val="1680"/>
              </a:lnSpc>
              <a:buNone/>
            </a:pPr>
            <a:r>
              <a:rPr lang="en-US" sz="1400" b="1" dirty="0">
                <a:solidFill>
                  <a:srgbClr val="051C2C"/>
                </a:solidFill>
                <a:latin typeface="Inter" pitchFamily="34" charset="0"/>
                <a:ea typeface="Inter" pitchFamily="34" charset="-122"/>
                <a:cs typeface="Inter" pitchFamily="34" charset="-120"/>
              </a:rPr>
              <a:t>Reprice or restructure</a:t>
            </a:r>
            <a:endParaRPr lang="en-US" sz="1400" dirty="0"/>
          </a:p>
        </p:txBody>
      </p:sp>
      <p:sp>
        <p:nvSpPr>
          <p:cNvPr id="30" name="Text 28"/>
          <p:cNvSpPr/>
          <p:nvPr/>
        </p:nvSpPr>
        <p:spPr>
          <a:xfrm>
            <a:off x="8813800" y="4557911"/>
            <a:ext cx="248539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24323D"/>
                </a:solidFill>
                <a:latin typeface="Inter" pitchFamily="34" charset="0"/>
                <a:ea typeface="Inter" pitchFamily="34" charset="-122"/>
                <a:cs typeface="Inter" pitchFamily="34" charset="-120"/>
              </a:rPr>
              <a:t>Low margin, high revenue</a:t>
            </a:r>
            <a:endParaRPr lang="en-US" sz="1200" dirty="0"/>
          </a:p>
        </p:txBody>
      </p:sp>
      <p:sp>
        <p:nvSpPr>
          <p:cNvPr id="31" name="Text 29"/>
          <p:cNvSpPr/>
          <p:nvPr/>
        </p:nvSpPr>
        <p:spPr>
          <a:xfrm>
            <a:off x="5892800" y="5628680"/>
            <a:ext cx="802184"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680"/>
                </a:solidFill>
                <a:latin typeface="Inter" pitchFamily="34" charset="0"/>
                <a:ea typeface="Inter" pitchFamily="34" charset="-122"/>
                <a:cs typeface="Inter" pitchFamily="34" charset="-120"/>
              </a:rPr>
              <a:t>↑ Margin</a:t>
            </a:r>
            <a:endParaRPr lang="en-US" sz="1200" dirty="0"/>
          </a:p>
        </p:txBody>
      </p:sp>
      <p:sp>
        <p:nvSpPr>
          <p:cNvPr id="32" name="Text 30"/>
          <p:cNvSpPr/>
          <p:nvPr/>
        </p:nvSpPr>
        <p:spPr>
          <a:xfrm>
            <a:off x="10398185" y="5628680"/>
            <a:ext cx="981015"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B7680"/>
                </a:solidFill>
                <a:latin typeface="Inter" pitchFamily="34" charset="0"/>
                <a:ea typeface="Inter" pitchFamily="34" charset="-122"/>
                <a:cs typeface="Inter" pitchFamily="34" charset="-120"/>
              </a:rPr>
              <a:t>Revenue →</a:t>
            </a:r>
            <a:endParaRPr lang="en-US" sz="1200" dirty="0"/>
          </a:p>
        </p:txBody>
      </p:sp>
      <p:sp>
        <p:nvSpPr>
          <p:cNvPr id="33" name="Text 31"/>
          <p:cNvSpPr/>
          <p:nvPr/>
        </p:nvSpPr>
        <p:spPr>
          <a:xfrm>
            <a:off x="812800" y="6238280"/>
            <a:ext cx="2366546"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680"/>
                </a:solidFill>
                <a:latin typeface="Inter" pitchFamily="34" charset="0"/>
                <a:ea typeface="Inter" pitchFamily="34" charset="-122"/>
                <a:cs typeface="Inter" pitchFamily="34" charset="-120"/>
              </a:rPr>
              <a:t>Enterprise Intelligence | FIS</a:t>
            </a:r>
            <a:endParaRPr lang="en-US" sz="1200" dirty="0"/>
          </a:p>
        </p:txBody>
      </p:sp>
      <p:sp>
        <p:nvSpPr>
          <p:cNvPr id="34" name="Text 32"/>
          <p:cNvSpPr/>
          <p:nvPr/>
        </p:nvSpPr>
        <p:spPr>
          <a:xfrm>
            <a:off x="11233894" y="6238280"/>
            <a:ext cx="145306"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B7680"/>
                </a:solidFill>
                <a:latin typeface="Inter" pitchFamily="34" charset="0"/>
                <a:ea typeface="Inter" pitchFamily="34" charset="-122"/>
                <a:cs typeface="Inter" pitchFamily="34" charset="-120"/>
              </a:rPr>
              <a:t>6</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BFBF9"/>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2251FF"/>
                </a:solidFill>
                <a:latin typeface="Inter" pitchFamily="34" charset="0"/>
                <a:ea typeface="Inter" pitchFamily="34" charset="-122"/>
                <a:cs typeface="Inter" pitchFamily="34" charset="-120"/>
              </a:rPr>
              <a:t>02 PROTECT THE BASE</a:t>
            </a:r>
            <a:endParaRPr lang="en-US" sz="1200" dirty="0"/>
          </a:p>
        </p:txBody>
      </p:sp>
      <p:sp>
        <p:nvSpPr>
          <p:cNvPr id="3" name="Text 1"/>
          <p:cNvSpPr/>
          <p:nvPr>
            <p:ph type="title"/>
          </p:nvPr>
        </p:nvSpPr>
        <p:spPr>
          <a:xfrm>
            <a:off x="812800" y="1127720"/>
            <a:ext cx="10883392" cy="784820"/>
          </a:xfrm>
          <a:prstGeom prst="rect">
            <a:avLst/>
          </a:prstGeom>
          <a:noFill/>
          <a:ln/>
        </p:spPr>
        <p:txBody>
          <a:bodyPr wrap="square" lIns="0" tIns="0" rIns="0" bIns="0" rtlCol="0" anchor="t">
            <a:normAutofit/>
          </a:bodyPr>
          <a:lstStyle/>
          <a:p>
            <a:pPr algn="l" indent="0" marL="0">
              <a:lnSpc>
                <a:spcPts val="2990"/>
              </a:lnSpc>
              <a:buNone/>
            </a:pPr>
            <a:r>
              <a:rPr lang="en-US" sz="2600" b="0" i="0" dirty="0">
                <a:solidFill>
                  <a:srgbClr val="051C2C"/>
                </a:solidFill>
                <a:latin typeface="Source Serif 4" pitchFamily="18" charset="0"/>
                <a:ea typeface="Source Serif 4" pitchFamily="18" charset="-122"/>
                <a:cs typeface="Source Serif 4" pitchFamily="18" charset="-120"/>
              </a:rPr>
              <a:t>Operational signals flag renewal risk months before the client raises it</a:t>
            </a:r>
            <a:endParaRPr lang="en-US" sz="2600" dirty="0"/>
          </a:p>
        </p:txBody>
      </p:sp>
      <p:sp>
        <p:nvSpPr>
          <p:cNvPr id="4" name="Text 2"/>
          <p:cNvSpPr/>
          <p:nvPr/>
        </p:nvSpPr>
        <p:spPr>
          <a:xfrm>
            <a:off x="812800" y="2191941"/>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6B7680"/>
                </a:solidFill>
                <a:latin typeface="Inter" pitchFamily="34" charset="0"/>
                <a:ea typeface="Inter" pitchFamily="34" charset="-122"/>
                <a:cs typeface="Inter" pitchFamily="34" charset="-120"/>
              </a:rPr>
              <a:t>EARLY-WARNING CHAIN (illustrative)</a:t>
            </a:r>
            <a:endParaRPr lang="en-US" sz="1200" dirty="0"/>
          </a:p>
        </p:txBody>
      </p:sp>
      <p:sp>
        <p:nvSpPr>
          <p:cNvPr id="5" name="Shape 3"/>
          <p:cNvSpPr/>
          <p:nvPr/>
        </p:nvSpPr>
        <p:spPr>
          <a:xfrm>
            <a:off x="812800" y="2506861"/>
            <a:ext cx="1718717" cy="690811"/>
          </a:xfrm>
          <a:prstGeom prst="rect">
            <a:avLst/>
          </a:prstGeom>
          <a:solidFill>
            <a:srgbClr val="EEF1F4"/>
          </a:solidFill>
          <a:ln/>
        </p:spPr>
      </p:sp>
      <p:sp>
        <p:nvSpPr>
          <p:cNvPr id="6" name="Text 4"/>
          <p:cNvSpPr/>
          <p:nvPr/>
        </p:nvSpPr>
        <p:spPr>
          <a:xfrm>
            <a:off x="939800" y="2633861"/>
            <a:ext cx="1515517" cy="223490"/>
          </a:xfrm>
          <a:prstGeom prst="rect">
            <a:avLst/>
          </a:prstGeom>
          <a:noFill/>
          <a:ln/>
        </p:spPr>
        <p:txBody>
          <a:bodyPr wrap="square" lIns="0" tIns="0" rIns="0" bIns="0" rtlCol="0" anchor="t">
            <a:normAutofit/>
          </a:bodyPr>
          <a:lstStyle/>
          <a:p>
            <a:pPr algn="l" indent="0" marL="0">
              <a:lnSpc>
                <a:spcPts val="1560"/>
              </a:lnSpc>
              <a:buNone/>
            </a:pPr>
            <a:r>
              <a:rPr lang="en-US" sz="1300" b="1" dirty="0">
                <a:solidFill>
                  <a:srgbClr val="051C2C"/>
                </a:solidFill>
                <a:latin typeface="Inter" pitchFamily="34" charset="0"/>
                <a:ea typeface="Inter" pitchFamily="34" charset="-122"/>
                <a:cs typeface="Inter" pitchFamily="34" charset="-120"/>
              </a:rPr>
              <a:t>Incident spike</a:t>
            </a:r>
            <a:endParaRPr lang="en-US" sz="1300" dirty="0"/>
          </a:p>
        </p:txBody>
      </p:sp>
      <p:sp>
        <p:nvSpPr>
          <p:cNvPr id="7" name="Text 5"/>
          <p:cNvSpPr/>
          <p:nvPr/>
        </p:nvSpPr>
        <p:spPr>
          <a:xfrm>
            <a:off x="939800" y="2857351"/>
            <a:ext cx="1515517"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3C4A55"/>
                </a:solidFill>
                <a:latin typeface="Inter" pitchFamily="34" charset="0"/>
                <a:ea typeface="Inter" pitchFamily="34" charset="-122"/>
                <a:cs typeface="Inter" pitchFamily="34" charset="-120"/>
              </a:rPr>
              <a:t>Incidents</a:t>
            </a:r>
            <a:endParaRPr lang="en-US" sz="1200" dirty="0"/>
          </a:p>
        </p:txBody>
      </p:sp>
      <p:sp>
        <p:nvSpPr>
          <p:cNvPr id="8" name="Shape 6"/>
          <p:cNvSpPr/>
          <p:nvPr/>
        </p:nvSpPr>
        <p:spPr>
          <a:xfrm>
            <a:off x="2582317" y="2506861"/>
            <a:ext cx="1718717" cy="690811"/>
          </a:xfrm>
          <a:prstGeom prst="rect">
            <a:avLst/>
          </a:prstGeom>
          <a:solidFill>
            <a:srgbClr val="DCE3E9"/>
          </a:solidFill>
          <a:ln/>
        </p:spPr>
      </p:sp>
      <p:sp>
        <p:nvSpPr>
          <p:cNvPr id="9" name="Text 7"/>
          <p:cNvSpPr/>
          <p:nvPr/>
        </p:nvSpPr>
        <p:spPr>
          <a:xfrm>
            <a:off x="2709317" y="2633861"/>
            <a:ext cx="1515517" cy="223490"/>
          </a:xfrm>
          <a:prstGeom prst="rect">
            <a:avLst/>
          </a:prstGeom>
          <a:noFill/>
          <a:ln/>
        </p:spPr>
        <p:txBody>
          <a:bodyPr wrap="square" lIns="0" tIns="0" rIns="0" bIns="0" rtlCol="0" anchor="t">
            <a:normAutofit/>
          </a:bodyPr>
          <a:lstStyle/>
          <a:p>
            <a:pPr algn="l" indent="0" marL="0">
              <a:lnSpc>
                <a:spcPts val="1560"/>
              </a:lnSpc>
              <a:buNone/>
            </a:pPr>
            <a:r>
              <a:rPr lang="en-US" sz="1300" b="1" dirty="0">
                <a:solidFill>
                  <a:srgbClr val="051C2C"/>
                </a:solidFill>
                <a:latin typeface="Inter" pitchFamily="34" charset="0"/>
                <a:ea typeface="Inter" pitchFamily="34" charset="-122"/>
                <a:cs typeface="Inter" pitchFamily="34" charset="-120"/>
              </a:rPr>
              <a:t>SLA breach</a:t>
            </a:r>
            <a:endParaRPr lang="en-US" sz="1300" dirty="0"/>
          </a:p>
        </p:txBody>
      </p:sp>
      <p:sp>
        <p:nvSpPr>
          <p:cNvPr id="10" name="Text 8"/>
          <p:cNvSpPr/>
          <p:nvPr/>
        </p:nvSpPr>
        <p:spPr>
          <a:xfrm>
            <a:off x="2709317" y="2857351"/>
            <a:ext cx="1515517"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3C4A55"/>
                </a:solidFill>
                <a:latin typeface="Inter" pitchFamily="34" charset="0"/>
                <a:ea typeface="Inter" pitchFamily="34" charset="-122"/>
                <a:cs typeface="Inter" pitchFamily="34" charset="-120"/>
              </a:rPr>
              <a:t>SLAs</a:t>
            </a:r>
            <a:endParaRPr lang="en-US" sz="1200" dirty="0"/>
          </a:p>
        </p:txBody>
      </p:sp>
      <p:sp>
        <p:nvSpPr>
          <p:cNvPr id="11" name="Shape 9"/>
          <p:cNvSpPr/>
          <p:nvPr/>
        </p:nvSpPr>
        <p:spPr>
          <a:xfrm>
            <a:off x="4351834" y="2506861"/>
            <a:ext cx="1718717" cy="690811"/>
          </a:xfrm>
          <a:prstGeom prst="rect">
            <a:avLst/>
          </a:prstGeom>
          <a:solidFill>
            <a:srgbClr val="C6D3DE"/>
          </a:solidFill>
          <a:ln/>
        </p:spPr>
      </p:sp>
      <p:sp>
        <p:nvSpPr>
          <p:cNvPr id="12" name="Text 10"/>
          <p:cNvSpPr/>
          <p:nvPr/>
        </p:nvSpPr>
        <p:spPr>
          <a:xfrm>
            <a:off x="4478834" y="2633861"/>
            <a:ext cx="1515517" cy="223490"/>
          </a:xfrm>
          <a:prstGeom prst="rect">
            <a:avLst/>
          </a:prstGeom>
          <a:noFill/>
          <a:ln/>
        </p:spPr>
        <p:txBody>
          <a:bodyPr wrap="square" lIns="0" tIns="0" rIns="0" bIns="0" rtlCol="0" anchor="t">
            <a:normAutofit/>
          </a:bodyPr>
          <a:lstStyle/>
          <a:p>
            <a:pPr algn="l" indent="0" marL="0">
              <a:lnSpc>
                <a:spcPts val="1560"/>
              </a:lnSpc>
              <a:buNone/>
            </a:pPr>
            <a:r>
              <a:rPr lang="en-US" sz="1300" b="1" dirty="0">
                <a:solidFill>
                  <a:srgbClr val="051C2C"/>
                </a:solidFill>
                <a:latin typeface="Inter" pitchFamily="34" charset="0"/>
                <a:ea typeface="Inter" pitchFamily="34" charset="-122"/>
                <a:cs typeface="Inter" pitchFamily="34" charset="-120"/>
              </a:rPr>
              <a:t>Ticket aging</a:t>
            </a:r>
            <a:endParaRPr lang="en-US" sz="1300" dirty="0"/>
          </a:p>
        </p:txBody>
      </p:sp>
      <p:sp>
        <p:nvSpPr>
          <p:cNvPr id="13" name="Text 11"/>
          <p:cNvSpPr/>
          <p:nvPr/>
        </p:nvSpPr>
        <p:spPr>
          <a:xfrm>
            <a:off x="4478834" y="2857351"/>
            <a:ext cx="1515517"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3C4A55"/>
                </a:solidFill>
                <a:latin typeface="Inter" pitchFamily="34" charset="0"/>
                <a:ea typeface="Inter" pitchFamily="34" charset="-122"/>
                <a:cs typeface="Inter" pitchFamily="34" charset="-120"/>
              </a:rPr>
              <a:t>Tickets</a:t>
            </a:r>
            <a:endParaRPr lang="en-US" sz="1200" dirty="0"/>
          </a:p>
        </p:txBody>
      </p:sp>
      <p:sp>
        <p:nvSpPr>
          <p:cNvPr id="14" name="Shape 12"/>
          <p:cNvSpPr/>
          <p:nvPr/>
        </p:nvSpPr>
        <p:spPr>
          <a:xfrm>
            <a:off x="6121350" y="2506861"/>
            <a:ext cx="1718766" cy="690811"/>
          </a:xfrm>
          <a:prstGeom prst="rect">
            <a:avLst/>
          </a:prstGeom>
          <a:solidFill>
            <a:srgbClr val="A9BCCD"/>
          </a:solidFill>
          <a:ln/>
        </p:spPr>
      </p:sp>
      <p:sp>
        <p:nvSpPr>
          <p:cNvPr id="15" name="Text 13"/>
          <p:cNvSpPr/>
          <p:nvPr/>
        </p:nvSpPr>
        <p:spPr>
          <a:xfrm>
            <a:off x="6248350" y="2633861"/>
            <a:ext cx="1515566" cy="223490"/>
          </a:xfrm>
          <a:prstGeom prst="rect">
            <a:avLst/>
          </a:prstGeom>
          <a:noFill/>
          <a:ln/>
        </p:spPr>
        <p:txBody>
          <a:bodyPr wrap="square" lIns="0" tIns="0" rIns="0" bIns="0" rtlCol="0" anchor="t">
            <a:normAutofit/>
          </a:bodyPr>
          <a:lstStyle/>
          <a:p>
            <a:pPr algn="l" indent="0" marL="0">
              <a:lnSpc>
                <a:spcPts val="1560"/>
              </a:lnSpc>
              <a:buNone/>
            </a:pPr>
            <a:r>
              <a:rPr lang="en-US" sz="1300" b="1" dirty="0">
                <a:solidFill>
                  <a:srgbClr val="051C2C"/>
                </a:solidFill>
                <a:latin typeface="Inter" pitchFamily="34" charset="0"/>
                <a:ea typeface="Inter" pitchFamily="34" charset="-122"/>
                <a:cs typeface="Inter" pitchFamily="34" charset="-120"/>
              </a:rPr>
              <a:t>Survey dip</a:t>
            </a:r>
            <a:endParaRPr lang="en-US" sz="1300" dirty="0"/>
          </a:p>
        </p:txBody>
      </p:sp>
      <p:sp>
        <p:nvSpPr>
          <p:cNvPr id="16" name="Text 14"/>
          <p:cNvSpPr/>
          <p:nvPr/>
        </p:nvSpPr>
        <p:spPr>
          <a:xfrm>
            <a:off x="6248350" y="2857351"/>
            <a:ext cx="1515566"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24323D"/>
                </a:solidFill>
                <a:latin typeface="Inter" pitchFamily="34" charset="0"/>
                <a:ea typeface="Inter" pitchFamily="34" charset="-122"/>
                <a:cs typeface="Inter" pitchFamily="34" charset="-120"/>
              </a:rPr>
              <a:t>Surveys</a:t>
            </a:r>
            <a:endParaRPr lang="en-US" sz="1200" dirty="0"/>
          </a:p>
        </p:txBody>
      </p:sp>
      <p:sp>
        <p:nvSpPr>
          <p:cNvPr id="17" name="Shape 15"/>
          <p:cNvSpPr/>
          <p:nvPr/>
        </p:nvSpPr>
        <p:spPr>
          <a:xfrm>
            <a:off x="7890917" y="2506861"/>
            <a:ext cx="1718717" cy="690811"/>
          </a:xfrm>
          <a:prstGeom prst="rect">
            <a:avLst/>
          </a:prstGeom>
          <a:solidFill>
            <a:srgbClr val="7F9DB8"/>
          </a:solidFill>
          <a:ln/>
        </p:spPr>
      </p:sp>
      <p:sp>
        <p:nvSpPr>
          <p:cNvPr id="18" name="Text 16"/>
          <p:cNvSpPr/>
          <p:nvPr/>
        </p:nvSpPr>
        <p:spPr>
          <a:xfrm>
            <a:off x="8017917" y="2633861"/>
            <a:ext cx="1515517" cy="223490"/>
          </a:xfrm>
          <a:prstGeom prst="rect">
            <a:avLst/>
          </a:prstGeom>
          <a:noFill/>
          <a:ln/>
        </p:spPr>
        <p:txBody>
          <a:bodyPr wrap="square" lIns="0" tIns="0" rIns="0" bIns="0" rtlCol="0" anchor="t">
            <a:normAutofit/>
          </a:bodyPr>
          <a:lstStyle/>
          <a:p>
            <a:pPr algn="l" indent="0" marL="0">
              <a:lnSpc>
                <a:spcPts val="1560"/>
              </a:lnSpc>
              <a:buNone/>
            </a:pPr>
            <a:r>
              <a:rPr lang="en-US" sz="1300" b="1" dirty="0">
                <a:solidFill>
                  <a:srgbClr val="051C2C"/>
                </a:solidFill>
                <a:latin typeface="Inter" pitchFamily="34" charset="0"/>
                <a:ea typeface="Inter" pitchFamily="34" charset="-122"/>
                <a:cs typeface="Inter" pitchFamily="34" charset="-120"/>
              </a:rPr>
              <a:t>Usage decline</a:t>
            </a:r>
            <a:endParaRPr lang="en-US" sz="1300" dirty="0"/>
          </a:p>
        </p:txBody>
      </p:sp>
      <p:sp>
        <p:nvSpPr>
          <p:cNvPr id="19" name="Text 17"/>
          <p:cNvSpPr/>
          <p:nvPr/>
        </p:nvSpPr>
        <p:spPr>
          <a:xfrm>
            <a:off x="8017917" y="2857351"/>
            <a:ext cx="1515517"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051C2C"/>
                </a:solidFill>
                <a:latin typeface="Inter" pitchFamily="34" charset="0"/>
                <a:ea typeface="Inter" pitchFamily="34" charset="-122"/>
                <a:cs typeface="Inter" pitchFamily="34" charset="-120"/>
              </a:rPr>
              <a:t>Telemetry</a:t>
            </a:r>
            <a:endParaRPr lang="en-US" sz="1200" dirty="0"/>
          </a:p>
        </p:txBody>
      </p:sp>
      <p:sp>
        <p:nvSpPr>
          <p:cNvPr id="20" name="Shape 18"/>
          <p:cNvSpPr/>
          <p:nvPr/>
        </p:nvSpPr>
        <p:spPr>
          <a:xfrm>
            <a:off x="9660434" y="2506861"/>
            <a:ext cx="1718717" cy="690811"/>
          </a:xfrm>
          <a:prstGeom prst="rect">
            <a:avLst/>
          </a:prstGeom>
          <a:solidFill>
            <a:srgbClr val="051C2C"/>
          </a:solidFill>
          <a:ln/>
        </p:spPr>
      </p:sp>
      <p:sp>
        <p:nvSpPr>
          <p:cNvPr id="21" name="Text 19"/>
          <p:cNvSpPr/>
          <p:nvPr/>
        </p:nvSpPr>
        <p:spPr>
          <a:xfrm>
            <a:off x="9787434" y="2633861"/>
            <a:ext cx="1515517" cy="223490"/>
          </a:xfrm>
          <a:prstGeom prst="rect">
            <a:avLst/>
          </a:prstGeom>
          <a:noFill/>
          <a:ln/>
        </p:spPr>
        <p:txBody>
          <a:bodyPr wrap="square" lIns="0" tIns="0" rIns="0" bIns="0" rtlCol="0" anchor="t">
            <a:normAutofit/>
          </a:bodyPr>
          <a:lstStyle/>
          <a:p>
            <a:pPr algn="l" indent="0" marL="0">
              <a:lnSpc>
                <a:spcPts val="1560"/>
              </a:lnSpc>
              <a:buNone/>
            </a:pPr>
            <a:r>
              <a:rPr lang="en-US" sz="1300" b="1" dirty="0">
                <a:solidFill>
                  <a:srgbClr val="F4F6F8"/>
                </a:solidFill>
                <a:latin typeface="Inter" pitchFamily="34" charset="0"/>
                <a:ea typeface="Inter" pitchFamily="34" charset="-122"/>
                <a:cs typeface="Inter" pitchFamily="34" charset="-120"/>
              </a:rPr>
              <a:t>Renewal at risk</a:t>
            </a:r>
            <a:endParaRPr lang="en-US" sz="1300" dirty="0"/>
          </a:p>
        </p:txBody>
      </p:sp>
      <p:sp>
        <p:nvSpPr>
          <p:cNvPr id="22" name="Text 20"/>
          <p:cNvSpPr/>
          <p:nvPr/>
        </p:nvSpPr>
        <p:spPr>
          <a:xfrm>
            <a:off x="9787434" y="2857351"/>
            <a:ext cx="1515517"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00A9F4"/>
                </a:solidFill>
                <a:latin typeface="Inter" pitchFamily="34" charset="0"/>
                <a:ea typeface="Inter" pitchFamily="34" charset="-122"/>
                <a:cs typeface="Inter" pitchFamily="34" charset="-120"/>
              </a:rPr>
              <a:t>Contracts</a:t>
            </a:r>
            <a:endParaRPr lang="en-US" sz="1200" dirty="0"/>
          </a:p>
        </p:txBody>
      </p:sp>
      <p:sp>
        <p:nvSpPr>
          <p:cNvPr id="23" name="Shape 21"/>
          <p:cNvSpPr/>
          <p:nvPr/>
        </p:nvSpPr>
        <p:spPr>
          <a:xfrm>
            <a:off x="812800" y="3515171"/>
            <a:ext cx="3420517" cy="0"/>
          </a:xfrm>
          <a:prstGeom prst="line">
            <a:avLst/>
          </a:prstGeom>
          <a:noFill/>
          <a:ln w="25400">
            <a:solidFill>
              <a:srgbClr val="2251FF"/>
            </a:solidFill>
            <a:prstDash val="solid"/>
          </a:ln>
        </p:spPr>
      </p:sp>
      <p:sp>
        <p:nvSpPr>
          <p:cNvPr id="24" name="Text 22"/>
          <p:cNvSpPr/>
          <p:nvPr/>
        </p:nvSpPr>
        <p:spPr>
          <a:xfrm>
            <a:off x="812800" y="3654871"/>
            <a:ext cx="3523132" cy="238720"/>
          </a:xfrm>
          <a:prstGeom prst="rect">
            <a:avLst/>
          </a:prstGeom>
          <a:noFill/>
          <a:ln/>
        </p:spPr>
        <p:txBody>
          <a:bodyPr wrap="square" lIns="0" tIns="0" rIns="0" bIns="0" rtlCol="0" anchor="t">
            <a:normAutofit/>
          </a:bodyPr>
          <a:lstStyle/>
          <a:p>
            <a:pPr algn="l" indent="0" marL="0">
              <a:lnSpc>
                <a:spcPts val="1680"/>
              </a:lnSpc>
              <a:buNone/>
            </a:pPr>
            <a:r>
              <a:rPr lang="en-US" sz="1400" b="1" dirty="0">
                <a:solidFill>
                  <a:srgbClr val="051C2C"/>
                </a:solidFill>
                <a:latin typeface="Inter" pitchFamily="34" charset="0"/>
                <a:ea typeface="Inter" pitchFamily="34" charset="-122"/>
                <a:cs typeface="Inter" pitchFamily="34" charset="-120"/>
              </a:rPr>
              <a:t>Intervene early</a:t>
            </a:r>
            <a:endParaRPr lang="en-US" sz="1400" dirty="0"/>
          </a:p>
        </p:txBody>
      </p:sp>
      <p:sp>
        <p:nvSpPr>
          <p:cNvPr id="25" name="Text 23"/>
          <p:cNvSpPr/>
          <p:nvPr/>
        </p:nvSpPr>
        <p:spPr>
          <a:xfrm>
            <a:off x="812800" y="3944392"/>
            <a:ext cx="3523132" cy="66536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3C4A55"/>
                </a:solidFill>
                <a:latin typeface="Inter" pitchFamily="34" charset="0"/>
                <a:ea typeface="Inter" pitchFamily="34" charset="-122"/>
                <a:cs typeface="Inter" pitchFamily="34" charset="-120"/>
              </a:rPr>
              <a:t>Agents detect the pattern, diagnose root cause and draft the play: service recovery, executive outreach or a commercial offer.</a:t>
            </a:r>
            <a:endParaRPr lang="en-US" sz="1200" dirty="0"/>
          </a:p>
        </p:txBody>
      </p:sp>
      <p:sp>
        <p:nvSpPr>
          <p:cNvPr id="26" name="Shape 24"/>
          <p:cNvSpPr/>
          <p:nvPr/>
        </p:nvSpPr>
        <p:spPr>
          <a:xfrm>
            <a:off x="4385717" y="3515171"/>
            <a:ext cx="3420517" cy="0"/>
          </a:xfrm>
          <a:prstGeom prst="line">
            <a:avLst/>
          </a:prstGeom>
          <a:noFill/>
          <a:ln w="25400">
            <a:solidFill>
              <a:srgbClr val="2251FF"/>
            </a:solidFill>
            <a:prstDash val="solid"/>
          </a:ln>
        </p:spPr>
      </p:sp>
      <p:sp>
        <p:nvSpPr>
          <p:cNvPr id="27" name="Text 25"/>
          <p:cNvSpPr/>
          <p:nvPr/>
        </p:nvSpPr>
        <p:spPr>
          <a:xfrm>
            <a:off x="4385717" y="3654871"/>
            <a:ext cx="3523132" cy="238720"/>
          </a:xfrm>
          <a:prstGeom prst="rect">
            <a:avLst/>
          </a:prstGeom>
          <a:noFill/>
          <a:ln/>
        </p:spPr>
        <p:txBody>
          <a:bodyPr wrap="square" lIns="0" tIns="0" rIns="0" bIns="0" rtlCol="0" anchor="t">
            <a:normAutofit/>
          </a:bodyPr>
          <a:lstStyle/>
          <a:p>
            <a:pPr algn="l" indent="0" marL="0">
              <a:lnSpc>
                <a:spcPts val="1680"/>
              </a:lnSpc>
              <a:buNone/>
            </a:pPr>
            <a:r>
              <a:rPr lang="en-US" sz="1400" b="1" dirty="0">
                <a:solidFill>
                  <a:srgbClr val="051C2C"/>
                </a:solidFill>
                <a:latin typeface="Inter" pitchFamily="34" charset="0"/>
                <a:ea typeface="Inter" pitchFamily="34" charset="-122"/>
                <a:cs typeface="Inter" pitchFamily="34" charset="-120"/>
              </a:rPr>
              <a:t>Churn and compression</a:t>
            </a:r>
            <a:endParaRPr lang="en-US" sz="1400" dirty="0"/>
          </a:p>
        </p:txBody>
      </p:sp>
      <p:sp>
        <p:nvSpPr>
          <p:cNvPr id="28" name="Text 26"/>
          <p:cNvSpPr/>
          <p:nvPr/>
        </p:nvSpPr>
        <p:spPr>
          <a:xfrm>
            <a:off x="4385717" y="3944392"/>
            <a:ext cx="3523132" cy="665361"/>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3C4A55"/>
                </a:solidFill>
                <a:latin typeface="Inter" pitchFamily="34" charset="0"/>
                <a:ea typeface="Inter" pitchFamily="34" charset="-122"/>
                <a:cs typeface="Inter" pitchFamily="34" charset="-120"/>
              </a:rPr>
              <a:t>Churn:</a:t>
            </a:r>
            <a:r>
              <a:rPr lang="en-US" sz="1200" dirty="0">
                <a:solidFill>
                  <a:srgbClr val="3C4A55"/>
                </a:solidFill>
                <a:latin typeface="Inter" pitchFamily="34" charset="0"/>
                <a:ea typeface="Inter" pitchFamily="34" charset="-122"/>
                <a:cs typeface="Inter" pitchFamily="34" charset="-120"/>
              </a:rPr>
              <a:t> the client or product leaves. </a:t>
            </a:r>
            <a:r>
              <a:rPr lang="en-US" sz="1200" b="1" dirty="0">
                <a:solidFill>
                  <a:srgbClr val="3C4A55"/>
                </a:solidFill>
                <a:latin typeface="Inter" pitchFamily="34" charset="0"/>
                <a:ea typeface="Inter" pitchFamily="34" charset="-122"/>
                <a:cs typeface="Inter" pitchFamily="34" charset="-120"/>
              </a:rPr>
              <a:t>Compression:</a:t>
            </a:r>
            <a:r>
              <a:rPr lang="en-US" sz="1200" dirty="0">
                <a:solidFill>
                  <a:srgbClr val="3C4A55"/>
                </a:solidFill>
                <a:latin typeface="Inter" pitchFamily="34" charset="0"/>
                <a:ea typeface="Inter" pitchFamily="34" charset="-122"/>
                <a:cs typeface="Inter" pitchFamily="34" charset="-120"/>
              </a:rPr>
              <a:t> the client stays at a lower price or scope. Both scored per client.</a:t>
            </a:r>
            <a:endParaRPr lang="en-US" sz="1200" dirty="0"/>
          </a:p>
        </p:txBody>
      </p:sp>
      <p:sp>
        <p:nvSpPr>
          <p:cNvPr id="29" name="Shape 27"/>
          <p:cNvSpPr/>
          <p:nvPr/>
        </p:nvSpPr>
        <p:spPr>
          <a:xfrm>
            <a:off x="7958634" y="3515171"/>
            <a:ext cx="3420566" cy="0"/>
          </a:xfrm>
          <a:prstGeom prst="line">
            <a:avLst/>
          </a:prstGeom>
          <a:noFill/>
          <a:ln w="25400">
            <a:solidFill>
              <a:srgbClr val="2251FF"/>
            </a:solidFill>
            <a:prstDash val="solid"/>
          </a:ln>
        </p:spPr>
      </p:sp>
      <p:sp>
        <p:nvSpPr>
          <p:cNvPr id="30" name="Text 28"/>
          <p:cNvSpPr/>
          <p:nvPr/>
        </p:nvSpPr>
        <p:spPr>
          <a:xfrm>
            <a:off x="7958634" y="3654871"/>
            <a:ext cx="3523183" cy="238720"/>
          </a:xfrm>
          <a:prstGeom prst="rect">
            <a:avLst/>
          </a:prstGeom>
          <a:noFill/>
          <a:ln/>
        </p:spPr>
        <p:txBody>
          <a:bodyPr wrap="square" lIns="0" tIns="0" rIns="0" bIns="0" rtlCol="0" anchor="t">
            <a:normAutofit/>
          </a:bodyPr>
          <a:lstStyle/>
          <a:p>
            <a:pPr algn="l" indent="0" marL="0">
              <a:lnSpc>
                <a:spcPts val="1680"/>
              </a:lnSpc>
              <a:buNone/>
            </a:pPr>
            <a:r>
              <a:rPr lang="en-US" sz="1400" b="1" dirty="0">
                <a:solidFill>
                  <a:srgbClr val="051C2C"/>
                </a:solidFill>
                <a:latin typeface="Inter" pitchFamily="34" charset="0"/>
                <a:ea typeface="Inter" pitchFamily="34" charset="-122"/>
                <a:cs typeface="Inter" pitchFamily="34" charset="-120"/>
              </a:rPr>
              <a:t>Renew and expand</a:t>
            </a:r>
            <a:endParaRPr lang="en-US" sz="1400" dirty="0"/>
          </a:p>
        </p:txBody>
      </p:sp>
      <p:sp>
        <p:nvSpPr>
          <p:cNvPr id="31" name="Text 29"/>
          <p:cNvSpPr/>
          <p:nvPr/>
        </p:nvSpPr>
        <p:spPr>
          <a:xfrm>
            <a:off x="7958634" y="3944392"/>
            <a:ext cx="3523183" cy="66536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3C4A55"/>
                </a:solidFill>
                <a:latin typeface="Inter" pitchFamily="34" charset="0"/>
                <a:ea typeface="Inter" pitchFamily="34" charset="-122"/>
                <a:cs typeface="Inter" pitchFamily="34" charset="-120"/>
              </a:rPr>
              <a:t>Healthy accounts arrive at renewal with next-best upsell and cross-sell offers ready for the account team.</a:t>
            </a:r>
            <a:endParaRPr lang="en-US" sz="1200" dirty="0"/>
          </a:p>
        </p:txBody>
      </p:sp>
      <p:sp>
        <p:nvSpPr>
          <p:cNvPr id="32" name="Text 30"/>
          <p:cNvSpPr/>
          <p:nvPr/>
        </p:nvSpPr>
        <p:spPr>
          <a:xfrm>
            <a:off x="812800" y="6238280"/>
            <a:ext cx="2366546"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680"/>
                </a:solidFill>
                <a:latin typeface="Inter" pitchFamily="34" charset="0"/>
                <a:ea typeface="Inter" pitchFamily="34" charset="-122"/>
                <a:cs typeface="Inter" pitchFamily="34" charset="-120"/>
              </a:rPr>
              <a:t>Enterprise Intelligence | FIS</a:t>
            </a:r>
            <a:endParaRPr lang="en-US" sz="1200" dirty="0"/>
          </a:p>
        </p:txBody>
      </p:sp>
      <p:sp>
        <p:nvSpPr>
          <p:cNvPr id="33" name="Text 31"/>
          <p:cNvSpPr/>
          <p:nvPr/>
        </p:nvSpPr>
        <p:spPr>
          <a:xfrm>
            <a:off x="11242129" y="6238280"/>
            <a:ext cx="137071"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B7680"/>
                </a:solidFill>
                <a:latin typeface="Inter" pitchFamily="34" charset="0"/>
                <a:ea typeface="Inter" pitchFamily="34" charset="-122"/>
                <a:cs typeface="Inter" pitchFamily="34" charset="-120"/>
              </a:rPr>
              <a:t>7</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BFBF9"/>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2251FF"/>
                </a:solidFill>
                <a:latin typeface="Inter" pitchFamily="34" charset="0"/>
                <a:ea typeface="Inter" pitchFamily="34" charset="-122"/>
                <a:cs typeface="Inter" pitchFamily="34" charset="-120"/>
              </a:rPr>
              <a:t>03 GROW THE BASE</a:t>
            </a:r>
            <a:endParaRPr lang="en-US" sz="1200" dirty="0"/>
          </a:p>
        </p:txBody>
      </p:sp>
      <p:sp>
        <p:nvSpPr>
          <p:cNvPr id="3" name="Text 1"/>
          <p:cNvSpPr/>
          <p:nvPr>
            <p:ph type="title"/>
          </p:nvPr>
        </p:nvSpPr>
        <p:spPr>
          <a:xfrm>
            <a:off x="812800" y="1127720"/>
            <a:ext cx="10883392" cy="784820"/>
          </a:xfrm>
          <a:prstGeom prst="rect">
            <a:avLst/>
          </a:prstGeom>
          <a:noFill/>
          <a:ln/>
        </p:spPr>
        <p:txBody>
          <a:bodyPr wrap="square" lIns="0" tIns="0" rIns="0" bIns="0" rtlCol="0" anchor="t">
            <a:normAutofit/>
          </a:bodyPr>
          <a:lstStyle/>
          <a:p>
            <a:pPr algn="l" indent="0" marL="0">
              <a:lnSpc>
                <a:spcPts val="2990"/>
              </a:lnSpc>
              <a:buNone/>
            </a:pPr>
            <a:r>
              <a:rPr lang="en-US" sz="2600" b="0" i="0" dirty="0">
                <a:solidFill>
                  <a:srgbClr val="051C2C"/>
                </a:solidFill>
                <a:latin typeface="Source Serif 4" pitchFamily="18" charset="0"/>
                <a:ea typeface="Source Serif 4" pitchFamily="18" charset="-122"/>
                <a:cs typeface="Source Serif 4" pitchFamily="18" charset="-120"/>
              </a:rPr>
              <a:t>"Clients like you bought this": the installed base becomes a pipeline and a map of whitespace</a:t>
            </a:r>
            <a:endParaRPr lang="en-US" sz="2600" dirty="0"/>
          </a:p>
        </p:txBody>
      </p:sp>
      <p:sp>
        <p:nvSpPr>
          <p:cNvPr id="4" name="Text 2"/>
          <p:cNvSpPr/>
          <p:nvPr/>
        </p:nvSpPr>
        <p:spPr>
          <a:xfrm>
            <a:off x="812800" y="2191941"/>
            <a:ext cx="4185920" cy="223490"/>
          </a:xfrm>
          <a:prstGeom prst="rect">
            <a:avLst/>
          </a:prstGeom>
          <a:noFill/>
          <a:ln/>
        </p:spPr>
        <p:txBody>
          <a:bodyPr wrap="square" lIns="0" tIns="0" rIns="0" bIns="0" rtlCol="0" anchor="t">
            <a:normAutofit/>
          </a:bodyPr>
          <a:lstStyle/>
          <a:p>
            <a:pPr algn="l" indent="0" marL="0">
              <a:lnSpc>
                <a:spcPts val="1560"/>
              </a:lnSpc>
              <a:buNone/>
            </a:pPr>
            <a:r>
              <a:rPr lang="en-US" sz="1300" b="1" dirty="0">
                <a:solidFill>
                  <a:srgbClr val="051C2C"/>
                </a:solidFill>
                <a:latin typeface="Inter" pitchFamily="34" charset="0"/>
                <a:ea typeface="Inter" pitchFamily="34" charset="-122"/>
                <a:cs typeface="Inter" pitchFamily="34" charset="-120"/>
              </a:rPr>
              <a:t>Recommendation engine</a:t>
            </a:r>
            <a:endParaRPr lang="en-US" sz="1300" dirty="0"/>
          </a:p>
        </p:txBody>
      </p:sp>
      <p:sp>
        <p:nvSpPr>
          <p:cNvPr id="5" name="Text 3"/>
          <p:cNvSpPr/>
          <p:nvPr/>
        </p:nvSpPr>
        <p:spPr>
          <a:xfrm>
            <a:off x="812800" y="2517031"/>
            <a:ext cx="406400" cy="304800"/>
          </a:xfrm>
          <a:prstGeom prst="rect">
            <a:avLst/>
          </a:prstGeom>
          <a:noFill/>
          <a:ln/>
        </p:spPr>
        <p:txBody>
          <a:bodyPr wrap="square" lIns="0" tIns="0" rIns="0" bIns="0" rtlCol="0" anchor="t">
            <a:normAutofit/>
          </a:bodyPr>
          <a:lstStyle/>
          <a:p>
            <a:pPr algn="l" indent="0" marL="0">
              <a:lnSpc>
                <a:spcPts val="2200"/>
              </a:lnSpc>
              <a:buNone/>
            </a:pPr>
            <a:r>
              <a:rPr lang="en-US" sz="2200" dirty="0">
                <a:solidFill>
                  <a:srgbClr val="2251FF"/>
                </a:solidFill>
                <a:latin typeface="Source Serif 4" pitchFamily="18" charset="0"/>
                <a:ea typeface="Source Serif 4" pitchFamily="18" charset="-122"/>
                <a:cs typeface="Source Serif 4" pitchFamily="18" charset="-120"/>
              </a:rPr>
              <a:t>1</a:t>
            </a:r>
            <a:endParaRPr lang="en-US" sz="2200" dirty="0"/>
          </a:p>
        </p:txBody>
      </p:sp>
      <p:sp>
        <p:nvSpPr>
          <p:cNvPr id="6" name="Text 4"/>
          <p:cNvSpPr/>
          <p:nvPr/>
        </p:nvSpPr>
        <p:spPr>
          <a:xfrm>
            <a:off x="1270000" y="2517031"/>
            <a:ext cx="3715004" cy="452041"/>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24323D"/>
                </a:solidFill>
                <a:latin typeface="Inter" pitchFamily="34" charset="0"/>
                <a:ea typeface="Inter" pitchFamily="34" charset="-122"/>
                <a:cs typeface="Inter" pitchFamily="34" charset="-120"/>
              </a:rPr>
              <a:t>Find look-alike clients</a:t>
            </a:r>
            <a:r>
              <a:rPr lang="en-US" sz="1200" dirty="0">
                <a:solidFill>
                  <a:srgbClr val="24323D"/>
                </a:solidFill>
                <a:latin typeface="Inter" pitchFamily="34" charset="0"/>
                <a:ea typeface="Inter" pitchFamily="34" charset="-122"/>
                <a:cs typeface="Inter" pitchFamily="34" charset="-120"/>
              </a:rPr>
              <a:t> by product mix, segment, size and usage</a:t>
            </a:r>
            <a:endParaRPr lang="en-US" sz="1200" dirty="0"/>
          </a:p>
        </p:txBody>
      </p:sp>
      <p:sp>
        <p:nvSpPr>
          <p:cNvPr id="7" name="Text 5"/>
          <p:cNvSpPr/>
          <p:nvPr/>
        </p:nvSpPr>
        <p:spPr>
          <a:xfrm>
            <a:off x="812800" y="3070671"/>
            <a:ext cx="406400" cy="304800"/>
          </a:xfrm>
          <a:prstGeom prst="rect">
            <a:avLst/>
          </a:prstGeom>
          <a:noFill/>
          <a:ln/>
        </p:spPr>
        <p:txBody>
          <a:bodyPr wrap="square" lIns="0" tIns="0" rIns="0" bIns="0" rtlCol="0" anchor="t">
            <a:normAutofit/>
          </a:bodyPr>
          <a:lstStyle/>
          <a:p>
            <a:pPr algn="l" indent="0" marL="0">
              <a:lnSpc>
                <a:spcPts val="2200"/>
              </a:lnSpc>
              <a:buNone/>
            </a:pPr>
            <a:r>
              <a:rPr lang="en-US" sz="2200" dirty="0">
                <a:solidFill>
                  <a:srgbClr val="2251FF"/>
                </a:solidFill>
                <a:latin typeface="Source Serif 4" pitchFamily="18" charset="0"/>
                <a:ea typeface="Source Serif 4" pitchFamily="18" charset="-122"/>
                <a:cs typeface="Source Serif 4" pitchFamily="18" charset="-120"/>
              </a:rPr>
              <a:t>2</a:t>
            </a:r>
            <a:endParaRPr lang="en-US" sz="2200" dirty="0"/>
          </a:p>
        </p:txBody>
      </p:sp>
      <p:sp>
        <p:nvSpPr>
          <p:cNvPr id="8" name="Text 6"/>
          <p:cNvSpPr/>
          <p:nvPr/>
        </p:nvSpPr>
        <p:spPr>
          <a:xfrm>
            <a:off x="1270000" y="3070671"/>
            <a:ext cx="3715004"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24323D"/>
                </a:solidFill>
                <a:latin typeface="Inter" pitchFamily="34" charset="0"/>
                <a:ea typeface="Inter" pitchFamily="34" charset="-122"/>
                <a:cs typeface="Inter" pitchFamily="34" charset="-120"/>
              </a:rPr>
              <a:t>Score products</a:t>
            </a:r>
            <a:r>
              <a:rPr lang="en-US" sz="1200" dirty="0">
                <a:solidFill>
                  <a:srgbClr val="24323D"/>
                </a:solidFill>
                <a:latin typeface="Inter" pitchFamily="34" charset="0"/>
                <a:ea typeface="Inter" pitchFamily="34" charset="-122"/>
                <a:cs typeface="Inter" pitchFamily="34" charset="-120"/>
              </a:rPr>
              <a:t> peers own that the client lacks</a:t>
            </a:r>
            <a:endParaRPr lang="en-US" sz="1200" dirty="0"/>
          </a:p>
        </p:txBody>
      </p:sp>
      <p:sp>
        <p:nvSpPr>
          <p:cNvPr id="9" name="Text 7"/>
          <p:cNvSpPr/>
          <p:nvPr/>
        </p:nvSpPr>
        <p:spPr>
          <a:xfrm>
            <a:off x="812800" y="3477071"/>
            <a:ext cx="406400" cy="304800"/>
          </a:xfrm>
          <a:prstGeom prst="rect">
            <a:avLst/>
          </a:prstGeom>
          <a:noFill/>
          <a:ln/>
        </p:spPr>
        <p:txBody>
          <a:bodyPr wrap="square" lIns="0" tIns="0" rIns="0" bIns="0" rtlCol="0" anchor="t">
            <a:normAutofit/>
          </a:bodyPr>
          <a:lstStyle/>
          <a:p>
            <a:pPr algn="l" indent="0" marL="0">
              <a:lnSpc>
                <a:spcPts val="2200"/>
              </a:lnSpc>
              <a:buNone/>
            </a:pPr>
            <a:r>
              <a:rPr lang="en-US" sz="2200" dirty="0">
                <a:solidFill>
                  <a:srgbClr val="2251FF"/>
                </a:solidFill>
                <a:latin typeface="Source Serif 4" pitchFamily="18" charset="0"/>
                <a:ea typeface="Source Serif 4" pitchFamily="18" charset="-122"/>
                <a:cs typeface="Source Serif 4" pitchFamily="18" charset="-120"/>
              </a:rPr>
              <a:t>3</a:t>
            </a:r>
            <a:endParaRPr lang="en-US" sz="2200" dirty="0"/>
          </a:p>
        </p:txBody>
      </p:sp>
      <p:sp>
        <p:nvSpPr>
          <p:cNvPr id="10" name="Text 8"/>
          <p:cNvSpPr/>
          <p:nvPr/>
        </p:nvSpPr>
        <p:spPr>
          <a:xfrm>
            <a:off x="1270000" y="3477071"/>
            <a:ext cx="3715004" cy="452041"/>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24323D"/>
                </a:solidFill>
                <a:latin typeface="Inter" pitchFamily="34" charset="0"/>
                <a:ea typeface="Inter" pitchFamily="34" charset="-122"/>
                <a:cs typeface="Inter" pitchFamily="34" charset="-120"/>
              </a:rPr>
              <a:t>Generate the pitch</a:t>
            </a:r>
            <a:r>
              <a:rPr lang="en-US" sz="1200" dirty="0">
                <a:solidFill>
                  <a:srgbClr val="24323D"/>
                </a:solidFill>
                <a:latin typeface="Inter" pitchFamily="34" charset="0"/>
                <a:ea typeface="Inter" pitchFamily="34" charset="-122"/>
                <a:cs typeface="Inter" pitchFamily="34" charset="-120"/>
              </a:rPr>
              <a:t> with peer evidence and a value case, routed to the account team</a:t>
            </a:r>
            <a:endParaRPr lang="en-US" sz="1200" dirty="0"/>
          </a:p>
        </p:txBody>
      </p:sp>
      <p:sp>
        <p:nvSpPr>
          <p:cNvPr id="11" name="Text 9"/>
          <p:cNvSpPr/>
          <p:nvPr/>
        </p:nvSpPr>
        <p:spPr>
          <a:xfrm>
            <a:off x="5384800" y="2191941"/>
            <a:ext cx="6174232" cy="223490"/>
          </a:xfrm>
          <a:prstGeom prst="rect">
            <a:avLst/>
          </a:prstGeom>
          <a:noFill/>
          <a:ln/>
        </p:spPr>
        <p:txBody>
          <a:bodyPr wrap="square" lIns="0" tIns="0" rIns="0" bIns="0" rtlCol="0" anchor="t">
            <a:normAutofit/>
          </a:bodyPr>
          <a:lstStyle/>
          <a:p>
            <a:pPr algn="l" indent="0" marL="0">
              <a:lnSpc>
                <a:spcPts val="1560"/>
              </a:lnSpc>
              <a:buNone/>
            </a:pPr>
            <a:r>
              <a:rPr lang="en-US" sz="1300" b="1" dirty="0">
                <a:solidFill>
                  <a:srgbClr val="051C2C"/>
                </a:solidFill>
                <a:latin typeface="Inter" pitchFamily="34" charset="0"/>
                <a:ea typeface="Inter" pitchFamily="34" charset="-122"/>
                <a:cs typeface="Inter" pitchFamily="34" charset="-120"/>
              </a:rPr>
              <a:t>Whitespace: segment × product </a:t>
            </a:r>
            <a:r>
              <a:rPr lang="en-US" sz="1300" b="1" dirty="0">
                <a:solidFill>
                  <a:srgbClr val="6B7680"/>
                </a:solidFill>
                <a:latin typeface="Inter" pitchFamily="34" charset="0"/>
                <a:ea typeface="Inter" pitchFamily="34" charset="-122"/>
                <a:cs typeface="Inter" pitchFamily="34" charset="-120"/>
              </a:rPr>
              <a:t>(illustrative)</a:t>
            </a:r>
            <a:endParaRPr lang="en-US" sz="13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397500" y="2478931"/>
          <a:ext cx="5981700" cy="1638102"/>
        </p:xfrm>
        <a:graphic>
          <a:graphicData uri="http://schemas.openxmlformats.org/drawingml/2006/table">
            <a:tbl>
              <a:tblPr/>
              <a:tblGrid>
                <a:gridCol w="1196340"/>
                <a:gridCol w="1196340"/>
                <a:gridCol w="1196340"/>
                <a:gridCol w="1196340"/>
                <a:gridCol w="1196340"/>
              </a:tblGrid>
              <a:tr h="327620">
                <a:tc>
                  <a:txBody>
                    <a:bodyPr/>
                    <a:lstStyle/>
                    <a:p>
                      <a:pPr indent="0" marL="0">
                        <a:lnSpc>
                          <a:spcPts val="1680"/>
                        </a:lnSpc>
                        <a:buNone/>
                      </a:pPr>
                      <a:r>
                        <a:rPr lang="en-US" sz="1200" b="1" dirty="0">
                          <a:solidFill>
                            <a:srgbClr val="6B7680"/>
                          </a:solidFill>
                          <a:latin typeface="Inter" pitchFamily="34" charset="0"/>
                          <a:ea typeface="Inter" pitchFamily="34" charset="-122"/>
                          <a:cs typeface="Inter" pitchFamily="34" charset="-120"/>
                        </a:rPr>
                        <a:t>Segment</a:t>
                      </a:r>
                      <a:endParaRPr lang="en-US" sz="1200" dirty="0">
                        <a:latin typeface="Inter" charset="0"/>
                        <a:ea typeface="Inter" charset="0"/>
                        <a:cs typeface="Inter" charset="0"/>
                      </a:endParaRPr>
                    </a:p>
                  </a:txBody>
                  <a:tcPr marL="50800" marR="50800" marT="50800" marB="50800" anchor="t">
                    <a:lnL w="12700" cap="flat" cmpd="sng" algn="ctr">
                      <a:solidFill>
                        <a:srgbClr val="C8C8C6"/>
                      </a:solidFill>
                      <a:prstDash val="solid"/>
                      <a:round/>
                      <a:headEnd type="none" w="med" len="med"/>
                      <a:tailEnd type="none" w="med" len="med"/>
                    </a:lnL>
                    <a:lnR w="12700" cap="flat" cmpd="sng" algn="ctr">
                      <a:solidFill>
                        <a:srgbClr val="BABAB8"/>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BABAB8"/>
                      </a:solidFill>
                      <a:prstDash val="solid"/>
                      <a:round/>
                      <a:headEnd type="none" w="med" len="med"/>
                      <a:tailEnd type="none" w="med" len="med"/>
                    </a:lnB>
                    <a:solidFill>
                      <a:srgbClr val="E9E9E7"/>
                    </a:solidFill>
                  </a:tcPr>
                </a:tc>
                <a:tc>
                  <a:txBody>
                    <a:bodyPr/>
                    <a:lstStyle/>
                    <a:p>
                      <a:pPr indent="0" marL="0">
                        <a:lnSpc>
                          <a:spcPts val="1680"/>
                        </a:lnSpc>
                        <a:buNone/>
                      </a:pPr>
                      <a:r>
                        <a:rPr lang="en-US" sz="1200" b="1" dirty="0">
                          <a:solidFill>
                            <a:srgbClr val="6B7680"/>
                          </a:solidFill>
                          <a:latin typeface="Inter" pitchFamily="34" charset="0"/>
                          <a:ea typeface="Inter" pitchFamily="34" charset="-122"/>
                          <a:cs typeface="Inter" pitchFamily="34" charset="-120"/>
                        </a:rPr>
                        <a:t>[Prod A]</a:t>
                      </a:r>
                      <a:endParaRPr lang="en-US" sz="1200" dirty="0">
                        <a:latin typeface="Inter" charset="0"/>
                        <a:ea typeface="Inter" charset="0"/>
                        <a:cs typeface="Inter" charset="0"/>
                      </a:endParaRPr>
                    </a:p>
                  </a:txBody>
                  <a:tcPr marL="50800" marR="50800" marT="50800" marB="50800" anchor="t">
                    <a:lnL w="12700" cap="flat" cmpd="sng" algn="ctr">
                      <a:solidFill>
                        <a:srgbClr val="BABAB8"/>
                      </a:solidFill>
                      <a:prstDash val="solid"/>
                      <a:round/>
                      <a:headEnd type="none" w="med" len="med"/>
                      <a:tailEnd type="none" w="med" len="med"/>
                    </a:lnL>
                    <a:lnR w="12700" cap="flat" cmpd="sng" algn="ctr">
                      <a:solidFill>
                        <a:srgbClr val="BABAB8"/>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BABAB8"/>
                      </a:solidFill>
                      <a:prstDash val="solid"/>
                      <a:round/>
                      <a:headEnd type="none" w="med" len="med"/>
                      <a:tailEnd type="none" w="med" len="med"/>
                    </a:lnB>
                    <a:solidFill>
                      <a:srgbClr val="E9E9E7"/>
                    </a:solidFill>
                  </a:tcPr>
                </a:tc>
                <a:tc>
                  <a:txBody>
                    <a:bodyPr/>
                    <a:lstStyle/>
                    <a:p>
                      <a:pPr indent="0" marL="0">
                        <a:lnSpc>
                          <a:spcPts val="1680"/>
                        </a:lnSpc>
                        <a:buNone/>
                      </a:pPr>
                      <a:r>
                        <a:rPr lang="en-US" sz="1200" b="1" dirty="0">
                          <a:solidFill>
                            <a:srgbClr val="6B7680"/>
                          </a:solidFill>
                          <a:latin typeface="Inter" pitchFamily="34" charset="0"/>
                          <a:ea typeface="Inter" pitchFamily="34" charset="-122"/>
                          <a:cs typeface="Inter" pitchFamily="34" charset="-120"/>
                        </a:rPr>
                        <a:t>[Prod B]</a:t>
                      </a:r>
                      <a:endParaRPr lang="en-US" sz="1200" dirty="0">
                        <a:latin typeface="Inter" charset="0"/>
                        <a:ea typeface="Inter" charset="0"/>
                        <a:cs typeface="Inter" charset="0"/>
                      </a:endParaRPr>
                    </a:p>
                  </a:txBody>
                  <a:tcPr marL="50800" marR="50800" marT="50800" marB="50800" anchor="t">
                    <a:lnL w="12700" cap="flat" cmpd="sng" algn="ctr">
                      <a:solidFill>
                        <a:srgbClr val="BABAB8"/>
                      </a:solidFill>
                      <a:prstDash val="solid"/>
                      <a:round/>
                      <a:headEnd type="none" w="med" len="med"/>
                      <a:tailEnd type="none" w="med" len="med"/>
                    </a:lnL>
                    <a:lnR w="12700" cap="flat" cmpd="sng" algn="ctr">
                      <a:solidFill>
                        <a:srgbClr val="BABAB8"/>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BABAB8"/>
                      </a:solidFill>
                      <a:prstDash val="solid"/>
                      <a:round/>
                      <a:headEnd type="none" w="med" len="med"/>
                      <a:tailEnd type="none" w="med" len="med"/>
                    </a:lnB>
                    <a:solidFill>
                      <a:srgbClr val="E9E9E7"/>
                    </a:solidFill>
                  </a:tcPr>
                </a:tc>
                <a:tc>
                  <a:txBody>
                    <a:bodyPr/>
                    <a:lstStyle/>
                    <a:p>
                      <a:pPr indent="0" marL="0">
                        <a:lnSpc>
                          <a:spcPts val="1680"/>
                        </a:lnSpc>
                        <a:buNone/>
                      </a:pPr>
                      <a:r>
                        <a:rPr lang="en-US" sz="1200" b="1" dirty="0">
                          <a:solidFill>
                            <a:srgbClr val="6B7680"/>
                          </a:solidFill>
                          <a:latin typeface="Inter" pitchFamily="34" charset="0"/>
                          <a:ea typeface="Inter" pitchFamily="34" charset="-122"/>
                          <a:cs typeface="Inter" pitchFamily="34" charset="-120"/>
                        </a:rPr>
                        <a:t>[Prod C]</a:t>
                      </a:r>
                      <a:endParaRPr lang="en-US" sz="1200" dirty="0">
                        <a:latin typeface="Inter" charset="0"/>
                        <a:ea typeface="Inter" charset="0"/>
                        <a:cs typeface="Inter" charset="0"/>
                      </a:endParaRPr>
                    </a:p>
                  </a:txBody>
                  <a:tcPr marL="50800" marR="50800" marT="50800" marB="50800" anchor="t">
                    <a:lnL w="12700" cap="flat" cmpd="sng" algn="ctr">
                      <a:solidFill>
                        <a:srgbClr val="BABAB8"/>
                      </a:solidFill>
                      <a:prstDash val="solid"/>
                      <a:round/>
                      <a:headEnd type="none" w="med" len="med"/>
                      <a:tailEnd type="none" w="med" len="med"/>
                    </a:lnL>
                    <a:lnR w="12700" cap="flat" cmpd="sng" algn="ctr">
                      <a:solidFill>
                        <a:srgbClr val="BABAB8"/>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BABAB8"/>
                      </a:solidFill>
                      <a:prstDash val="solid"/>
                      <a:round/>
                      <a:headEnd type="none" w="med" len="med"/>
                      <a:tailEnd type="none" w="med" len="med"/>
                    </a:lnB>
                    <a:solidFill>
                      <a:srgbClr val="E9E9E7"/>
                    </a:solidFill>
                  </a:tcPr>
                </a:tc>
                <a:tc>
                  <a:txBody>
                    <a:bodyPr/>
                    <a:lstStyle/>
                    <a:p>
                      <a:pPr indent="0" marL="0">
                        <a:lnSpc>
                          <a:spcPts val="1680"/>
                        </a:lnSpc>
                        <a:buNone/>
                      </a:pPr>
                      <a:r>
                        <a:rPr lang="en-US" sz="1200" b="1" dirty="0">
                          <a:solidFill>
                            <a:srgbClr val="6B7680"/>
                          </a:solidFill>
                          <a:latin typeface="Inter" pitchFamily="34" charset="0"/>
                          <a:ea typeface="Inter" pitchFamily="34" charset="-122"/>
                          <a:cs typeface="Inter" pitchFamily="34" charset="-120"/>
                        </a:rPr>
                        <a:t>[Prod D]</a:t>
                      </a:r>
                      <a:endParaRPr lang="en-US" sz="1200" dirty="0">
                        <a:latin typeface="Inter" charset="0"/>
                        <a:ea typeface="Inter" charset="0"/>
                        <a:cs typeface="Inter" charset="0"/>
                      </a:endParaRPr>
                    </a:p>
                  </a:txBody>
                  <a:tcPr marL="50800" marR="50800" marT="50800" marB="50800" anchor="t">
                    <a:lnL w="12700" cap="flat" cmpd="sng" algn="ctr">
                      <a:solidFill>
                        <a:srgbClr val="BABAB8"/>
                      </a:solidFill>
                      <a:prstDash val="solid"/>
                      <a:round/>
                      <a:headEnd type="none" w="med" len="med"/>
                      <a:tailEnd type="none" w="med" len="med"/>
                    </a:lnL>
                    <a:lnR w="12700" cap="flat" cmpd="sng" algn="ctr">
                      <a:solidFill>
                        <a:srgbClr val="BABAB8"/>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BABAB8"/>
                      </a:solidFill>
                      <a:prstDash val="solid"/>
                      <a:round/>
                      <a:headEnd type="none" w="med" len="med"/>
                      <a:tailEnd type="none" w="med" len="med"/>
                    </a:lnB>
                    <a:solidFill>
                      <a:srgbClr val="E9E9E7"/>
                    </a:solidFill>
                  </a:tcPr>
                </a:tc>
              </a:tr>
              <a:tr h="327620">
                <a:tc>
                  <a:txBody>
                    <a:bodyPr/>
                    <a:lstStyle/>
                    <a:p>
                      <a:pPr indent="0" marL="0">
                        <a:lnSpc>
                          <a:spcPts val="1680"/>
                        </a:lnSpc>
                        <a:buNone/>
                      </a:pPr>
                      <a:r>
                        <a:rPr lang="en-US" sz="1200" dirty="0">
                          <a:solidFill>
                            <a:srgbClr val="051C2C"/>
                          </a:solidFill>
                          <a:latin typeface="Inter" pitchFamily="34" charset="0"/>
                          <a:ea typeface="Inter" pitchFamily="34" charset="-122"/>
                          <a:cs typeface="Inter" pitchFamily="34" charset="-120"/>
                        </a:rPr>
                        <a:t>[Segment 1]</a:t>
                      </a:r>
                      <a:endParaRPr lang="en-US" sz="1200" dirty="0">
                        <a:latin typeface="Inter" charset="0"/>
                        <a:ea typeface="Inter" charset="0"/>
                        <a:cs typeface="Inter" charset="0"/>
                      </a:endParaRPr>
                    </a:p>
                  </a:txBody>
                  <a:tcPr marL="50800" marR="50800" marT="50800" marB="50800"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BABAB8"/>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680"/>
                        </a:lnSpc>
                        <a:buNone/>
                      </a:pPr>
                      <a:endParaRPr lang="en-US" sz="1200" dirty="0">
                        <a:latin typeface="Inter" charset="0"/>
                        <a:ea typeface="Inter" charset="0"/>
                        <a:cs typeface="Inter" charset="0"/>
                      </a:endParaRPr>
                    </a:p>
                  </a:txBody>
                  <a:tcPr marL="50800" marR="50800" marT="50800" marB="50800"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BABAB8"/>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680"/>
                        </a:lnSpc>
                        <a:buNone/>
                      </a:pPr>
                      <a:endParaRPr lang="en-US" sz="1200" dirty="0">
                        <a:latin typeface="Inter" charset="0"/>
                        <a:ea typeface="Inter" charset="0"/>
                        <a:cs typeface="Inter" charset="0"/>
                      </a:endParaRPr>
                    </a:p>
                  </a:txBody>
                  <a:tcPr marL="50800" marR="50800" marT="50800" marB="50800"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BABAB8"/>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680"/>
                        </a:lnSpc>
                        <a:buNone/>
                      </a:pPr>
                      <a:endParaRPr lang="en-US" sz="1200" dirty="0">
                        <a:latin typeface="Inter" charset="0"/>
                        <a:ea typeface="Inter" charset="0"/>
                        <a:cs typeface="Inter" charset="0"/>
                      </a:endParaRPr>
                    </a:p>
                  </a:txBody>
                  <a:tcPr marL="50800" marR="50800" marT="50800" marB="50800"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BABAB8"/>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680"/>
                        </a:lnSpc>
                        <a:buNone/>
                      </a:pPr>
                      <a:endParaRPr lang="en-US" sz="1200" dirty="0">
                        <a:latin typeface="Inter" charset="0"/>
                        <a:ea typeface="Inter" charset="0"/>
                        <a:cs typeface="Inter" charset="0"/>
                      </a:endParaRPr>
                    </a:p>
                  </a:txBody>
                  <a:tcPr marL="50800" marR="50800" marT="50800" marB="50800"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BABAB8"/>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r>
              <a:tr h="327620">
                <a:tc>
                  <a:txBody>
                    <a:bodyPr/>
                    <a:lstStyle/>
                    <a:p>
                      <a:pPr indent="0" marL="0">
                        <a:lnSpc>
                          <a:spcPts val="1680"/>
                        </a:lnSpc>
                        <a:buNone/>
                      </a:pPr>
                      <a:r>
                        <a:rPr lang="en-US" sz="1200" dirty="0">
                          <a:solidFill>
                            <a:srgbClr val="051C2C"/>
                          </a:solidFill>
                          <a:latin typeface="Inter" pitchFamily="34" charset="0"/>
                          <a:ea typeface="Inter" pitchFamily="34" charset="-122"/>
                          <a:cs typeface="Inter" pitchFamily="34" charset="-120"/>
                        </a:rPr>
                        <a:t>[Segment 2]</a:t>
                      </a:r>
                      <a:endParaRPr lang="en-US" sz="1200" dirty="0">
                        <a:latin typeface="Inter" charset="0"/>
                        <a:ea typeface="Inter" charset="0"/>
                        <a:cs typeface="Inter" charset="0"/>
                      </a:endParaRPr>
                    </a:p>
                  </a:txBody>
                  <a:tcPr marL="50800" marR="50800" marT="50800" marB="50800"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680"/>
                        </a:lnSpc>
                        <a:buNone/>
                      </a:pPr>
                      <a:endParaRPr lang="en-US" sz="1200" dirty="0">
                        <a:latin typeface="Inter" charset="0"/>
                        <a:ea typeface="Inter" charset="0"/>
                        <a:cs typeface="Inter" charset="0"/>
                      </a:endParaRPr>
                    </a:p>
                  </a:txBody>
                  <a:tcPr marL="50800" marR="50800" marT="50800" marB="50800"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680"/>
                        </a:lnSpc>
                        <a:buNone/>
                      </a:pPr>
                      <a:endParaRPr lang="en-US" sz="1200" dirty="0">
                        <a:latin typeface="Inter" charset="0"/>
                        <a:ea typeface="Inter" charset="0"/>
                        <a:cs typeface="Inter" charset="0"/>
                      </a:endParaRPr>
                    </a:p>
                  </a:txBody>
                  <a:tcPr marL="50800" marR="50800" marT="50800" marB="50800"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680"/>
                        </a:lnSpc>
                        <a:buNone/>
                      </a:pPr>
                      <a:endParaRPr lang="en-US" sz="1200" dirty="0">
                        <a:latin typeface="Inter" charset="0"/>
                        <a:ea typeface="Inter" charset="0"/>
                        <a:cs typeface="Inter" charset="0"/>
                      </a:endParaRPr>
                    </a:p>
                  </a:txBody>
                  <a:tcPr marL="50800" marR="50800" marT="50800" marB="50800"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680"/>
                        </a:lnSpc>
                        <a:buNone/>
                      </a:pPr>
                      <a:endParaRPr lang="en-US" sz="1200" dirty="0">
                        <a:latin typeface="Inter" charset="0"/>
                        <a:ea typeface="Inter" charset="0"/>
                        <a:cs typeface="Inter" charset="0"/>
                      </a:endParaRPr>
                    </a:p>
                  </a:txBody>
                  <a:tcPr marL="50800" marR="50800" marT="50800" marB="50800"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r>
              <a:tr h="327620">
                <a:tc>
                  <a:txBody>
                    <a:bodyPr/>
                    <a:lstStyle/>
                    <a:p>
                      <a:pPr indent="0" marL="0">
                        <a:lnSpc>
                          <a:spcPts val="1680"/>
                        </a:lnSpc>
                        <a:buNone/>
                      </a:pPr>
                      <a:r>
                        <a:rPr lang="en-US" sz="1200" dirty="0">
                          <a:solidFill>
                            <a:srgbClr val="051C2C"/>
                          </a:solidFill>
                          <a:latin typeface="Inter" pitchFamily="34" charset="0"/>
                          <a:ea typeface="Inter" pitchFamily="34" charset="-122"/>
                          <a:cs typeface="Inter" pitchFamily="34" charset="-120"/>
                        </a:rPr>
                        <a:t>[Segment 3]</a:t>
                      </a:r>
                      <a:endParaRPr lang="en-US" sz="1200" dirty="0">
                        <a:latin typeface="Inter" charset="0"/>
                        <a:ea typeface="Inter" charset="0"/>
                        <a:cs typeface="Inter" charset="0"/>
                      </a:endParaRPr>
                    </a:p>
                  </a:txBody>
                  <a:tcPr marL="50800" marR="50800" marT="50800" marB="50800"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680"/>
                        </a:lnSpc>
                        <a:buNone/>
                      </a:pPr>
                      <a:endParaRPr lang="en-US" sz="1200" dirty="0">
                        <a:latin typeface="Inter" charset="0"/>
                        <a:ea typeface="Inter" charset="0"/>
                        <a:cs typeface="Inter" charset="0"/>
                      </a:endParaRPr>
                    </a:p>
                  </a:txBody>
                  <a:tcPr marL="50800" marR="50800" marT="50800" marB="50800"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680"/>
                        </a:lnSpc>
                        <a:buNone/>
                      </a:pPr>
                      <a:endParaRPr lang="en-US" sz="1200" dirty="0">
                        <a:latin typeface="Inter" charset="0"/>
                        <a:ea typeface="Inter" charset="0"/>
                        <a:cs typeface="Inter" charset="0"/>
                      </a:endParaRPr>
                    </a:p>
                  </a:txBody>
                  <a:tcPr marL="50800" marR="50800" marT="50800" marB="50800"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680"/>
                        </a:lnSpc>
                        <a:buNone/>
                      </a:pPr>
                      <a:endParaRPr lang="en-US" sz="1200" dirty="0">
                        <a:latin typeface="Inter" charset="0"/>
                        <a:ea typeface="Inter" charset="0"/>
                        <a:cs typeface="Inter" charset="0"/>
                      </a:endParaRPr>
                    </a:p>
                  </a:txBody>
                  <a:tcPr marL="50800" marR="50800" marT="50800" marB="50800"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680"/>
                        </a:lnSpc>
                        <a:buNone/>
                      </a:pPr>
                      <a:endParaRPr lang="en-US" sz="1200" dirty="0">
                        <a:latin typeface="Inter" charset="0"/>
                        <a:ea typeface="Inter" charset="0"/>
                        <a:cs typeface="Inter" charset="0"/>
                      </a:endParaRPr>
                    </a:p>
                  </a:txBody>
                  <a:tcPr marL="50800" marR="50800" marT="50800" marB="50800"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r>
              <a:tr h="327620">
                <a:tc>
                  <a:txBody>
                    <a:bodyPr/>
                    <a:lstStyle/>
                    <a:p>
                      <a:pPr indent="0" marL="0">
                        <a:lnSpc>
                          <a:spcPts val="1680"/>
                        </a:lnSpc>
                        <a:buNone/>
                      </a:pPr>
                      <a:r>
                        <a:rPr lang="en-US" sz="1200" dirty="0">
                          <a:solidFill>
                            <a:srgbClr val="051C2C"/>
                          </a:solidFill>
                          <a:latin typeface="Inter" pitchFamily="34" charset="0"/>
                          <a:ea typeface="Inter" pitchFamily="34" charset="-122"/>
                          <a:cs typeface="Inter" pitchFamily="34" charset="-120"/>
                        </a:rPr>
                        <a:t>[Region X]</a:t>
                      </a:r>
                      <a:endParaRPr lang="en-US" sz="1200" dirty="0">
                        <a:latin typeface="Inter" charset="0"/>
                        <a:ea typeface="Inter" charset="0"/>
                        <a:cs typeface="Inter" charset="0"/>
                      </a:endParaRPr>
                    </a:p>
                  </a:txBody>
                  <a:tcPr marL="50800" marR="50800" marT="50800" marB="50800"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680"/>
                        </a:lnSpc>
                        <a:buNone/>
                      </a:pPr>
                      <a:endParaRPr lang="en-US" sz="1200" dirty="0">
                        <a:latin typeface="Inter" charset="0"/>
                        <a:ea typeface="Inter" charset="0"/>
                        <a:cs typeface="Inter" charset="0"/>
                      </a:endParaRPr>
                    </a:p>
                  </a:txBody>
                  <a:tcPr marL="50800" marR="50800" marT="50800" marB="50800"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680"/>
                        </a:lnSpc>
                        <a:buNone/>
                      </a:pPr>
                      <a:endParaRPr lang="en-US" sz="1200" dirty="0">
                        <a:latin typeface="Inter" charset="0"/>
                        <a:ea typeface="Inter" charset="0"/>
                        <a:cs typeface="Inter" charset="0"/>
                      </a:endParaRPr>
                    </a:p>
                  </a:txBody>
                  <a:tcPr marL="50800" marR="50800" marT="50800" marB="50800"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680"/>
                        </a:lnSpc>
                        <a:buNone/>
                      </a:pPr>
                      <a:endParaRPr lang="en-US" sz="1200" dirty="0">
                        <a:latin typeface="Inter" charset="0"/>
                        <a:ea typeface="Inter" charset="0"/>
                        <a:cs typeface="Inter" charset="0"/>
                      </a:endParaRPr>
                    </a:p>
                  </a:txBody>
                  <a:tcPr marL="50800" marR="50800" marT="50800" marB="50800"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680"/>
                        </a:lnSpc>
                        <a:buNone/>
                      </a:pPr>
                      <a:endParaRPr lang="en-US" sz="1200" dirty="0">
                        <a:latin typeface="Inter" charset="0"/>
                        <a:ea typeface="Inter" charset="0"/>
                        <a:cs typeface="Inter" charset="0"/>
                      </a:endParaRPr>
                    </a:p>
                  </a:txBody>
                  <a:tcPr marL="50800" marR="50800" marT="50800" marB="50800"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r>
            </a:tbl>
          </a:graphicData>
        </a:graphic>
      </p:graphicFrame>
      <p:sp>
        <p:nvSpPr>
          <p:cNvPr id="13" name="Shape 10"/>
          <p:cNvSpPr/>
          <p:nvPr/>
        </p:nvSpPr>
        <p:spPr>
          <a:xfrm>
            <a:off x="5384800" y="4223693"/>
            <a:ext cx="152400" cy="152400"/>
          </a:xfrm>
          <a:prstGeom prst="rect">
            <a:avLst/>
          </a:prstGeom>
          <a:solidFill>
            <a:srgbClr val="2251FF"/>
          </a:solidFill>
          <a:ln/>
        </p:spPr>
      </p:sp>
      <p:sp>
        <p:nvSpPr>
          <p:cNvPr id="14" name="Text 11"/>
          <p:cNvSpPr/>
          <p:nvPr/>
        </p:nvSpPr>
        <p:spPr>
          <a:xfrm>
            <a:off x="5588000" y="4193232"/>
            <a:ext cx="400526"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3C4A55"/>
                </a:solidFill>
                <a:latin typeface="Inter" pitchFamily="34" charset="0"/>
                <a:ea typeface="Inter" pitchFamily="34" charset="-122"/>
                <a:cs typeface="Inter" pitchFamily="34" charset="-120"/>
              </a:rPr>
              <a:t>High</a:t>
            </a:r>
            <a:endParaRPr lang="en-US" sz="1200" dirty="0"/>
          </a:p>
        </p:txBody>
      </p:sp>
      <p:sp>
        <p:nvSpPr>
          <p:cNvPr id="15" name="Shape 12"/>
          <p:cNvSpPr/>
          <p:nvPr/>
        </p:nvSpPr>
        <p:spPr>
          <a:xfrm>
            <a:off x="6124972" y="4223693"/>
            <a:ext cx="152400" cy="152400"/>
          </a:xfrm>
          <a:prstGeom prst="rect">
            <a:avLst/>
          </a:prstGeom>
          <a:solidFill>
            <a:srgbClr val="5F86B0"/>
          </a:solidFill>
          <a:ln/>
        </p:spPr>
      </p:sp>
      <p:sp>
        <p:nvSpPr>
          <p:cNvPr id="16" name="Text 13"/>
          <p:cNvSpPr/>
          <p:nvPr/>
        </p:nvSpPr>
        <p:spPr>
          <a:xfrm>
            <a:off x="6328172" y="4193232"/>
            <a:ext cx="696456"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3C4A55"/>
                </a:solidFill>
                <a:latin typeface="Inter" pitchFamily="34" charset="0"/>
                <a:ea typeface="Inter" pitchFamily="34" charset="-122"/>
                <a:cs typeface="Inter" pitchFamily="34" charset="-120"/>
              </a:rPr>
              <a:t>Medium</a:t>
            </a:r>
            <a:endParaRPr lang="en-US" sz="1200" dirty="0"/>
          </a:p>
        </p:txBody>
      </p:sp>
      <p:sp>
        <p:nvSpPr>
          <p:cNvPr id="17" name="Shape 14"/>
          <p:cNvSpPr/>
          <p:nvPr/>
        </p:nvSpPr>
        <p:spPr>
          <a:xfrm>
            <a:off x="7111752" y="4223693"/>
            <a:ext cx="152400" cy="152400"/>
          </a:xfrm>
          <a:prstGeom prst="rect">
            <a:avLst/>
          </a:prstGeom>
          <a:solidFill>
            <a:srgbClr val="A9BCCD"/>
          </a:solidFill>
          <a:ln/>
        </p:spPr>
      </p:sp>
      <p:sp>
        <p:nvSpPr>
          <p:cNvPr id="18" name="Text 15"/>
          <p:cNvSpPr/>
          <p:nvPr/>
        </p:nvSpPr>
        <p:spPr>
          <a:xfrm>
            <a:off x="7314952" y="4193232"/>
            <a:ext cx="35945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3C4A55"/>
                </a:solidFill>
                <a:latin typeface="Inter" pitchFamily="34" charset="0"/>
                <a:ea typeface="Inter" pitchFamily="34" charset="-122"/>
                <a:cs typeface="Inter" pitchFamily="34" charset="-120"/>
              </a:rPr>
              <a:t>Low</a:t>
            </a:r>
            <a:endParaRPr lang="en-US" sz="1200" dirty="0"/>
          </a:p>
        </p:txBody>
      </p:sp>
      <p:sp>
        <p:nvSpPr>
          <p:cNvPr id="19" name="Shape 16"/>
          <p:cNvSpPr/>
          <p:nvPr/>
        </p:nvSpPr>
        <p:spPr>
          <a:xfrm>
            <a:off x="7824043" y="4230043"/>
            <a:ext cx="139700" cy="139700"/>
          </a:xfrm>
          <a:prstGeom prst="rect">
            <a:avLst/>
          </a:prstGeom>
          <a:solidFill>
            <a:srgbClr val="FFFFFF"/>
          </a:solidFill>
          <a:ln w="12700">
            <a:solidFill>
              <a:srgbClr val="2251FF"/>
            </a:solidFill>
            <a:prstDash val="dash"/>
          </a:ln>
        </p:spPr>
      </p:sp>
      <p:sp>
        <p:nvSpPr>
          <p:cNvPr id="20" name="Text 17"/>
          <p:cNvSpPr/>
          <p:nvPr/>
        </p:nvSpPr>
        <p:spPr>
          <a:xfrm>
            <a:off x="8020893" y="4193232"/>
            <a:ext cx="1021378"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3C4A55"/>
                </a:solidFill>
                <a:latin typeface="Inter" pitchFamily="34" charset="0"/>
                <a:ea typeface="Inter" pitchFamily="34" charset="-122"/>
                <a:cs typeface="Inter" pitchFamily="34" charset="-120"/>
              </a:rPr>
              <a:t>Whitespace</a:t>
            </a:r>
            <a:endParaRPr lang="en-US" sz="1200" dirty="0"/>
          </a:p>
        </p:txBody>
      </p:sp>
      <p:sp>
        <p:nvSpPr>
          <p:cNvPr id="21" name="Text 18"/>
          <p:cNvSpPr/>
          <p:nvPr/>
        </p:nvSpPr>
        <p:spPr>
          <a:xfrm>
            <a:off x="812800" y="6238280"/>
            <a:ext cx="2366546"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680"/>
                </a:solidFill>
                <a:latin typeface="Inter" pitchFamily="34" charset="0"/>
                <a:ea typeface="Inter" pitchFamily="34" charset="-122"/>
                <a:cs typeface="Inter" pitchFamily="34" charset="-120"/>
              </a:rPr>
              <a:t>Enterprise Intelligence | FIS</a:t>
            </a:r>
            <a:endParaRPr lang="en-US" sz="1200" dirty="0"/>
          </a:p>
        </p:txBody>
      </p:sp>
      <p:sp>
        <p:nvSpPr>
          <p:cNvPr id="22" name="Text 19"/>
          <p:cNvSpPr/>
          <p:nvPr/>
        </p:nvSpPr>
        <p:spPr>
          <a:xfrm>
            <a:off x="11234093" y="6238280"/>
            <a:ext cx="145107"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B7680"/>
                </a:solidFill>
                <a:latin typeface="Inter" pitchFamily="34" charset="0"/>
                <a:ea typeface="Inter" pitchFamily="34" charset="-122"/>
                <a:cs typeface="Inter" pitchFamily="34" charset="-120"/>
              </a:rPr>
              <a:t>8</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BFBF9"/>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2251FF"/>
                </a:solidFill>
                <a:latin typeface="Inter" pitchFamily="34" charset="0"/>
                <a:ea typeface="Inter" pitchFamily="34" charset="-122"/>
                <a:cs typeface="Inter" pitchFamily="34" charset="-120"/>
              </a:rPr>
              <a:t>04 RECOVER WHAT IS CONTRACTED</a:t>
            </a:r>
            <a:endParaRPr lang="en-US" sz="1200" dirty="0"/>
          </a:p>
        </p:txBody>
      </p:sp>
      <p:sp>
        <p:nvSpPr>
          <p:cNvPr id="3" name="Text 1"/>
          <p:cNvSpPr/>
          <p:nvPr>
            <p:ph type="title"/>
          </p:nvPr>
        </p:nvSpPr>
        <p:spPr>
          <a:xfrm>
            <a:off x="812800" y="1127720"/>
            <a:ext cx="10883392" cy="784820"/>
          </a:xfrm>
          <a:prstGeom prst="rect">
            <a:avLst/>
          </a:prstGeom>
          <a:noFill/>
          <a:ln/>
        </p:spPr>
        <p:txBody>
          <a:bodyPr wrap="square" lIns="0" tIns="0" rIns="0" bIns="0" rtlCol="0" anchor="t">
            <a:normAutofit/>
          </a:bodyPr>
          <a:lstStyle/>
          <a:p>
            <a:pPr algn="l" indent="0" marL="0">
              <a:lnSpc>
                <a:spcPts val="2990"/>
              </a:lnSpc>
              <a:buNone/>
            </a:pPr>
            <a:r>
              <a:rPr lang="en-US" sz="2600" b="0" i="0" dirty="0">
                <a:solidFill>
                  <a:srgbClr val="051C2C"/>
                </a:solidFill>
                <a:latin typeface="Source Serif 4" pitchFamily="18" charset="0"/>
                <a:ea typeface="Source Serif 4" pitchFamily="18" charset="-122"/>
                <a:cs typeface="Source Serif 4" pitchFamily="18" charset="-120"/>
              </a:rPr>
              <a:t>A reconciliation engine matches every contracted SKU to billing and builds an evidence-backed back-bill</a:t>
            </a:r>
            <a:endParaRPr lang="en-US" sz="2600" dirty="0"/>
          </a:p>
        </p:txBody>
      </p:sp>
      <p:sp>
        <p:nvSpPr>
          <p:cNvPr id="4" name="Shape 2"/>
          <p:cNvSpPr/>
          <p:nvPr/>
        </p:nvSpPr>
        <p:spPr>
          <a:xfrm>
            <a:off x="815975" y="2195116"/>
            <a:ext cx="2406650" cy="1215231"/>
          </a:xfrm>
          <a:prstGeom prst="rect">
            <a:avLst/>
          </a:prstGeom>
          <a:solidFill>
            <a:srgbClr val="FFFFFF"/>
          </a:solidFill>
          <a:ln w="6350">
            <a:solidFill>
              <a:srgbClr val="D5DCE2"/>
            </a:solidFill>
            <a:prstDash val="solid"/>
          </a:ln>
        </p:spPr>
      </p:sp>
      <p:sp>
        <p:nvSpPr>
          <p:cNvPr id="5" name="Text 3"/>
          <p:cNvSpPr/>
          <p:nvPr/>
        </p:nvSpPr>
        <p:spPr>
          <a:xfrm>
            <a:off x="971550" y="2350691"/>
            <a:ext cx="2158365"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2251FF"/>
                </a:solidFill>
                <a:latin typeface="Inter" pitchFamily="34" charset="0"/>
                <a:ea typeface="Inter" pitchFamily="34" charset="-122"/>
                <a:cs typeface="Inter" pitchFamily="34" charset="-120"/>
              </a:rPr>
              <a:t>CONTRACT</a:t>
            </a:r>
            <a:endParaRPr lang="en-US" sz="1200" dirty="0"/>
          </a:p>
        </p:txBody>
      </p:sp>
      <p:sp>
        <p:nvSpPr>
          <p:cNvPr id="6" name="Text 4"/>
          <p:cNvSpPr/>
          <p:nvPr/>
        </p:nvSpPr>
        <p:spPr>
          <a:xfrm>
            <a:off x="971550" y="2614811"/>
            <a:ext cx="2158365"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24323D"/>
                </a:solidFill>
                <a:latin typeface="Inter" pitchFamily="34" charset="0"/>
                <a:ea typeface="Inter" pitchFamily="34" charset="-122"/>
                <a:cs typeface="Inter" pitchFamily="34" charset="-120"/>
              </a:rPr>
              <a:t>Signed SKUs, rates, escalators, minimums</a:t>
            </a:r>
            <a:endParaRPr lang="en-US" sz="1200" dirty="0"/>
          </a:p>
        </p:txBody>
      </p:sp>
      <p:sp>
        <p:nvSpPr>
          <p:cNvPr id="7" name="Text 5"/>
          <p:cNvSpPr/>
          <p:nvPr/>
        </p:nvSpPr>
        <p:spPr>
          <a:xfrm>
            <a:off x="3200400" y="2624931"/>
            <a:ext cx="355600" cy="381000"/>
          </a:xfrm>
          <a:prstGeom prst="rect">
            <a:avLst/>
          </a:prstGeom>
          <a:noFill/>
          <a:ln/>
        </p:spPr>
        <p:txBody>
          <a:bodyPr wrap="square" lIns="0" tIns="0" rIns="0" bIns="0" rtlCol="0" anchor="t">
            <a:normAutofit/>
          </a:bodyPr>
          <a:lstStyle/>
          <a:p>
            <a:pPr algn="ctr" indent="0" marL="0">
              <a:lnSpc>
                <a:spcPts val="2800"/>
              </a:lnSpc>
              <a:buNone/>
            </a:pPr>
            <a:r>
              <a:rPr lang="en-US" sz="2000" dirty="0">
                <a:solidFill>
                  <a:srgbClr val="2251FF"/>
                </a:solidFill>
                <a:latin typeface="Inter" pitchFamily="34" charset="0"/>
                <a:ea typeface="Inter" pitchFamily="34" charset="-122"/>
                <a:cs typeface="Inter" pitchFamily="34" charset="-120"/>
              </a:rPr>
              <a:t>→</a:t>
            </a:r>
            <a:endParaRPr lang="en-US" sz="2000" dirty="0"/>
          </a:p>
        </p:txBody>
      </p:sp>
      <p:sp>
        <p:nvSpPr>
          <p:cNvPr id="8" name="Shape 6"/>
          <p:cNvSpPr/>
          <p:nvPr/>
        </p:nvSpPr>
        <p:spPr>
          <a:xfrm>
            <a:off x="3533775" y="2195116"/>
            <a:ext cx="2406650" cy="1215231"/>
          </a:xfrm>
          <a:prstGeom prst="rect">
            <a:avLst/>
          </a:prstGeom>
          <a:solidFill>
            <a:srgbClr val="FFFFFF"/>
          </a:solidFill>
          <a:ln w="6350">
            <a:solidFill>
              <a:srgbClr val="D5DCE2"/>
            </a:solidFill>
            <a:prstDash val="solid"/>
          </a:ln>
        </p:spPr>
      </p:sp>
      <p:sp>
        <p:nvSpPr>
          <p:cNvPr id="9" name="Text 7"/>
          <p:cNvSpPr/>
          <p:nvPr/>
        </p:nvSpPr>
        <p:spPr>
          <a:xfrm>
            <a:off x="3689350" y="2350691"/>
            <a:ext cx="2158365"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2251FF"/>
                </a:solidFill>
                <a:latin typeface="Inter" pitchFamily="34" charset="0"/>
                <a:ea typeface="Inter" pitchFamily="34" charset="-122"/>
                <a:cs typeface="Inter" pitchFamily="34" charset="-120"/>
              </a:rPr>
              <a:t>RECONCILE</a:t>
            </a:r>
            <a:endParaRPr lang="en-US" sz="1200" dirty="0"/>
          </a:p>
        </p:txBody>
      </p:sp>
      <p:sp>
        <p:nvSpPr>
          <p:cNvPr id="10" name="Text 8"/>
          <p:cNvSpPr/>
          <p:nvPr/>
        </p:nvSpPr>
        <p:spPr>
          <a:xfrm>
            <a:off x="3689350" y="2614811"/>
            <a:ext cx="2158365"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24323D"/>
                </a:solidFill>
                <a:latin typeface="Inter" pitchFamily="34" charset="0"/>
                <a:ea typeface="Inter" pitchFamily="34" charset="-122"/>
                <a:cs typeface="Inter" pitchFamily="34" charset="-120"/>
              </a:rPr>
              <a:t>Match against invoices, billing and usage telemetry</a:t>
            </a:r>
            <a:endParaRPr lang="en-US" sz="1200" dirty="0"/>
          </a:p>
        </p:txBody>
      </p:sp>
      <p:sp>
        <p:nvSpPr>
          <p:cNvPr id="11" name="Text 9"/>
          <p:cNvSpPr/>
          <p:nvPr/>
        </p:nvSpPr>
        <p:spPr>
          <a:xfrm>
            <a:off x="5918200" y="2624931"/>
            <a:ext cx="355600" cy="381000"/>
          </a:xfrm>
          <a:prstGeom prst="rect">
            <a:avLst/>
          </a:prstGeom>
          <a:noFill/>
          <a:ln/>
        </p:spPr>
        <p:txBody>
          <a:bodyPr wrap="square" lIns="0" tIns="0" rIns="0" bIns="0" rtlCol="0" anchor="t">
            <a:normAutofit/>
          </a:bodyPr>
          <a:lstStyle/>
          <a:p>
            <a:pPr algn="ctr" indent="0" marL="0">
              <a:lnSpc>
                <a:spcPts val="2800"/>
              </a:lnSpc>
              <a:buNone/>
            </a:pPr>
            <a:r>
              <a:rPr lang="en-US" sz="2000" dirty="0">
                <a:solidFill>
                  <a:srgbClr val="2251FF"/>
                </a:solidFill>
                <a:latin typeface="Inter" pitchFamily="34" charset="0"/>
                <a:ea typeface="Inter" pitchFamily="34" charset="-122"/>
                <a:cs typeface="Inter" pitchFamily="34" charset="-120"/>
              </a:rPr>
              <a:t>→</a:t>
            </a:r>
            <a:endParaRPr lang="en-US" sz="2000" dirty="0"/>
          </a:p>
        </p:txBody>
      </p:sp>
      <p:sp>
        <p:nvSpPr>
          <p:cNvPr id="12" name="Shape 10"/>
          <p:cNvSpPr/>
          <p:nvPr/>
        </p:nvSpPr>
        <p:spPr>
          <a:xfrm>
            <a:off x="6251575" y="2195116"/>
            <a:ext cx="2406650" cy="1215231"/>
          </a:xfrm>
          <a:prstGeom prst="rect">
            <a:avLst/>
          </a:prstGeom>
          <a:solidFill>
            <a:srgbClr val="FFFFFF"/>
          </a:solidFill>
          <a:ln w="6350">
            <a:solidFill>
              <a:srgbClr val="D5DCE2"/>
            </a:solidFill>
            <a:prstDash val="solid"/>
          </a:ln>
        </p:spPr>
      </p:sp>
      <p:sp>
        <p:nvSpPr>
          <p:cNvPr id="13" name="Text 11"/>
          <p:cNvSpPr/>
          <p:nvPr/>
        </p:nvSpPr>
        <p:spPr>
          <a:xfrm>
            <a:off x="6407150" y="2350691"/>
            <a:ext cx="2158365"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2251FF"/>
                </a:solidFill>
                <a:latin typeface="Inter" pitchFamily="34" charset="0"/>
                <a:ea typeface="Inter" pitchFamily="34" charset="-122"/>
                <a:cs typeface="Inter" pitchFamily="34" charset="-120"/>
              </a:rPr>
              <a:t>FIND THE GAP</a:t>
            </a:r>
            <a:endParaRPr lang="en-US" sz="1200" dirty="0"/>
          </a:p>
        </p:txBody>
      </p:sp>
      <p:sp>
        <p:nvSpPr>
          <p:cNvPr id="14" name="Text 12"/>
          <p:cNvSpPr/>
          <p:nvPr/>
        </p:nvSpPr>
        <p:spPr>
          <a:xfrm>
            <a:off x="6407150" y="2614811"/>
            <a:ext cx="2158365" cy="66536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24323D"/>
                </a:solidFill>
                <a:latin typeface="Inter" pitchFamily="34" charset="0"/>
                <a:ea typeface="Inter" pitchFamily="34" charset="-122"/>
                <a:cs typeface="Inter" pitchFamily="34" charset="-120"/>
              </a:rPr>
              <a:t>Unbilled SKUs, missed escalators, under-billed usage</a:t>
            </a:r>
            <a:endParaRPr lang="en-US" sz="1200" dirty="0"/>
          </a:p>
        </p:txBody>
      </p:sp>
      <p:sp>
        <p:nvSpPr>
          <p:cNvPr id="15" name="Text 13"/>
          <p:cNvSpPr/>
          <p:nvPr/>
        </p:nvSpPr>
        <p:spPr>
          <a:xfrm>
            <a:off x="8636000" y="2624931"/>
            <a:ext cx="355600" cy="381000"/>
          </a:xfrm>
          <a:prstGeom prst="rect">
            <a:avLst/>
          </a:prstGeom>
          <a:noFill/>
          <a:ln/>
        </p:spPr>
        <p:txBody>
          <a:bodyPr wrap="square" lIns="0" tIns="0" rIns="0" bIns="0" rtlCol="0" anchor="t">
            <a:normAutofit/>
          </a:bodyPr>
          <a:lstStyle/>
          <a:p>
            <a:pPr algn="ctr" indent="0" marL="0">
              <a:lnSpc>
                <a:spcPts val="2800"/>
              </a:lnSpc>
              <a:buNone/>
            </a:pPr>
            <a:r>
              <a:rPr lang="en-US" sz="2000" dirty="0">
                <a:solidFill>
                  <a:srgbClr val="2251FF"/>
                </a:solidFill>
                <a:latin typeface="Inter" pitchFamily="34" charset="0"/>
                <a:ea typeface="Inter" pitchFamily="34" charset="-122"/>
                <a:cs typeface="Inter" pitchFamily="34" charset="-120"/>
              </a:rPr>
              <a:t>→</a:t>
            </a:r>
            <a:endParaRPr lang="en-US" sz="2000" dirty="0"/>
          </a:p>
        </p:txBody>
      </p:sp>
      <p:sp>
        <p:nvSpPr>
          <p:cNvPr id="16" name="Shape 14"/>
          <p:cNvSpPr/>
          <p:nvPr/>
        </p:nvSpPr>
        <p:spPr>
          <a:xfrm>
            <a:off x="8966200" y="2191941"/>
            <a:ext cx="2413000" cy="1221581"/>
          </a:xfrm>
          <a:prstGeom prst="rect">
            <a:avLst/>
          </a:prstGeom>
          <a:solidFill>
            <a:srgbClr val="051C2C"/>
          </a:solidFill>
          <a:ln/>
        </p:spPr>
      </p:sp>
      <p:sp>
        <p:nvSpPr>
          <p:cNvPr id="17" name="Text 15"/>
          <p:cNvSpPr/>
          <p:nvPr/>
        </p:nvSpPr>
        <p:spPr>
          <a:xfrm>
            <a:off x="9118600" y="2344341"/>
            <a:ext cx="2171446"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00A9F4"/>
                </a:solidFill>
                <a:latin typeface="Inter" pitchFamily="34" charset="0"/>
                <a:ea typeface="Inter" pitchFamily="34" charset="-122"/>
                <a:cs typeface="Inter" pitchFamily="34" charset="-120"/>
              </a:rPr>
              <a:t>BACK-BILL PACKAGE</a:t>
            </a:r>
            <a:endParaRPr lang="en-US" sz="1200" dirty="0"/>
          </a:p>
        </p:txBody>
      </p:sp>
      <p:sp>
        <p:nvSpPr>
          <p:cNvPr id="18" name="Text 16"/>
          <p:cNvSpPr/>
          <p:nvPr/>
        </p:nvSpPr>
        <p:spPr>
          <a:xfrm>
            <a:off x="9118600" y="2608461"/>
            <a:ext cx="2171446"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E3E9EE"/>
                </a:solidFill>
                <a:latin typeface="Inter" pitchFamily="34" charset="0"/>
                <a:ea typeface="Inter" pitchFamily="34" charset="-122"/>
                <a:cs typeface="Inter" pitchFamily="34" charset="-120"/>
              </a:rPr>
              <a:t>Clause, usage proof and invoice history as evidence</a:t>
            </a:r>
            <a:endParaRPr lang="en-US" sz="1200" dirty="0"/>
          </a:p>
        </p:txBody>
      </p:sp>
      <p:sp>
        <p:nvSpPr>
          <p:cNvPr id="19" name="Shape 17"/>
          <p:cNvSpPr/>
          <p:nvPr/>
        </p:nvSpPr>
        <p:spPr>
          <a:xfrm>
            <a:off x="812800" y="3731022"/>
            <a:ext cx="5130800" cy="0"/>
          </a:xfrm>
          <a:prstGeom prst="line">
            <a:avLst/>
          </a:prstGeom>
          <a:noFill/>
          <a:ln w="25400">
            <a:solidFill>
              <a:srgbClr val="2251FF"/>
            </a:solidFill>
            <a:prstDash val="solid"/>
          </a:ln>
        </p:spPr>
      </p:sp>
      <p:sp>
        <p:nvSpPr>
          <p:cNvPr id="20" name="Text 18"/>
          <p:cNvSpPr/>
          <p:nvPr/>
        </p:nvSpPr>
        <p:spPr>
          <a:xfrm>
            <a:off x="812800" y="3870722"/>
            <a:ext cx="5284724" cy="238720"/>
          </a:xfrm>
          <a:prstGeom prst="rect">
            <a:avLst/>
          </a:prstGeom>
          <a:noFill/>
          <a:ln/>
        </p:spPr>
        <p:txBody>
          <a:bodyPr wrap="square" lIns="0" tIns="0" rIns="0" bIns="0" rtlCol="0" anchor="t">
            <a:normAutofit/>
          </a:bodyPr>
          <a:lstStyle/>
          <a:p>
            <a:pPr algn="l" indent="0" marL="0">
              <a:lnSpc>
                <a:spcPts val="1680"/>
              </a:lnSpc>
              <a:buNone/>
            </a:pPr>
            <a:r>
              <a:rPr lang="en-US" sz="1400" b="1" dirty="0">
                <a:solidFill>
                  <a:srgbClr val="051C2C"/>
                </a:solidFill>
                <a:latin typeface="Inter" pitchFamily="34" charset="0"/>
                <a:ea typeface="Inter" pitchFamily="34" charset="-122"/>
                <a:cs typeface="Inter" pitchFamily="34" charset="-120"/>
              </a:rPr>
              <a:t>Contract analysis and comparison</a:t>
            </a:r>
            <a:endParaRPr lang="en-US" sz="1400" dirty="0"/>
          </a:p>
        </p:txBody>
      </p:sp>
      <p:sp>
        <p:nvSpPr>
          <p:cNvPr id="21" name="Text 19"/>
          <p:cNvSpPr/>
          <p:nvPr/>
        </p:nvSpPr>
        <p:spPr>
          <a:xfrm>
            <a:off x="812800" y="4160242"/>
            <a:ext cx="5284724" cy="66536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3C4A55"/>
                </a:solidFill>
                <a:latin typeface="Inter" pitchFamily="34" charset="0"/>
                <a:ea typeface="Inter" pitchFamily="34" charset="-122"/>
                <a:cs typeface="Inter" pitchFamily="34" charset="-120"/>
              </a:rPr>
              <a:t>Compare terms across contracts or against the standard: pricing, escalators, SLA credits, termination and liability. Deviations are flagged before renewal.</a:t>
            </a:r>
            <a:endParaRPr lang="en-US" sz="1200" dirty="0"/>
          </a:p>
        </p:txBody>
      </p:sp>
      <p:sp>
        <p:nvSpPr>
          <p:cNvPr id="22" name="Shape 20"/>
          <p:cNvSpPr/>
          <p:nvPr/>
        </p:nvSpPr>
        <p:spPr>
          <a:xfrm>
            <a:off x="6248400" y="3731022"/>
            <a:ext cx="5130800" cy="0"/>
          </a:xfrm>
          <a:prstGeom prst="line">
            <a:avLst/>
          </a:prstGeom>
          <a:noFill/>
          <a:ln w="25400">
            <a:solidFill>
              <a:srgbClr val="2251FF"/>
            </a:solidFill>
            <a:prstDash val="solid"/>
          </a:ln>
        </p:spPr>
      </p:sp>
      <p:sp>
        <p:nvSpPr>
          <p:cNvPr id="23" name="Text 21"/>
          <p:cNvSpPr/>
          <p:nvPr/>
        </p:nvSpPr>
        <p:spPr>
          <a:xfrm>
            <a:off x="6248400" y="3870722"/>
            <a:ext cx="5284724" cy="238720"/>
          </a:xfrm>
          <a:prstGeom prst="rect">
            <a:avLst/>
          </a:prstGeom>
          <a:noFill/>
          <a:ln/>
        </p:spPr>
        <p:txBody>
          <a:bodyPr wrap="square" lIns="0" tIns="0" rIns="0" bIns="0" rtlCol="0" anchor="t">
            <a:normAutofit/>
          </a:bodyPr>
          <a:lstStyle/>
          <a:p>
            <a:pPr algn="l" indent="0" marL="0">
              <a:lnSpc>
                <a:spcPts val="1680"/>
              </a:lnSpc>
              <a:buNone/>
            </a:pPr>
            <a:r>
              <a:rPr lang="en-US" sz="1400" b="1" dirty="0">
                <a:solidFill>
                  <a:srgbClr val="051C2C"/>
                </a:solidFill>
                <a:latin typeface="Inter" pitchFamily="34" charset="0"/>
                <a:ea typeface="Inter" pitchFamily="34" charset="-122"/>
                <a:cs typeface="Inter" pitchFamily="34" charset="-120"/>
              </a:rPr>
              <a:t>Revenue recovered: </a:t>
            </a:r>
            <a:r>
              <a:rPr lang="en-US" sz="1400" b="1" dirty="0">
                <a:solidFill>
                  <a:srgbClr val="2251FF"/>
                </a:solidFill>
                <a:latin typeface="Inter" pitchFamily="34" charset="0"/>
                <a:ea typeface="Inter" pitchFamily="34" charset="-122"/>
                <a:cs typeface="Inter" pitchFamily="34" charset="-120"/>
              </a:rPr>
              <a:t>$68M a year</a:t>
            </a:r>
            <a:endParaRPr lang="en-US" sz="1400" dirty="0"/>
          </a:p>
        </p:txBody>
      </p:sp>
      <p:sp>
        <p:nvSpPr>
          <p:cNvPr id="24" name="Text 22"/>
          <p:cNvSpPr/>
          <p:nvPr/>
        </p:nvSpPr>
        <p:spPr>
          <a:xfrm>
            <a:off x="6248400" y="4160242"/>
            <a:ext cx="5284724"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3C4A55"/>
                </a:solidFill>
                <a:latin typeface="Inter" pitchFamily="34" charset="0"/>
                <a:ea typeface="Inter" pitchFamily="34" charset="-122"/>
                <a:cs typeface="Inter" pitchFamily="34" charset="-120"/>
              </a:rPr>
              <a:t>High-confidence gaps go straight to billing; large or sensitive back-bills wait for account-owner approval.</a:t>
            </a:r>
            <a:endParaRPr lang="en-US" sz="1200" dirty="0"/>
          </a:p>
        </p:txBody>
      </p:sp>
      <p:sp>
        <p:nvSpPr>
          <p:cNvPr id="25" name="Text 23"/>
          <p:cNvSpPr/>
          <p:nvPr/>
        </p:nvSpPr>
        <p:spPr>
          <a:xfrm>
            <a:off x="812800" y="6238280"/>
            <a:ext cx="2366546"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680"/>
                </a:solidFill>
                <a:latin typeface="Inter" pitchFamily="34" charset="0"/>
                <a:ea typeface="Inter" pitchFamily="34" charset="-122"/>
                <a:cs typeface="Inter" pitchFamily="34" charset="-120"/>
              </a:rPr>
              <a:t>Enterprise Intelligence | FIS</a:t>
            </a:r>
            <a:endParaRPr lang="en-US" sz="1200" dirty="0"/>
          </a:p>
        </p:txBody>
      </p:sp>
      <p:sp>
        <p:nvSpPr>
          <p:cNvPr id="26" name="Text 24"/>
          <p:cNvSpPr/>
          <p:nvPr/>
        </p:nvSpPr>
        <p:spPr>
          <a:xfrm>
            <a:off x="11233894" y="6238280"/>
            <a:ext cx="145306"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B7680"/>
                </a:solidFill>
                <a:latin typeface="Inter" pitchFamily="34" charset="0"/>
                <a:ea typeface="Inter" pitchFamily="34" charset="-122"/>
                <a:cs typeface="Inter" pitchFamily="34" charset="-120"/>
              </a:rPr>
              <a:t>9</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BFBF9"/>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2251FF"/>
                </a:solidFill>
                <a:latin typeface="Inter" pitchFamily="34" charset="0"/>
                <a:ea typeface="Inter" pitchFamily="34" charset="-122"/>
                <a:cs typeface="Inter" pitchFamily="34" charset="-120"/>
              </a:rPr>
              <a:t>05 STEER THE ENTERPRISE</a:t>
            </a:r>
            <a:endParaRPr lang="en-US" sz="1200" dirty="0"/>
          </a:p>
        </p:txBody>
      </p:sp>
      <p:sp>
        <p:nvSpPr>
          <p:cNvPr id="3" name="Text 1"/>
          <p:cNvSpPr/>
          <p:nvPr>
            <p:ph type="title"/>
          </p:nvPr>
        </p:nvSpPr>
        <p:spPr>
          <a:xfrm>
            <a:off x="812800" y="1127720"/>
            <a:ext cx="10883392" cy="784820"/>
          </a:xfrm>
          <a:prstGeom prst="rect">
            <a:avLst/>
          </a:prstGeom>
          <a:noFill/>
          <a:ln/>
        </p:spPr>
        <p:txBody>
          <a:bodyPr wrap="square" lIns="0" tIns="0" rIns="0" bIns="0" rtlCol="0" anchor="t">
            <a:normAutofit/>
          </a:bodyPr>
          <a:lstStyle/>
          <a:p>
            <a:pPr algn="l" indent="0" marL="0">
              <a:lnSpc>
                <a:spcPts val="2990"/>
              </a:lnSpc>
              <a:buNone/>
            </a:pPr>
            <a:r>
              <a:rPr lang="en-US" sz="2600" b="0" i="0" dirty="0">
                <a:solidFill>
                  <a:srgbClr val="051C2C"/>
                </a:solidFill>
                <a:latin typeface="Source Serif 4" pitchFamily="18" charset="0"/>
                <a:ea typeface="Source Serif 4" pitchFamily="18" charset="-122"/>
                <a:cs typeface="Source Serif 4" pitchFamily="18" charset="-120"/>
              </a:rPr>
              <a:t>One live view of portfolio, cash and renewals shows where to grow, sustain or fix</a:t>
            </a:r>
            <a:endParaRPr lang="en-US" sz="2600" dirty="0"/>
          </a:p>
        </p:txBody>
      </p:sp>
      <p:sp>
        <p:nvSpPr>
          <p:cNvPr id="4" name="Shape 2"/>
          <p:cNvSpPr/>
          <p:nvPr/>
        </p:nvSpPr>
        <p:spPr>
          <a:xfrm>
            <a:off x="815975" y="2195116"/>
            <a:ext cx="3414167" cy="3643709"/>
          </a:xfrm>
          <a:prstGeom prst="rect">
            <a:avLst/>
          </a:prstGeom>
          <a:solidFill>
            <a:srgbClr val="FFFFFF"/>
          </a:solidFill>
          <a:ln w="6350">
            <a:solidFill>
              <a:srgbClr val="D5DCE2"/>
            </a:solidFill>
            <a:prstDash val="solid"/>
          </a:ln>
        </p:spPr>
      </p:sp>
      <p:sp>
        <p:nvSpPr>
          <p:cNvPr id="5" name="Text 3"/>
          <p:cNvSpPr/>
          <p:nvPr/>
        </p:nvSpPr>
        <p:spPr>
          <a:xfrm>
            <a:off x="1022350" y="2401491"/>
            <a:ext cx="3091459" cy="284460"/>
          </a:xfrm>
          <a:prstGeom prst="rect">
            <a:avLst/>
          </a:prstGeom>
          <a:noFill/>
          <a:ln/>
        </p:spPr>
        <p:txBody>
          <a:bodyPr wrap="square" lIns="0" tIns="0" rIns="0" bIns="0" rtlCol="0" anchor="t">
            <a:normAutofit/>
          </a:bodyPr>
          <a:lstStyle/>
          <a:p>
            <a:pPr algn="l" indent="0" marL="0">
              <a:lnSpc>
                <a:spcPts val="2040"/>
              </a:lnSpc>
              <a:buNone/>
            </a:pPr>
            <a:r>
              <a:rPr lang="en-US" sz="1700" dirty="0">
                <a:solidFill>
                  <a:srgbClr val="051C2C"/>
                </a:solidFill>
                <a:latin typeface="Source Serif 4" pitchFamily="18" charset="0"/>
                <a:ea typeface="Source Serif 4" pitchFamily="18" charset="-122"/>
                <a:cs typeface="Source Serif 4" pitchFamily="18" charset="-120"/>
              </a:rPr>
              <a:t>Portfolio at a glance</a:t>
            </a:r>
            <a:endParaRPr lang="en-US" sz="1700" dirty="0"/>
          </a:p>
        </p:txBody>
      </p:sp>
      <p:sp>
        <p:nvSpPr>
          <p:cNvPr id="6" name="Text 4"/>
          <p:cNvSpPr/>
          <p:nvPr/>
        </p:nvSpPr>
        <p:spPr>
          <a:xfrm>
            <a:off x="1022350" y="2762151"/>
            <a:ext cx="3091459"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3C4A55"/>
                </a:solidFill>
                <a:latin typeface="Inter" pitchFamily="34" charset="0"/>
                <a:ea typeface="Inter" pitchFamily="34" charset="-122"/>
                <a:cs typeface="Inter" pitchFamily="34" charset="-120"/>
              </a:rPr>
              <a:t>Revenue, margin and health for the whole book, sliced any way:</a:t>
            </a:r>
            <a:endParaRPr lang="en-US" sz="1200" dirty="0"/>
          </a:p>
        </p:txBody>
      </p:sp>
      <p:sp>
        <p:nvSpPr>
          <p:cNvPr id="7" name="Text 5"/>
          <p:cNvSpPr/>
          <p:nvPr/>
        </p:nvSpPr>
        <p:spPr>
          <a:xfrm>
            <a:off x="1025906" y="3290391"/>
            <a:ext cx="3083331" cy="939800"/>
          </a:xfrm>
          <a:prstGeom prst="rect">
            <a:avLst/>
          </a:prstGeom>
          <a:noFill/>
          <a:ln/>
        </p:spPr>
        <p:txBody>
          <a:bodyPr wrap="square" lIns="0" tIns="0" rIns="0" bIns="0" rtlCol="0" anchor="t">
            <a:normAutofit/>
          </a:bodyPr>
          <a:lstStyle/>
          <a:p>
            <a:pPr algn="l" marL="148844" indent="-148844">
              <a:lnSpc>
                <a:spcPts val="1800"/>
              </a:lnSpc>
              <a:buSzPct val="100000"/>
              <a:buChar char="•"/>
            </a:pPr>
            <a:r>
              <a:rPr lang="en-US" sz="1200" dirty="0">
                <a:solidFill>
                  <a:srgbClr val="051C2C"/>
                </a:solidFill>
                <a:latin typeface="Inter" pitchFamily="34" charset="0"/>
                <a:ea typeface="Inter" pitchFamily="34" charset="-122"/>
                <a:cs typeface="Inter" pitchFamily="34" charset="-120"/>
              </a:rPr>
              <a:t>Line of business</a:t>
            </a:r>
            <a:endParaRPr lang="en-US" sz="1200" dirty="0"/>
          </a:p>
          <a:p>
            <a:pPr algn="l" marL="148844" indent="-148844">
              <a:lnSpc>
                <a:spcPts val="1800"/>
              </a:lnSpc>
              <a:buSzPct val="100000"/>
              <a:buChar char="•"/>
            </a:pPr>
            <a:r>
              <a:rPr lang="en-US" sz="1200" dirty="0">
                <a:solidFill>
                  <a:srgbClr val="051C2C"/>
                </a:solidFill>
                <a:latin typeface="Inter" pitchFamily="34" charset="0"/>
                <a:ea typeface="Inter" pitchFamily="34" charset="-122"/>
                <a:cs typeface="Inter" pitchFamily="34" charset="-120"/>
              </a:rPr>
              <a:t>Business segment</a:t>
            </a:r>
            <a:endParaRPr lang="en-US" sz="1200" dirty="0"/>
          </a:p>
          <a:p>
            <a:pPr algn="l" marL="148844" indent="-148844">
              <a:lnSpc>
                <a:spcPts val="1800"/>
              </a:lnSpc>
              <a:buSzPct val="100000"/>
              <a:buChar char="•"/>
            </a:pPr>
            <a:r>
              <a:rPr lang="en-US" sz="1200" dirty="0">
                <a:solidFill>
                  <a:srgbClr val="051C2C"/>
                </a:solidFill>
                <a:latin typeface="Inter" pitchFamily="34" charset="0"/>
                <a:ea typeface="Inter" pitchFamily="34" charset="-122"/>
                <a:cs typeface="Inter" pitchFamily="34" charset="-120"/>
              </a:rPr>
              <a:t>Deal type</a:t>
            </a:r>
            <a:endParaRPr lang="en-US" sz="1200" dirty="0"/>
          </a:p>
          <a:p>
            <a:pPr algn="l" marL="148844" indent="-148844">
              <a:lnSpc>
                <a:spcPts val="1800"/>
              </a:lnSpc>
              <a:buSzPct val="100000"/>
              <a:buChar char="•"/>
            </a:pPr>
            <a:r>
              <a:rPr lang="en-US" sz="1200" dirty="0">
                <a:solidFill>
                  <a:srgbClr val="051C2C"/>
                </a:solidFill>
                <a:latin typeface="Inter" pitchFamily="34" charset="0"/>
                <a:ea typeface="Inter" pitchFamily="34" charset="-122"/>
                <a:cs typeface="Inter" pitchFamily="34" charset="-120"/>
              </a:rPr>
              <a:t>Region and client tier</a:t>
            </a:r>
            <a:endParaRPr lang="en-US" sz="1200" dirty="0"/>
          </a:p>
        </p:txBody>
      </p:sp>
      <p:sp>
        <p:nvSpPr>
          <p:cNvPr id="8" name="Shape 6"/>
          <p:cNvSpPr/>
          <p:nvPr/>
        </p:nvSpPr>
        <p:spPr>
          <a:xfrm>
            <a:off x="4388892" y="2195116"/>
            <a:ext cx="3414167" cy="3643709"/>
          </a:xfrm>
          <a:prstGeom prst="rect">
            <a:avLst/>
          </a:prstGeom>
          <a:solidFill>
            <a:srgbClr val="FFFFFF"/>
          </a:solidFill>
          <a:ln w="6350">
            <a:solidFill>
              <a:srgbClr val="D5DCE2"/>
            </a:solidFill>
            <a:prstDash val="solid"/>
          </a:ln>
        </p:spPr>
      </p:sp>
      <p:sp>
        <p:nvSpPr>
          <p:cNvPr id="9" name="Text 7"/>
          <p:cNvSpPr/>
          <p:nvPr/>
        </p:nvSpPr>
        <p:spPr>
          <a:xfrm>
            <a:off x="4595267" y="2401491"/>
            <a:ext cx="3091459" cy="284460"/>
          </a:xfrm>
          <a:prstGeom prst="rect">
            <a:avLst/>
          </a:prstGeom>
          <a:noFill/>
          <a:ln/>
        </p:spPr>
        <p:txBody>
          <a:bodyPr wrap="square" lIns="0" tIns="0" rIns="0" bIns="0" rtlCol="0" anchor="t">
            <a:normAutofit/>
          </a:bodyPr>
          <a:lstStyle/>
          <a:p>
            <a:pPr algn="l" indent="0" marL="0">
              <a:lnSpc>
                <a:spcPts val="2040"/>
              </a:lnSpc>
              <a:buNone/>
            </a:pPr>
            <a:r>
              <a:rPr lang="en-US" sz="1700" dirty="0">
                <a:solidFill>
                  <a:srgbClr val="051C2C"/>
                </a:solidFill>
                <a:latin typeface="Source Serif 4" pitchFamily="18" charset="0"/>
                <a:ea typeface="Source Serif 4" pitchFamily="18" charset="-122"/>
                <a:cs typeface="Source Serif 4" pitchFamily="18" charset="-120"/>
              </a:rPr>
              <a:t>Real-time cash and revenue</a:t>
            </a:r>
            <a:endParaRPr lang="en-US" sz="1700" dirty="0"/>
          </a:p>
        </p:txBody>
      </p:sp>
      <p:sp>
        <p:nvSpPr>
          <p:cNvPr id="10" name="Text 8"/>
          <p:cNvSpPr/>
          <p:nvPr/>
        </p:nvSpPr>
        <p:spPr>
          <a:xfrm>
            <a:off x="4595267" y="2762151"/>
            <a:ext cx="3091459" cy="66536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3C4A55"/>
                </a:solidFill>
                <a:latin typeface="Inter" pitchFamily="34" charset="0"/>
                <a:ea typeface="Inter" pitchFamily="34" charset="-122"/>
                <a:cs typeface="Inter" pitchFamily="34" charset="-120"/>
              </a:rPr>
              <a:t>Forecast built from contracts and renewals on file, updated as signals change:</a:t>
            </a:r>
            <a:endParaRPr lang="en-US" sz="1200" dirty="0"/>
          </a:p>
        </p:txBody>
      </p:sp>
      <p:sp>
        <p:nvSpPr>
          <p:cNvPr id="11" name="Text 9"/>
          <p:cNvSpPr/>
          <p:nvPr/>
        </p:nvSpPr>
        <p:spPr>
          <a:xfrm>
            <a:off x="4598823" y="3503712"/>
            <a:ext cx="3083331" cy="711200"/>
          </a:xfrm>
          <a:prstGeom prst="rect">
            <a:avLst/>
          </a:prstGeom>
          <a:noFill/>
          <a:ln/>
        </p:spPr>
        <p:txBody>
          <a:bodyPr wrap="square" lIns="0" tIns="0" rIns="0" bIns="0" rtlCol="0" anchor="t">
            <a:normAutofit/>
          </a:bodyPr>
          <a:lstStyle/>
          <a:p>
            <a:pPr algn="l" marL="148844" indent="-148844">
              <a:lnSpc>
                <a:spcPts val="1800"/>
              </a:lnSpc>
              <a:buSzPct val="100000"/>
              <a:buChar char="•"/>
            </a:pPr>
            <a:r>
              <a:rPr lang="en-US" sz="1200" dirty="0">
                <a:solidFill>
                  <a:srgbClr val="051C2C"/>
                </a:solidFill>
                <a:latin typeface="Inter" pitchFamily="34" charset="0"/>
                <a:ea typeface="Inter" pitchFamily="34" charset="-122"/>
                <a:cs typeface="Inter" pitchFamily="34" charset="-120"/>
              </a:rPr>
              <a:t>Contracted vs. at-risk revenue</a:t>
            </a:r>
            <a:endParaRPr lang="en-US" sz="1200" dirty="0"/>
          </a:p>
          <a:p>
            <a:pPr algn="l" marL="148844" indent="-148844">
              <a:lnSpc>
                <a:spcPts val="1800"/>
              </a:lnSpc>
              <a:buSzPct val="100000"/>
              <a:buChar char="•"/>
            </a:pPr>
            <a:r>
              <a:rPr lang="en-US" sz="1200" dirty="0">
                <a:solidFill>
                  <a:srgbClr val="051C2C"/>
                </a:solidFill>
                <a:latin typeface="Inter" pitchFamily="34" charset="0"/>
                <a:ea typeface="Inter" pitchFamily="34" charset="-122"/>
                <a:cs typeface="Inter" pitchFamily="34" charset="-120"/>
              </a:rPr>
              <a:t>Renew, compress or churn scenarios</a:t>
            </a:r>
            <a:endParaRPr lang="en-US" sz="1200" dirty="0"/>
          </a:p>
          <a:p>
            <a:pPr algn="l" marL="148844" indent="-148844">
              <a:lnSpc>
                <a:spcPts val="1800"/>
              </a:lnSpc>
              <a:buSzPct val="100000"/>
              <a:buChar char="•"/>
            </a:pPr>
            <a:r>
              <a:rPr lang="en-US" sz="1200" dirty="0">
                <a:solidFill>
                  <a:srgbClr val="051C2C"/>
                </a:solidFill>
                <a:latin typeface="Inter" pitchFamily="34" charset="0"/>
                <a:ea typeface="Inter" pitchFamily="34" charset="-122"/>
                <a:cs typeface="Inter" pitchFamily="34" charset="-120"/>
              </a:rPr>
              <a:t>Cash-flow timing by quarter</a:t>
            </a:r>
            <a:endParaRPr lang="en-US" sz="1200" dirty="0"/>
          </a:p>
        </p:txBody>
      </p:sp>
      <p:sp>
        <p:nvSpPr>
          <p:cNvPr id="12" name="Shape 10"/>
          <p:cNvSpPr/>
          <p:nvPr/>
        </p:nvSpPr>
        <p:spPr>
          <a:xfrm>
            <a:off x="7958634" y="2191941"/>
            <a:ext cx="3420566" cy="3650059"/>
          </a:xfrm>
          <a:prstGeom prst="rect">
            <a:avLst/>
          </a:prstGeom>
          <a:solidFill>
            <a:srgbClr val="051C2C"/>
          </a:solidFill>
          <a:ln/>
        </p:spPr>
      </p:sp>
      <p:sp>
        <p:nvSpPr>
          <p:cNvPr id="13" name="Text 11"/>
          <p:cNvSpPr/>
          <p:nvPr/>
        </p:nvSpPr>
        <p:spPr>
          <a:xfrm>
            <a:off x="8161834" y="2395141"/>
            <a:ext cx="3104591" cy="284460"/>
          </a:xfrm>
          <a:prstGeom prst="rect">
            <a:avLst/>
          </a:prstGeom>
          <a:noFill/>
          <a:ln/>
        </p:spPr>
        <p:txBody>
          <a:bodyPr wrap="square" lIns="0" tIns="0" rIns="0" bIns="0" rtlCol="0" anchor="t">
            <a:normAutofit/>
          </a:bodyPr>
          <a:lstStyle/>
          <a:p>
            <a:pPr algn="l" indent="0" marL="0">
              <a:lnSpc>
                <a:spcPts val="2040"/>
              </a:lnSpc>
              <a:buNone/>
            </a:pPr>
            <a:r>
              <a:rPr lang="en-US" sz="1700" dirty="0">
                <a:solidFill>
                  <a:srgbClr val="F4F6F8"/>
                </a:solidFill>
                <a:latin typeface="Source Serif 4" pitchFamily="18" charset="0"/>
                <a:ea typeface="Source Serif 4" pitchFamily="18" charset="-122"/>
                <a:cs typeface="Source Serif 4" pitchFamily="18" charset="-120"/>
              </a:rPr>
              <a:t>Capital allocation</a:t>
            </a:r>
            <a:endParaRPr lang="en-US" sz="1700" dirty="0"/>
          </a:p>
        </p:txBody>
      </p:sp>
      <p:sp>
        <p:nvSpPr>
          <p:cNvPr id="14" name="Text 12"/>
          <p:cNvSpPr/>
          <p:nvPr/>
        </p:nvSpPr>
        <p:spPr>
          <a:xfrm>
            <a:off x="8161834" y="2755801"/>
            <a:ext cx="3217366"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C9D4DD"/>
                </a:solidFill>
                <a:latin typeface="Inter" pitchFamily="34" charset="0"/>
                <a:ea typeface="Inter" pitchFamily="34" charset="-122"/>
                <a:cs typeface="Inter" pitchFamily="34" charset="-120"/>
              </a:rPr>
              <a:t>Capital follows real-time revenue impact:</a:t>
            </a:r>
            <a:endParaRPr lang="en-US" sz="1200" dirty="0"/>
          </a:p>
        </p:txBody>
      </p:sp>
      <p:sp>
        <p:nvSpPr>
          <p:cNvPr id="15" name="Shape 13"/>
          <p:cNvSpPr/>
          <p:nvPr/>
        </p:nvSpPr>
        <p:spPr>
          <a:xfrm>
            <a:off x="8161834" y="3073896"/>
            <a:ext cx="3014166" cy="0"/>
          </a:xfrm>
          <a:prstGeom prst="line">
            <a:avLst/>
          </a:prstGeom>
          <a:noFill/>
          <a:ln w="6350">
            <a:solidFill>
              <a:srgbClr val="2A4A63"/>
            </a:solidFill>
            <a:prstDash val="solid"/>
          </a:ln>
        </p:spPr>
      </p:sp>
      <p:sp>
        <p:nvSpPr>
          <p:cNvPr id="16" name="Text 14"/>
          <p:cNvSpPr/>
          <p:nvPr/>
        </p:nvSpPr>
        <p:spPr>
          <a:xfrm>
            <a:off x="8161834" y="3153271"/>
            <a:ext cx="3104591"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00A9F4"/>
                </a:solidFill>
                <a:latin typeface="Inter" pitchFamily="34" charset="0"/>
                <a:ea typeface="Inter" pitchFamily="34" charset="-122"/>
                <a:cs typeface="Inter" pitchFamily="34" charset="-120"/>
              </a:rPr>
              <a:t>Grow</a:t>
            </a:r>
            <a:r>
              <a:rPr lang="en-US" sz="1200" dirty="0">
                <a:solidFill>
                  <a:srgbClr val="F4F6F8"/>
                </a:solidFill>
                <a:latin typeface="Inter" pitchFamily="34" charset="0"/>
                <a:ea typeface="Inter" pitchFamily="34" charset="-122"/>
                <a:cs typeface="Inter" pitchFamily="34" charset="-120"/>
              </a:rPr>
              <a:t> high margin, expansion signals</a:t>
            </a:r>
            <a:endParaRPr lang="en-US" sz="1200" dirty="0"/>
          </a:p>
        </p:txBody>
      </p:sp>
      <p:sp>
        <p:nvSpPr>
          <p:cNvPr id="17" name="Shape 15"/>
          <p:cNvSpPr/>
          <p:nvPr/>
        </p:nvSpPr>
        <p:spPr>
          <a:xfrm>
            <a:off x="8161834" y="3471366"/>
            <a:ext cx="3014166" cy="0"/>
          </a:xfrm>
          <a:prstGeom prst="line">
            <a:avLst/>
          </a:prstGeom>
          <a:noFill/>
          <a:ln w="6350">
            <a:solidFill>
              <a:srgbClr val="2A4A63"/>
            </a:solidFill>
            <a:prstDash val="solid"/>
          </a:ln>
        </p:spPr>
      </p:sp>
      <p:sp>
        <p:nvSpPr>
          <p:cNvPr id="18" name="Text 16"/>
          <p:cNvSpPr/>
          <p:nvPr/>
        </p:nvSpPr>
        <p:spPr>
          <a:xfrm>
            <a:off x="8161834" y="3550741"/>
            <a:ext cx="3104591"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00A9F4"/>
                </a:solidFill>
                <a:latin typeface="Inter" pitchFamily="34" charset="0"/>
                <a:ea typeface="Inter" pitchFamily="34" charset="-122"/>
                <a:cs typeface="Inter" pitchFamily="34" charset="-120"/>
              </a:rPr>
              <a:t>Sustain</a:t>
            </a:r>
            <a:r>
              <a:rPr lang="en-US" sz="1200" dirty="0">
                <a:solidFill>
                  <a:srgbClr val="F4F6F8"/>
                </a:solidFill>
                <a:latin typeface="Inter" pitchFamily="34" charset="0"/>
                <a:ea typeface="Inter" pitchFamily="34" charset="-122"/>
                <a:cs typeface="Inter" pitchFamily="34" charset="-120"/>
              </a:rPr>
              <a:t> stable, renewing</a:t>
            </a:r>
            <a:endParaRPr lang="en-US" sz="1200" dirty="0"/>
          </a:p>
        </p:txBody>
      </p:sp>
      <p:sp>
        <p:nvSpPr>
          <p:cNvPr id="19" name="Shape 17"/>
          <p:cNvSpPr/>
          <p:nvPr/>
        </p:nvSpPr>
        <p:spPr>
          <a:xfrm>
            <a:off x="8161834" y="3868837"/>
            <a:ext cx="3014166" cy="0"/>
          </a:xfrm>
          <a:prstGeom prst="line">
            <a:avLst/>
          </a:prstGeom>
          <a:noFill/>
          <a:ln w="6350">
            <a:solidFill>
              <a:srgbClr val="2A4A63"/>
            </a:solidFill>
            <a:prstDash val="solid"/>
          </a:ln>
        </p:spPr>
      </p:sp>
      <p:sp>
        <p:nvSpPr>
          <p:cNvPr id="20" name="Text 18"/>
          <p:cNvSpPr/>
          <p:nvPr/>
        </p:nvSpPr>
        <p:spPr>
          <a:xfrm>
            <a:off x="8161834" y="3948212"/>
            <a:ext cx="3104591"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00A9F4"/>
                </a:solidFill>
                <a:latin typeface="Inter" pitchFamily="34" charset="0"/>
                <a:ea typeface="Inter" pitchFamily="34" charset="-122"/>
                <a:cs typeface="Inter" pitchFamily="34" charset="-120"/>
              </a:rPr>
              <a:t>Fix or sunset</a:t>
            </a:r>
            <a:r>
              <a:rPr lang="en-US" sz="1200" dirty="0">
                <a:solidFill>
                  <a:srgbClr val="F4F6F8"/>
                </a:solidFill>
                <a:latin typeface="Inter" pitchFamily="34" charset="0"/>
                <a:ea typeface="Inter" pitchFamily="34" charset="-122"/>
                <a:cs typeface="Inter" pitchFamily="34" charset="-120"/>
              </a:rPr>
              <a:t> compressing, low margin</a:t>
            </a:r>
            <a:endParaRPr lang="en-US" sz="1200" dirty="0"/>
          </a:p>
        </p:txBody>
      </p:sp>
      <p:sp>
        <p:nvSpPr>
          <p:cNvPr id="21" name="Text 19"/>
          <p:cNvSpPr/>
          <p:nvPr/>
        </p:nvSpPr>
        <p:spPr>
          <a:xfrm>
            <a:off x="812800" y="6238280"/>
            <a:ext cx="2366546"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680"/>
                </a:solidFill>
                <a:latin typeface="Inter" pitchFamily="34" charset="0"/>
                <a:ea typeface="Inter" pitchFamily="34" charset="-122"/>
                <a:cs typeface="Inter" pitchFamily="34" charset="-120"/>
              </a:rPr>
              <a:t>Enterprise Intelligence | FIS</a:t>
            </a:r>
            <a:endParaRPr lang="en-US" sz="1200" dirty="0"/>
          </a:p>
        </p:txBody>
      </p:sp>
      <p:sp>
        <p:nvSpPr>
          <p:cNvPr id="22" name="Text 20"/>
          <p:cNvSpPr/>
          <p:nvPr/>
        </p:nvSpPr>
        <p:spPr>
          <a:xfrm>
            <a:off x="11170245" y="6238280"/>
            <a:ext cx="208955"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B7680"/>
                </a:solidFill>
                <a:latin typeface="Inter" pitchFamily="34" charset="0"/>
                <a:ea typeface="Inter" pitchFamily="34" charset="-122"/>
                <a:cs typeface="Inter" pitchFamily="34" charset="-120"/>
              </a:rPr>
              <a:t>10</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BFBF9"/>
        </a:solidFill>
      </p:bgPr>
    </p:bg>
    <p:spTree>
      <p:nvGrpSpPr>
        <p:cNvPr id="1" name=""/>
        <p:cNvGrpSpPr/>
        <p:nvPr/>
      </p:nvGrpSpPr>
      <p:grpSpPr>
        <a:xfrm>
          <a:off x="0" y="0"/>
          <a:ext cx="0" cy="0"/>
          <a:chOff x="0" y="0"/>
          <a:chExt cx="0" cy="0"/>
        </a:xfrm>
      </p:grpSpPr>
      <p:pic>
        <p:nvPicPr>
          <p:cNvPr id="2" name="Image 0" descr="Clockwise flywheel ring with six stages around the enterprise intelligence hub">    </p:cNvPr>
          <p:cNvPicPr>
            <a:picLocks noChangeAspect="1"/>
          </p:cNvPicPr>
          <p:nvPr/>
        </p:nvPicPr>
        <p:blipFill>
          <a:blip r:embed="rId1"/>
          <a:srcRect l="0" r="0" t="0" b="0"/>
          <a:stretch/>
        </p:blipFill>
        <p:spPr>
          <a:xfrm>
            <a:off x="812800" y="2095500"/>
            <a:ext cx="6350000" cy="3746500"/>
          </a:xfrm>
          <a:prstGeom prst="rect">
            <a:avLst/>
          </a:prstGeom>
        </p:spPr>
      </p:pic>
      <p:sp>
        <p:nvSpPr>
          <p:cNvPr id="3"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2251FF"/>
                </a:solidFill>
                <a:latin typeface="Inter" pitchFamily="34" charset="0"/>
                <a:ea typeface="Inter" pitchFamily="34" charset="-122"/>
                <a:cs typeface="Inter" pitchFamily="34" charset="-120"/>
              </a:rPr>
              <a:t>THE INTELLIGENCE FLYWHEEL</a:t>
            </a:r>
            <a:endParaRPr lang="en-US" sz="1200" dirty="0"/>
          </a:p>
        </p:txBody>
      </p:sp>
      <p:sp>
        <p:nvSpPr>
          <p:cNvPr id="4" name="Text 1"/>
          <p:cNvSpPr/>
          <p:nvPr>
            <p:ph type="title"/>
          </p:nvPr>
        </p:nvSpPr>
        <p:spPr>
          <a:xfrm>
            <a:off x="812800" y="1127720"/>
            <a:ext cx="10883392" cy="784820"/>
          </a:xfrm>
          <a:prstGeom prst="rect">
            <a:avLst/>
          </a:prstGeom>
          <a:noFill/>
          <a:ln/>
        </p:spPr>
        <p:txBody>
          <a:bodyPr wrap="square" lIns="0" tIns="0" rIns="0" bIns="0" rtlCol="0" anchor="t">
            <a:normAutofit/>
          </a:bodyPr>
          <a:lstStyle/>
          <a:p>
            <a:pPr algn="l" indent="0" marL="0">
              <a:lnSpc>
                <a:spcPts val="2990"/>
              </a:lnSpc>
              <a:buNone/>
            </a:pPr>
            <a:r>
              <a:rPr lang="en-US" sz="2600" b="0" i="0" dirty="0">
                <a:solidFill>
                  <a:srgbClr val="051C2C"/>
                </a:solidFill>
                <a:latin typeface="Source Serif 4" pitchFamily="18" charset="0"/>
                <a:ea typeface="Source Serif 4" pitchFamily="18" charset="-122"/>
                <a:cs typeface="Source Serif 4" pitchFamily="18" charset="-120"/>
              </a:rPr>
              <a:t>Enterprise Intelligence links the client, commercial and strategy offices, so every turn compounds margin</a:t>
            </a:r>
            <a:endParaRPr lang="en-US" sz="2600" dirty="0"/>
          </a:p>
        </p:txBody>
      </p:sp>
      <p:sp>
        <p:nvSpPr>
          <p:cNvPr id="5" name="Shape 2"/>
          <p:cNvSpPr/>
          <p:nvPr/>
        </p:nvSpPr>
        <p:spPr>
          <a:xfrm>
            <a:off x="3257550" y="3238500"/>
            <a:ext cx="1460500" cy="1460500"/>
          </a:xfrm>
          <a:prstGeom prst="roundRect">
            <a:avLst>
              <a:gd name="adj" fmla="val 50000"/>
            </a:avLst>
          </a:prstGeom>
          <a:solidFill>
            <a:srgbClr val="051C2C"/>
          </a:solidFill>
          <a:ln/>
        </p:spPr>
      </p:sp>
      <p:sp>
        <p:nvSpPr>
          <p:cNvPr id="6" name="Text 3"/>
          <p:cNvSpPr/>
          <p:nvPr/>
        </p:nvSpPr>
        <p:spPr>
          <a:xfrm>
            <a:off x="3333750" y="3651300"/>
            <a:ext cx="1308100" cy="421580"/>
          </a:xfrm>
          <a:prstGeom prst="rect">
            <a:avLst/>
          </a:prstGeom>
          <a:noFill/>
          <a:ln/>
        </p:spPr>
        <p:txBody>
          <a:bodyPr wrap="square" lIns="0" tIns="0" rIns="0" bIns="0" rtlCol="0" anchor="t">
            <a:normAutofit/>
          </a:bodyPr>
          <a:lstStyle/>
          <a:p>
            <a:pPr algn="ctr" indent="0" marL="0">
              <a:lnSpc>
                <a:spcPts val="1560"/>
              </a:lnSpc>
              <a:buNone/>
            </a:pPr>
            <a:r>
              <a:rPr lang="en-US" sz="1300" b="1" dirty="0">
                <a:solidFill>
                  <a:srgbClr val="F4F6F8"/>
                </a:solidFill>
                <a:latin typeface="Inter" pitchFamily="34" charset="0"/>
                <a:ea typeface="Inter" pitchFamily="34" charset="-122"/>
                <a:cs typeface="Inter" pitchFamily="34" charset="-120"/>
              </a:rPr>
              <a:t>Enterprise Intelligence</a:t>
            </a:r>
            <a:endParaRPr lang="en-US" sz="1300" dirty="0"/>
          </a:p>
        </p:txBody>
      </p:sp>
      <p:sp>
        <p:nvSpPr>
          <p:cNvPr id="7" name="Text 4"/>
          <p:cNvSpPr/>
          <p:nvPr/>
        </p:nvSpPr>
        <p:spPr>
          <a:xfrm>
            <a:off x="3307477" y="4072880"/>
            <a:ext cx="1360646" cy="238720"/>
          </a:xfrm>
          <a:prstGeom prst="rect">
            <a:avLst/>
          </a:prstGeom>
          <a:noFill/>
          <a:ln/>
        </p:spPr>
        <p:txBody>
          <a:bodyPr wrap="square" lIns="0" tIns="0" rIns="0" bIns="0" rtlCol="0" anchor="t">
            <a:normAutofit/>
          </a:bodyPr>
          <a:lstStyle/>
          <a:p>
            <a:pPr algn="ctr" indent="0" marL="0">
              <a:lnSpc>
                <a:spcPts val="1680"/>
              </a:lnSpc>
              <a:buNone/>
            </a:pPr>
            <a:r>
              <a:rPr lang="en-US" sz="1200" dirty="0">
                <a:solidFill>
                  <a:srgbClr val="00A9F4"/>
                </a:solidFill>
                <a:latin typeface="Inter" pitchFamily="34" charset="0"/>
                <a:ea typeface="Inter" pitchFamily="34" charset="-122"/>
                <a:cs typeface="Inter" pitchFamily="34" charset="-120"/>
              </a:rPr>
              <a:t>One view of FIS</a:t>
            </a:r>
            <a:endParaRPr lang="en-US" sz="1200" dirty="0"/>
          </a:p>
        </p:txBody>
      </p:sp>
      <p:sp>
        <p:nvSpPr>
          <p:cNvPr id="8" name="Shape 5"/>
          <p:cNvSpPr/>
          <p:nvPr/>
        </p:nvSpPr>
        <p:spPr>
          <a:xfrm>
            <a:off x="3101975" y="2257425"/>
            <a:ext cx="1771650" cy="623491"/>
          </a:xfrm>
          <a:prstGeom prst="roundRect">
            <a:avLst>
              <a:gd name="adj" fmla="val 7638"/>
            </a:avLst>
          </a:prstGeom>
          <a:solidFill>
            <a:srgbClr val="EEF1F4"/>
          </a:solidFill>
          <a:ln w="6350">
            <a:solidFill>
              <a:srgbClr val="C9D1D8"/>
            </a:solidFill>
            <a:prstDash val="solid"/>
          </a:ln>
        </p:spPr>
      </p:sp>
      <p:sp>
        <p:nvSpPr>
          <p:cNvPr id="9" name="Text 6"/>
          <p:cNvSpPr/>
          <p:nvPr/>
        </p:nvSpPr>
        <p:spPr>
          <a:xfrm>
            <a:off x="3181350" y="2349500"/>
            <a:ext cx="1612900" cy="238720"/>
          </a:xfrm>
          <a:prstGeom prst="rect">
            <a:avLst/>
          </a:prstGeom>
          <a:noFill/>
          <a:ln/>
        </p:spPr>
        <p:txBody>
          <a:bodyPr wrap="square" lIns="0" tIns="0" rIns="0" bIns="0" rtlCol="0" anchor="t">
            <a:normAutofit/>
          </a:bodyPr>
          <a:lstStyle/>
          <a:p>
            <a:pPr algn="ctr" indent="0" marL="0">
              <a:lnSpc>
                <a:spcPts val="1680"/>
              </a:lnSpc>
              <a:buNone/>
            </a:pPr>
            <a:r>
              <a:rPr lang="en-US" sz="1200" b="1" dirty="0">
                <a:solidFill>
                  <a:srgbClr val="051C2C"/>
                </a:solidFill>
                <a:latin typeface="Inter" pitchFamily="34" charset="0"/>
                <a:ea typeface="Inter" pitchFamily="34" charset="-122"/>
                <a:cs typeface="Inter" pitchFamily="34" charset="-120"/>
              </a:rPr>
              <a:t>Signals flow in</a:t>
            </a:r>
            <a:endParaRPr lang="en-US" sz="1200" dirty="0"/>
          </a:p>
        </p:txBody>
      </p:sp>
      <p:sp>
        <p:nvSpPr>
          <p:cNvPr id="10" name="Text 7"/>
          <p:cNvSpPr/>
          <p:nvPr/>
        </p:nvSpPr>
        <p:spPr>
          <a:xfrm>
            <a:off x="3181350" y="2575520"/>
            <a:ext cx="1612900" cy="238720"/>
          </a:xfrm>
          <a:prstGeom prst="rect">
            <a:avLst/>
          </a:prstGeom>
          <a:noFill/>
          <a:ln/>
        </p:spPr>
        <p:txBody>
          <a:bodyPr wrap="square" lIns="0" tIns="0" rIns="0" bIns="0" rtlCol="0" anchor="t">
            <a:normAutofit/>
          </a:bodyPr>
          <a:lstStyle/>
          <a:p>
            <a:pPr algn="ctr" indent="0" marL="0">
              <a:lnSpc>
                <a:spcPts val="1680"/>
              </a:lnSpc>
              <a:buNone/>
            </a:pPr>
            <a:r>
              <a:rPr lang="en-US" sz="1200" dirty="0">
                <a:solidFill>
                  <a:srgbClr val="5B6670"/>
                </a:solidFill>
                <a:latin typeface="Inter" pitchFamily="34" charset="0"/>
                <a:ea typeface="Inter" pitchFamily="34" charset="-122"/>
                <a:cs typeface="Inter" pitchFamily="34" charset="-120"/>
              </a:rPr>
              <a:t>Every signal, live</a:t>
            </a:r>
            <a:endParaRPr lang="en-US" sz="1200" dirty="0"/>
          </a:p>
        </p:txBody>
      </p:sp>
      <p:sp>
        <p:nvSpPr>
          <p:cNvPr id="11" name="Shape 8"/>
          <p:cNvSpPr/>
          <p:nvPr/>
        </p:nvSpPr>
        <p:spPr>
          <a:xfrm>
            <a:off x="4972050" y="2978150"/>
            <a:ext cx="1765300" cy="629841"/>
          </a:xfrm>
          <a:prstGeom prst="roundRect">
            <a:avLst>
              <a:gd name="adj" fmla="val 7057"/>
            </a:avLst>
          </a:prstGeom>
          <a:solidFill>
            <a:srgbClr val="FFFFFF"/>
          </a:solidFill>
          <a:ln w="12700">
            <a:solidFill>
              <a:srgbClr val="051C2C"/>
            </a:solidFill>
            <a:prstDash val="solid"/>
          </a:ln>
        </p:spPr>
      </p:sp>
      <p:sp>
        <p:nvSpPr>
          <p:cNvPr id="12" name="Text 9"/>
          <p:cNvSpPr/>
          <p:nvPr/>
        </p:nvSpPr>
        <p:spPr>
          <a:xfrm>
            <a:off x="5054600" y="3073400"/>
            <a:ext cx="1600200" cy="238720"/>
          </a:xfrm>
          <a:prstGeom prst="rect">
            <a:avLst/>
          </a:prstGeom>
          <a:noFill/>
          <a:ln/>
        </p:spPr>
        <p:txBody>
          <a:bodyPr wrap="square" lIns="0" tIns="0" rIns="0" bIns="0" rtlCol="0" anchor="t">
            <a:normAutofit/>
          </a:bodyPr>
          <a:lstStyle/>
          <a:p>
            <a:pPr algn="ctr" indent="0" marL="0">
              <a:lnSpc>
                <a:spcPts val="1680"/>
              </a:lnSpc>
              <a:buNone/>
            </a:pPr>
            <a:r>
              <a:rPr lang="en-US" sz="1200" b="1" dirty="0">
                <a:solidFill>
                  <a:srgbClr val="051C2C"/>
                </a:solidFill>
                <a:latin typeface="Inter" pitchFamily="34" charset="0"/>
                <a:ea typeface="Inter" pitchFamily="34" charset="-122"/>
                <a:cs typeface="Inter" pitchFamily="34" charset="-120"/>
              </a:rPr>
              <a:t>Fix quality and CX</a:t>
            </a:r>
            <a:endParaRPr lang="en-US" sz="1200" dirty="0"/>
          </a:p>
        </p:txBody>
      </p:sp>
      <p:sp>
        <p:nvSpPr>
          <p:cNvPr id="13" name="Text 10"/>
          <p:cNvSpPr/>
          <p:nvPr/>
        </p:nvSpPr>
        <p:spPr>
          <a:xfrm>
            <a:off x="5054600" y="3299420"/>
            <a:ext cx="1600200" cy="238720"/>
          </a:xfrm>
          <a:prstGeom prst="rect">
            <a:avLst/>
          </a:prstGeom>
          <a:noFill/>
          <a:ln/>
        </p:spPr>
        <p:txBody>
          <a:bodyPr wrap="square" lIns="0" tIns="0" rIns="0" bIns="0" rtlCol="0" anchor="t">
            <a:normAutofit/>
          </a:bodyPr>
          <a:lstStyle/>
          <a:p>
            <a:pPr algn="ctr" indent="0" marL="0">
              <a:lnSpc>
                <a:spcPts val="1680"/>
              </a:lnSpc>
              <a:buNone/>
            </a:pPr>
            <a:r>
              <a:rPr lang="en-US" sz="1200" dirty="0">
                <a:solidFill>
                  <a:srgbClr val="5B6670"/>
                </a:solidFill>
                <a:latin typeface="Inter" pitchFamily="34" charset="0"/>
                <a:ea typeface="Inter" pitchFamily="34" charset="-122"/>
                <a:cs typeface="Inter" pitchFamily="34" charset="-120"/>
              </a:rPr>
              <a:t>Client Office</a:t>
            </a:r>
            <a:endParaRPr lang="en-US" sz="1200" dirty="0"/>
          </a:p>
        </p:txBody>
      </p:sp>
      <p:sp>
        <p:nvSpPr>
          <p:cNvPr id="14" name="Shape 11"/>
          <p:cNvSpPr/>
          <p:nvPr/>
        </p:nvSpPr>
        <p:spPr>
          <a:xfrm>
            <a:off x="4972050" y="4406900"/>
            <a:ext cx="1765300" cy="629841"/>
          </a:xfrm>
          <a:prstGeom prst="roundRect">
            <a:avLst>
              <a:gd name="adj" fmla="val 7057"/>
            </a:avLst>
          </a:prstGeom>
          <a:solidFill>
            <a:srgbClr val="FFFFFF"/>
          </a:solidFill>
          <a:ln w="12700">
            <a:solidFill>
              <a:srgbClr val="051C2C"/>
            </a:solidFill>
            <a:prstDash val="solid"/>
          </a:ln>
        </p:spPr>
      </p:sp>
      <p:sp>
        <p:nvSpPr>
          <p:cNvPr id="15" name="Text 12"/>
          <p:cNvSpPr/>
          <p:nvPr/>
        </p:nvSpPr>
        <p:spPr>
          <a:xfrm>
            <a:off x="5054600" y="4502150"/>
            <a:ext cx="1600200" cy="238720"/>
          </a:xfrm>
          <a:prstGeom prst="rect">
            <a:avLst/>
          </a:prstGeom>
          <a:noFill/>
          <a:ln/>
        </p:spPr>
        <p:txBody>
          <a:bodyPr wrap="square" lIns="0" tIns="0" rIns="0" bIns="0" rtlCol="0" anchor="t">
            <a:normAutofit/>
          </a:bodyPr>
          <a:lstStyle/>
          <a:p>
            <a:pPr algn="ctr" indent="0" marL="0">
              <a:lnSpc>
                <a:spcPts val="1680"/>
              </a:lnSpc>
              <a:buNone/>
            </a:pPr>
            <a:r>
              <a:rPr lang="en-US" sz="1200" b="1" dirty="0">
                <a:solidFill>
                  <a:srgbClr val="051C2C"/>
                </a:solidFill>
                <a:latin typeface="Inter" pitchFamily="34" charset="0"/>
                <a:ea typeface="Inter" pitchFamily="34" charset="-122"/>
                <a:cs typeface="Inter" pitchFamily="34" charset="-120"/>
              </a:rPr>
              <a:t>Renew and expand</a:t>
            </a:r>
            <a:endParaRPr lang="en-US" sz="1200" dirty="0"/>
          </a:p>
        </p:txBody>
      </p:sp>
      <p:sp>
        <p:nvSpPr>
          <p:cNvPr id="16" name="Text 13"/>
          <p:cNvSpPr/>
          <p:nvPr/>
        </p:nvSpPr>
        <p:spPr>
          <a:xfrm>
            <a:off x="5054600" y="4728170"/>
            <a:ext cx="1600200" cy="238720"/>
          </a:xfrm>
          <a:prstGeom prst="rect">
            <a:avLst/>
          </a:prstGeom>
          <a:noFill/>
          <a:ln/>
        </p:spPr>
        <p:txBody>
          <a:bodyPr wrap="square" lIns="0" tIns="0" rIns="0" bIns="0" rtlCol="0" anchor="t">
            <a:normAutofit/>
          </a:bodyPr>
          <a:lstStyle/>
          <a:p>
            <a:pPr algn="ctr" indent="0" marL="0">
              <a:lnSpc>
                <a:spcPts val="1680"/>
              </a:lnSpc>
              <a:buNone/>
            </a:pPr>
            <a:r>
              <a:rPr lang="en-US" sz="1200" dirty="0">
                <a:solidFill>
                  <a:srgbClr val="5B6670"/>
                </a:solidFill>
                <a:latin typeface="Inter" pitchFamily="34" charset="0"/>
                <a:ea typeface="Inter" pitchFamily="34" charset="-122"/>
                <a:cs typeface="Inter" pitchFamily="34" charset="-120"/>
              </a:rPr>
              <a:t>Commercial Office</a:t>
            </a:r>
            <a:endParaRPr lang="en-US" sz="1200" dirty="0"/>
          </a:p>
        </p:txBody>
      </p:sp>
      <p:sp>
        <p:nvSpPr>
          <p:cNvPr id="17" name="Shape 14"/>
          <p:cNvSpPr/>
          <p:nvPr/>
        </p:nvSpPr>
        <p:spPr>
          <a:xfrm>
            <a:off x="3105150" y="5118100"/>
            <a:ext cx="1765300" cy="629841"/>
          </a:xfrm>
          <a:prstGeom prst="roundRect">
            <a:avLst>
              <a:gd name="adj" fmla="val 7057"/>
            </a:avLst>
          </a:prstGeom>
          <a:solidFill>
            <a:srgbClr val="FFFFFF"/>
          </a:solidFill>
          <a:ln w="12700">
            <a:solidFill>
              <a:srgbClr val="051C2C"/>
            </a:solidFill>
            <a:prstDash val="solid"/>
          </a:ln>
        </p:spPr>
      </p:sp>
      <p:sp>
        <p:nvSpPr>
          <p:cNvPr id="18" name="Text 15"/>
          <p:cNvSpPr/>
          <p:nvPr/>
        </p:nvSpPr>
        <p:spPr>
          <a:xfrm>
            <a:off x="3187700" y="5213350"/>
            <a:ext cx="1600200" cy="238720"/>
          </a:xfrm>
          <a:prstGeom prst="rect">
            <a:avLst/>
          </a:prstGeom>
          <a:noFill/>
          <a:ln/>
        </p:spPr>
        <p:txBody>
          <a:bodyPr wrap="square" lIns="0" tIns="0" rIns="0" bIns="0" rtlCol="0" anchor="t">
            <a:normAutofit/>
          </a:bodyPr>
          <a:lstStyle/>
          <a:p>
            <a:pPr algn="ctr" indent="0" marL="0">
              <a:lnSpc>
                <a:spcPts val="1680"/>
              </a:lnSpc>
              <a:buNone/>
            </a:pPr>
            <a:r>
              <a:rPr lang="en-US" sz="1200" b="1" dirty="0">
                <a:solidFill>
                  <a:srgbClr val="051C2C"/>
                </a:solidFill>
                <a:latin typeface="Inter" pitchFamily="34" charset="0"/>
                <a:ea typeface="Inter" pitchFamily="34" charset="-122"/>
                <a:cs typeface="Inter" pitchFamily="34" charset="-120"/>
              </a:rPr>
              <a:t>Margin compounds</a:t>
            </a:r>
            <a:endParaRPr lang="en-US" sz="1200" dirty="0"/>
          </a:p>
        </p:txBody>
      </p:sp>
      <p:sp>
        <p:nvSpPr>
          <p:cNvPr id="19" name="Text 16"/>
          <p:cNvSpPr/>
          <p:nvPr/>
        </p:nvSpPr>
        <p:spPr>
          <a:xfrm>
            <a:off x="3187700" y="5439370"/>
            <a:ext cx="1600200" cy="238720"/>
          </a:xfrm>
          <a:prstGeom prst="rect">
            <a:avLst/>
          </a:prstGeom>
          <a:noFill/>
          <a:ln/>
        </p:spPr>
        <p:txBody>
          <a:bodyPr wrap="square" lIns="0" tIns="0" rIns="0" bIns="0" rtlCol="0" anchor="t">
            <a:normAutofit/>
          </a:bodyPr>
          <a:lstStyle/>
          <a:p>
            <a:pPr algn="ctr" indent="0" marL="0">
              <a:lnSpc>
                <a:spcPts val="1680"/>
              </a:lnSpc>
              <a:buNone/>
            </a:pPr>
            <a:r>
              <a:rPr lang="en-US" sz="1200" dirty="0">
                <a:solidFill>
                  <a:srgbClr val="5B6670"/>
                </a:solidFill>
                <a:latin typeface="Inter" pitchFamily="34" charset="0"/>
                <a:ea typeface="Inter" pitchFamily="34" charset="-122"/>
                <a:cs typeface="Inter" pitchFamily="34" charset="-120"/>
              </a:rPr>
              <a:t>CFO and COO</a:t>
            </a:r>
            <a:endParaRPr lang="en-US" sz="1200" dirty="0"/>
          </a:p>
        </p:txBody>
      </p:sp>
      <p:sp>
        <p:nvSpPr>
          <p:cNvPr id="20" name="Shape 17"/>
          <p:cNvSpPr/>
          <p:nvPr/>
        </p:nvSpPr>
        <p:spPr>
          <a:xfrm>
            <a:off x="1238250" y="4406900"/>
            <a:ext cx="1765300" cy="629841"/>
          </a:xfrm>
          <a:prstGeom prst="roundRect">
            <a:avLst>
              <a:gd name="adj" fmla="val 7057"/>
            </a:avLst>
          </a:prstGeom>
          <a:solidFill>
            <a:srgbClr val="E6ECFF"/>
          </a:solidFill>
          <a:ln w="12700">
            <a:solidFill>
              <a:srgbClr val="2251FF"/>
            </a:solidFill>
            <a:prstDash val="solid"/>
          </a:ln>
        </p:spPr>
      </p:sp>
      <p:sp>
        <p:nvSpPr>
          <p:cNvPr id="21" name="Text 18"/>
          <p:cNvSpPr/>
          <p:nvPr/>
        </p:nvSpPr>
        <p:spPr>
          <a:xfrm>
            <a:off x="1320800" y="4502150"/>
            <a:ext cx="1600200" cy="238720"/>
          </a:xfrm>
          <a:prstGeom prst="rect">
            <a:avLst/>
          </a:prstGeom>
          <a:noFill/>
          <a:ln/>
        </p:spPr>
        <p:txBody>
          <a:bodyPr wrap="square" lIns="0" tIns="0" rIns="0" bIns="0" rtlCol="0" anchor="t">
            <a:normAutofit/>
          </a:bodyPr>
          <a:lstStyle/>
          <a:p>
            <a:pPr algn="ctr" indent="0" marL="0">
              <a:lnSpc>
                <a:spcPts val="1680"/>
              </a:lnSpc>
              <a:buNone/>
            </a:pPr>
            <a:r>
              <a:rPr lang="en-US" sz="1200" b="1" dirty="0">
                <a:solidFill>
                  <a:srgbClr val="051C2C"/>
                </a:solidFill>
                <a:latin typeface="Inter" pitchFamily="34" charset="0"/>
                <a:ea typeface="Inter" pitchFamily="34" charset="-122"/>
                <a:cs typeface="Inter" pitchFamily="34" charset="-120"/>
              </a:rPr>
              <a:t>Allocate capital</a:t>
            </a:r>
            <a:endParaRPr lang="en-US" sz="1200" dirty="0"/>
          </a:p>
        </p:txBody>
      </p:sp>
      <p:sp>
        <p:nvSpPr>
          <p:cNvPr id="22" name="Text 19"/>
          <p:cNvSpPr/>
          <p:nvPr/>
        </p:nvSpPr>
        <p:spPr>
          <a:xfrm>
            <a:off x="1320800" y="4728170"/>
            <a:ext cx="1600200" cy="238720"/>
          </a:xfrm>
          <a:prstGeom prst="rect">
            <a:avLst/>
          </a:prstGeom>
          <a:noFill/>
          <a:ln/>
        </p:spPr>
        <p:txBody>
          <a:bodyPr wrap="square" lIns="0" tIns="0" rIns="0" bIns="0" rtlCol="0" anchor="t">
            <a:normAutofit/>
          </a:bodyPr>
          <a:lstStyle/>
          <a:p>
            <a:pPr algn="ctr" indent="0" marL="0">
              <a:lnSpc>
                <a:spcPts val="1680"/>
              </a:lnSpc>
              <a:buNone/>
            </a:pPr>
            <a:r>
              <a:rPr lang="en-US" sz="1200" dirty="0">
                <a:solidFill>
                  <a:srgbClr val="24323D"/>
                </a:solidFill>
                <a:latin typeface="Inter" pitchFamily="34" charset="0"/>
                <a:ea typeface="Inter" pitchFamily="34" charset="-122"/>
                <a:cs typeface="Inter" pitchFamily="34" charset="-120"/>
              </a:rPr>
              <a:t>CSO: build or buy</a:t>
            </a:r>
            <a:endParaRPr lang="en-US" sz="1200" dirty="0"/>
          </a:p>
        </p:txBody>
      </p:sp>
      <p:sp>
        <p:nvSpPr>
          <p:cNvPr id="23" name="Shape 20"/>
          <p:cNvSpPr/>
          <p:nvPr/>
        </p:nvSpPr>
        <p:spPr>
          <a:xfrm>
            <a:off x="1238250" y="2978150"/>
            <a:ext cx="1765300" cy="629841"/>
          </a:xfrm>
          <a:prstGeom prst="roundRect">
            <a:avLst>
              <a:gd name="adj" fmla="val 7057"/>
            </a:avLst>
          </a:prstGeom>
          <a:solidFill>
            <a:srgbClr val="E6ECFF"/>
          </a:solidFill>
          <a:ln w="12700">
            <a:solidFill>
              <a:srgbClr val="2251FF"/>
            </a:solidFill>
            <a:prstDash val="solid"/>
          </a:ln>
        </p:spPr>
      </p:sp>
      <p:sp>
        <p:nvSpPr>
          <p:cNvPr id="24" name="Text 21"/>
          <p:cNvSpPr/>
          <p:nvPr/>
        </p:nvSpPr>
        <p:spPr>
          <a:xfrm>
            <a:off x="1320800" y="3073400"/>
            <a:ext cx="1600200" cy="238720"/>
          </a:xfrm>
          <a:prstGeom prst="rect">
            <a:avLst/>
          </a:prstGeom>
          <a:noFill/>
          <a:ln/>
        </p:spPr>
        <p:txBody>
          <a:bodyPr wrap="square" lIns="0" tIns="0" rIns="0" bIns="0" rtlCol="0" anchor="t">
            <a:normAutofit/>
          </a:bodyPr>
          <a:lstStyle/>
          <a:p>
            <a:pPr algn="ctr" indent="0" marL="0">
              <a:lnSpc>
                <a:spcPts val="1680"/>
              </a:lnSpc>
              <a:buNone/>
            </a:pPr>
            <a:r>
              <a:rPr lang="en-US" sz="1200" b="1" dirty="0">
                <a:solidFill>
                  <a:srgbClr val="051C2C"/>
                </a:solidFill>
                <a:latin typeface="Inter" pitchFamily="34" charset="0"/>
                <a:ea typeface="Inter" pitchFamily="34" charset="-122"/>
                <a:cs typeface="Inter" pitchFamily="34" charset="-120"/>
              </a:rPr>
              <a:t>Innovate products</a:t>
            </a:r>
            <a:endParaRPr lang="en-US" sz="1200" dirty="0"/>
          </a:p>
        </p:txBody>
      </p:sp>
      <p:sp>
        <p:nvSpPr>
          <p:cNvPr id="25" name="Text 22"/>
          <p:cNvSpPr/>
          <p:nvPr/>
        </p:nvSpPr>
        <p:spPr>
          <a:xfrm>
            <a:off x="1320800" y="3299420"/>
            <a:ext cx="1600200" cy="238720"/>
          </a:xfrm>
          <a:prstGeom prst="rect">
            <a:avLst/>
          </a:prstGeom>
          <a:noFill/>
          <a:ln/>
        </p:spPr>
        <p:txBody>
          <a:bodyPr wrap="square" lIns="0" tIns="0" rIns="0" bIns="0" rtlCol="0" anchor="t">
            <a:normAutofit/>
          </a:bodyPr>
          <a:lstStyle/>
          <a:p>
            <a:pPr algn="ctr" indent="0" marL="0">
              <a:lnSpc>
                <a:spcPts val="1680"/>
              </a:lnSpc>
              <a:buNone/>
            </a:pPr>
            <a:r>
              <a:rPr lang="en-US" sz="1200" dirty="0">
                <a:solidFill>
                  <a:srgbClr val="24323D"/>
                </a:solidFill>
                <a:latin typeface="Inter" pitchFamily="34" charset="0"/>
                <a:ea typeface="Inter" pitchFamily="34" charset="-122"/>
                <a:cs typeface="Inter" pitchFamily="34" charset="-120"/>
              </a:rPr>
              <a:t>Product Office</a:t>
            </a:r>
            <a:endParaRPr lang="en-US" sz="1200" dirty="0"/>
          </a:p>
        </p:txBody>
      </p:sp>
      <p:sp>
        <p:nvSpPr>
          <p:cNvPr id="26" name="Shape 23"/>
          <p:cNvSpPr/>
          <p:nvPr/>
        </p:nvSpPr>
        <p:spPr>
          <a:xfrm>
            <a:off x="7232650" y="2254250"/>
            <a:ext cx="0" cy="876151"/>
          </a:xfrm>
          <a:prstGeom prst="line">
            <a:avLst/>
          </a:prstGeom>
          <a:noFill/>
          <a:ln w="38100">
            <a:solidFill>
              <a:srgbClr val="051C2C"/>
            </a:solidFill>
            <a:prstDash val="solid"/>
          </a:ln>
        </p:spPr>
      </p:sp>
      <p:sp>
        <p:nvSpPr>
          <p:cNvPr id="27" name="Text 24"/>
          <p:cNvSpPr/>
          <p:nvPr/>
        </p:nvSpPr>
        <p:spPr>
          <a:xfrm>
            <a:off x="7378700" y="2254250"/>
            <a:ext cx="4120515" cy="223490"/>
          </a:xfrm>
          <a:prstGeom prst="rect">
            <a:avLst/>
          </a:prstGeom>
          <a:noFill/>
          <a:ln/>
        </p:spPr>
        <p:txBody>
          <a:bodyPr wrap="square" lIns="0" tIns="0" rIns="0" bIns="0" rtlCol="0" anchor="t">
            <a:normAutofit/>
          </a:bodyPr>
          <a:lstStyle/>
          <a:p>
            <a:pPr algn="l" indent="0" marL="0">
              <a:lnSpc>
                <a:spcPts val="1560"/>
              </a:lnSpc>
              <a:buNone/>
            </a:pPr>
            <a:r>
              <a:rPr lang="en-US" sz="1300" b="1" dirty="0">
                <a:solidFill>
                  <a:srgbClr val="051C2C"/>
                </a:solidFill>
                <a:latin typeface="Inter" pitchFamily="34" charset="0"/>
                <a:ea typeface="Inter" pitchFamily="34" charset="-122"/>
                <a:cs typeface="Inter" pitchFamily="34" charset="-120"/>
              </a:rPr>
              <a:t>Operating loop: weekly</a:t>
            </a:r>
            <a:endParaRPr lang="en-US" sz="1300" dirty="0"/>
          </a:p>
        </p:txBody>
      </p:sp>
      <p:sp>
        <p:nvSpPr>
          <p:cNvPr id="28" name="Text 25"/>
          <p:cNvSpPr/>
          <p:nvPr/>
        </p:nvSpPr>
        <p:spPr>
          <a:xfrm>
            <a:off x="7378700" y="2490440"/>
            <a:ext cx="4120515" cy="66536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3C4A55"/>
                </a:solidFill>
                <a:latin typeface="Inter" pitchFamily="34" charset="0"/>
                <a:ea typeface="Inter" pitchFamily="34" charset="-122"/>
                <a:cs typeface="Inter" pitchFamily="34" charset="-120"/>
              </a:rPr>
              <a:t>Fix what clients feel before they raise it, earn the right to sell, then renew and expand. Quality comes before cross-sell.</a:t>
            </a:r>
            <a:endParaRPr lang="en-US" sz="1200" dirty="0"/>
          </a:p>
        </p:txBody>
      </p:sp>
      <p:sp>
        <p:nvSpPr>
          <p:cNvPr id="29" name="Shape 26"/>
          <p:cNvSpPr/>
          <p:nvPr/>
        </p:nvSpPr>
        <p:spPr>
          <a:xfrm>
            <a:off x="7232650" y="3308201"/>
            <a:ext cx="0" cy="876151"/>
          </a:xfrm>
          <a:prstGeom prst="line">
            <a:avLst/>
          </a:prstGeom>
          <a:noFill/>
          <a:ln w="38100">
            <a:solidFill>
              <a:srgbClr val="2251FF"/>
            </a:solidFill>
            <a:prstDash val="solid"/>
          </a:ln>
        </p:spPr>
      </p:sp>
      <p:sp>
        <p:nvSpPr>
          <p:cNvPr id="30" name="Text 27"/>
          <p:cNvSpPr/>
          <p:nvPr/>
        </p:nvSpPr>
        <p:spPr>
          <a:xfrm>
            <a:off x="7378700" y="3308201"/>
            <a:ext cx="4120515" cy="223490"/>
          </a:xfrm>
          <a:prstGeom prst="rect">
            <a:avLst/>
          </a:prstGeom>
          <a:noFill/>
          <a:ln/>
        </p:spPr>
        <p:txBody>
          <a:bodyPr wrap="square" lIns="0" tIns="0" rIns="0" bIns="0" rtlCol="0" anchor="t">
            <a:normAutofit/>
          </a:bodyPr>
          <a:lstStyle/>
          <a:p>
            <a:pPr algn="l" indent="0" marL="0">
              <a:lnSpc>
                <a:spcPts val="1560"/>
              </a:lnSpc>
              <a:buNone/>
            </a:pPr>
            <a:r>
              <a:rPr lang="en-US" sz="1300" b="1" dirty="0">
                <a:solidFill>
                  <a:srgbClr val="051C2C"/>
                </a:solidFill>
                <a:latin typeface="Inter" pitchFamily="34" charset="0"/>
                <a:ea typeface="Inter" pitchFamily="34" charset="-122"/>
                <a:cs typeface="Inter" pitchFamily="34" charset="-120"/>
              </a:rPr>
              <a:t>Strategic loop: continuous</a:t>
            </a:r>
            <a:endParaRPr lang="en-US" sz="1300" dirty="0"/>
          </a:p>
        </p:txBody>
      </p:sp>
      <p:sp>
        <p:nvSpPr>
          <p:cNvPr id="31" name="Text 28"/>
          <p:cNvSpPr/>
          <p:nvPr/>
        </p:nvSpPr>
        <p:spPr>
          <a:xfrm>
            <a:off x="7378700" y="3544391"/>
            <a:ext cx="4120515" cy="66536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3C4A55"/>
                </a:solidFill>
                <a:latin typeface="Inter" pitchFamily="34" charset="0"/>
                <a:ea typeface="Inter" pitchFamily="34" charset="-122"/>
                <a:cs typeface="Inter" pitchFamily="34" charset="-120"/>
              </a:rPr>
              <a:t>Freed margin moves where live revenue impact is highest: build, partner or buy (M&amp;A) to close portfolio gaps.</a:t>
            </a:r>
            <a:endParaRPr lang="en-US" sz="1200" dirty="0"/>
          </a:p>
        </p:txBody>
      </p:sp>
      <p:sp>
        <p:nvSpPr>
          <p:cNvPr id="32" name="Shape 29"/>
          <p:cNvSpPr/>
          <p:nvPr/>
        </p:nvSpPr>
        <p:spPr>
          <a:xfrm>
            <a:off x="7232650" y="4362152"/>
            <a:ext cx="0" cy="662831"/>
          </a:xfrm>
          <a:prstGeom prst="line">
            <a:avLst/>
          </a:prstGeom>
          <a:noFill/>
          <a:ln w="38100">
            <a:solidFill>
              <a:srgbClr val="00A9F4"/>
            </a:solidFill>
            <a:prstDash val="solid"/>
          </a:ln>
        </p:spPr>
      </p:sp>
      <p:sp>
        <p:nvSpPr>
          <p:cNvPr id="33" name="Text 30"/>
          <p:cNvSpPr/>
          <p:nvPr/>
        </p:nvSpPr>
        <p:spPr>
          <a:xfrm>
            <a:off x="7378700" y="4362152"/>
            <a:ext cx="4120515" cy="223490"/>
          </a:xfrm>
          <a:prstGeom prst="rect">
            <a:avLst/>
          </a:prstGeom>
          <a:noFill/>
          <a:ln/>
        </p:spPr>
        <p:txBody>
          <a:bodyPr wrap="square" lIns="0" tIns="0" rIns="0" bIns="0" rtlCol="0" anchor="t">
            <a:normAutofit/>
          </a:bodyPr>
          <a:lstStyle/>
          <a:p>
            <a:pPr algn="l" indent="0" marL="0">
              <a:lnSpc>
                <a:spcPts val="1560"/>
              </a:lnSpc>
              <a:buNone/>
            </a:pPr>
            <a:r>
              <a:rPr lang="en-US" sz="1300" b="1" dirty="0">
                <a:solidFill>
                  <a:srgbClr val="051C2C"/>
                </a:solidFill>
                <a:latin typeface="Inter" pitchFamily="34" charset="0"/>
                <a:ea typeface="Inter" pitchFamily="34" charset="-122"/>
                <a:cs typeface="Inter" pitchFamily="34" charset="-120"/>
              </a:rPr>
              <a:t>The compounding edge</a:t>
            </a:r>
            <a:endParaRPr lang="en-US" sz="1300" dirty="0"/>
          </a:p>
        </p:txBody>
      </p:sp>
      <p:sp>
        <p:nvSpPr>
          <p:cNvPr id="34" name="Text 31"/>
          <p:cNvSpPr/>
          <p:nvPr/>
        </p:nvSpPr>
        <p:spPr>
          <a:xfrm>
            <a:off x="7378700" y="4598343"/>
            <a:ext cx="4120515"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3C4A55"/>
                </a:solidFill>
                <a:latin typeface="Inter" pitchFamily="34" charset="0"/>
                <a:ea typeface="Inter" pitchFamily="34" charset="-122"/>
                <a:cs typeface="Inter" pitchFamily="34" charset="-120"/>
              </a:rPr>
              <a:t>Every turn adds usage, signal and human feedback, so it gets sharper and FIS moves faster than competitors.</a:t>
            </a:r>
            <a:endParaRPr lang="en-US" sz="1200" dirty="0"/>
          </a:p>
        </p:txBody>
      </p:sp>
      <p:sp>
        <p:nvSpPr>
          <p:cNvPr id="35" name="Text 32"/>
          <p:cNvSpPr/>
          <p:nvPr/>
        </p:nvSpPr>
        <p:spPr>
          <a:xfrm>
            <a:off x="812800" y="6238280"/>
            <a:ext cx="2366546"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680"/>
                </a:solidFill>
                <a:latin typeface="Inter" pitchFamily="34" charset="0"/>
                <a:ea typeface="Inter" pitchFamily="34" charset="-122"/>
                <a:cs typeface="Inter" pitchFamily="34" charset="-120"/>
              </a:rPr>
              <a:t>Enterprise Intelligence | FIS</a:t>
            </a:r>
            <a:endParaRPr lang="en-US" sz="1200" dirty="0"/>
          </a:p>
        </p:txBody>
      </p:sp>
      <p:sp>
        <p:nvSpPr>
          <p:cNvPr id="36" name="Text 33"/>
          <p:cNvSpPr/>
          <p:nvPr/>
        </p:nvSpPr>
        <p:spPr>
          <a:xfrm>
            <a:off x="11204426" y="6238280"/>
            <a:ext cx="174774"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B7680"/>
                </a:solidFill>
                <a:latin typeface="Inter" pitchFamily="34" charset="0"/>
                <a:ea typeface="Inter" pitchFamily="34" charset="-122"/>
                <a:cs typeface="Inter" pitchFamily="34" charset="-120"/>
              </a:rPr>
              <a:t>11</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BFBF9"/>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2251FF"/>
                </a:solidFill>
                <a:latin typeface="Inter" pitchFamily="34" charset="0"/>
                <a:ea typeface="Inter" pitchFamily="34" charset="-122"/>
                <a:cs typeface="Inter" pitchFamily="34" charset="-120"/>
              </a:rPr>
              <a:t>THE AGENTIC ORGANIZATION</a:t>
            </a:r>
            <a:endParaRPr lang="en-US" sz="1200" dirty="0"/>
          </a:p>
        </p:txBody>
      </p:sp>
      <p:sp>
        <p:nvSpPr>
          <p:cNvPr id="3" name="Text 1"/>
          <p:cNvSpPr/>
          <p:nvPr>
            <p:ph type="title"/>
          </p:nvPr>
        </p:nvSpPr>
        <p:spPr>
          <a:xfrm>
            <a:off x="812800" y="1127720"/>
            <a:ext cx="10883392" cy="784820"/>
          </a:xfrm>
          <a:prstGeom prst="rect">
            <a:avLst/>
          </a:prstGeom>
          <a:noFill/>
          <a:ln/>
        </p:spPr>
        <p:txBody>
          <a:bodyPr wrap="square" lIns="0" tIns="0" rIns="0" bIns="0" rtlCol="0" anchor="t">
            <a:normAutofit/>
          </a:bodyPr>
          <a:lstStyle/>
          <a:p>
            <a:pPr algn="l" indent="0" marL="0">
              <a:lnSpc>
                <a:spcPts val="2990"/>
              </a:lnSpc>
              <a:buNone/>
            </a:pPr>
            <a:r>
              <a:rPr lang="en-US" sz="2600" b="0" i="0" dirty="0">
                <a:solidFill>
                  <a:srgbClr val="051C2C"/>
                </a:solidFill>
                <a:latin typeface="Source Serif 4" pitchFamily="18" charset="0"/>
                <a:ea typeface="Source Serif 4" pitchFamily="18" charset="-122"/>
                <a:cs typeface="Source Serif 4" pitchFamily="18" charset="-120"/>
              </a:rPr>
              <a:t>Agents do the work in the background. Our people make the critical calls.</a:t>
            </a:r>
            <a:endParaRPr lang="en-US" sz="2600" dirty="0"/>
          </a:p>
        </p:txBody>
      </p:sp>
      <p:sp>
        <p:nvSpPr>
          <p:cNvPr id="4" name="Shape 2"/>
          <p:cNvSpPr/>
          <p:nvPr/>
        </p:nvSpPr>
        <p:spPr>
          <a:xfrm>
            <a:off x="812800" y="2487811"/>
            <a:ext cx="10566400" cy="0"/>
          </a:xfrm>
          <a:prstGeom prst="line">
            <a:avLst/>
          </a:prstGeom>
          <a:noFill/>
          <a:ln w="12700">
            <a:solidFill>
              <a:srgbClr val="051C2C"/>
            </a:solidFill>
            <a:prstDash val="solid"/>
          </a:ln>
        </p:spPr>
      </p:sp>
      <p:sp>
        <p:nvSpPr>
          <p:cNvPr id="5" name="Text 3"/>
          <p:cNvSpPr/>
          <p:nvPr/>
        </p:nvSpPr>
        <p:spPr>
          <a:xfrm>
            <a:off x="812800" y="2191941"/>
            <a:ext cx="2354580"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6B7680"/>
                </a:solidFill>
                <a:latin typeface="Inter" pitchFamily="34" charset="0"/>
                <a:ea typeface="Inter" pitchFamily="34" charset="-122"/>
                <a:cs typeface="Inter" pitchFamily="34" charset="-120"/>
              </a:rPr>
              <a:t>CONFIDENCE AND IMPACT</a:t>
            </a:r>
            <a:endParaRPr lang="en-US" sz="1200" dirty="0"/>
          </a:p>
        </p:txBody>
      </p:sp>
      <p:sp>
        <p:nvSpPr>
          <p:cNvPr id="6" name="Text 4"/>
          <p:cNvSpPr/>
          <p:nvPr/>
        </p:nvSpPr>
        <p:spPr>
          <a:xfrm>
            <a:off x="3352800" y="2191941"/>
            <a:ext cx="2747010"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6B7680"/>
                </a:solidFill>
                <a:latin typeface="Inter" pitchFamily="34" charset="0"/>
                <a:ea typeface="Inter" pitchFamily="34" charset="-122"/>
                <a:cs typeface="Inter" pitchFamily="34" charset="-120"/>
              </a:rPr>
              <a:t>WHO ACTS</a:t>
            </a:r>
            <a:endParaRPr lang="en-US" sz="1200" dirty="0"/>
          </a:p>
        </p:txBody>
      </p:sp>
      <p:sp>
        <p:nvSpPr>
          <p:cNvPr id="7" name="Text 5"/>
          <p:cNvSpPr/>
          <p:nvPr/>
        </p:nvSpPr>
        <p:spPr>
          <a:xfrm>
            <a:off x="6273800" y="2191941"/>
            <a:ext cx="5258562"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6B7680"/>
                </a:solidFill>
                <a:latin typeface="Inter" pitchFamily="34" charset="0"/>
                <a:ea typeface="Inter" pitchFamily="34" charset="-122"/>
                <a:cs typeface="Inter" pitchFamily="34" charset="-120"/>
              </a:rPr>
              <a:t>EXAMPLES</a:t>
            </a:r>
            <a:endParaRPr lang="en-US" sz="1200" dirty="0"/>
          </a:p>
        </p:txBody>
      </p:sp>
      <p:sp>
        <p:nvSpPr>
          <p:cNvPr id="8" name="Shape 6"/>
          <p:cNvSpPr/>
          <p:nvPr/>
        </p:nvSpPr>
        <p:spPr>
          <a:xfrm>
            <a:off x="812800" y="3228777"/>
            <a:ext cx="10566400" cy="0"/>
          </a:xfrm>
          <a:prstGeom prst="line">
            <a:avLst/>
          </a:prstGeom>
          <a:noFill/>
          <a:ln w="6350">
            <a:solidFill>
              <a:srgbClr val="C9D1D8"/>
            </a:solidFill>
            <a:prstDash val="solid"/>
          </a:ln>
        </p:spPr>
      </p:sp>
      <p:sp>
        <p:nvSpPr>
          <p:cNvPr id="9" name="Shape 7"/>
          <p:cNvSpPr/>
          <p:nvPr/>
        </p:nvSpPr>
        <p:spPr>
          <a:xfrm>
            <a:off x="812800" y="2682081"/>
            <a:ext cx="101600" cy="355600"/>
          </a:xfrm>
          <a:prstGeom prst="rect">
            <a:avLst/>
          </a:prstGeom>
          <a:solidFill>
            <a:srgbClr val="2251FF"/>
          </a:solidFill>
          <a:ln/>
        </p:spPr>
      </p:sp>
      <p:sp>
        <p:nvSpPr>
          <p:cNvPr id="10" name="Text 8"/>
          <p:cNvSpPr/>
          <p:nvPr/>
        </p:nvSpPr>
        <p:spPr>
          <a:xfrm>
            <a:off x="1016000" y="2646561"/>
            <a:ext cx="2145284" cy="452041"/>
          </a:xfrm>
          <a:prstGeom prst="rect">
            <a:avLst/>
          </a:prstGeom>
          <a:noFill/>
          <a:ln/>
        </p:spPr>
        <p:txBody>
          <a:bodyPr wrap="square" lIns="0" tIns="0" rIns="0" bIns="0" rtlCol="0" anchor="t">
            <a:normAutofit/>
          </a:bodyPr>
          <a:lstStyle/>
          <a:p>
            <a:pPr algn="l" indent="0" marL="0">
              <a:lnSpc>
                <a:spcPts val="1680"/>
              </a:lnSpc>
              <a:buNone/>
            </a:pPr>
            <a:r>
              <a:rPr lang="en-US" sz="1400" b="1" dirty="0">
                <a:solidFill>
                  <a:srgbClr val="051C2C"/>
                </a:solidFill>
                <a:latin typeface="Inter" pitchFamily="34" charset="0"/>
                <a:ea typeface="Inter" pitchFamily="34" charset="-122"/>
                <a:cs typeface="Inter" pitchFamily="34" charset="-120"/>
              </a:rPr>
              <a:t>High confidence, low impact</a:t>
            </a:r>
            <a:endParaRPr lang="en-US" sz="1400" dirty="0"/>
          </a:p>
        </p:txBody>
      </p:sp>
      <p:sp>
        <p:nvSpPr>
          <p:cNvPr id="11" name="Text 9"/>
          <p:cNvSpPr/>
          <p:nvPr/>
        </p:nvSpPr>
        <p:spPr>
          <a:xfrm>
            <a:off x="3352800" y="2646561"/>
            <a:ext cx="2747010" cy="452041"/>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24323D"/>
                </a:solidFill>
                <a:latin typeface="Inter" pitchFamily="34" charset="0"/>
                <a:ea typeface="Inter" pitchFamily="34" charset="-122"/>
                <a:cs typeface="Inter" pitchFamily="34" charset="-120"/>
              </a:rPr>
              <a:t>Agent executes</a:t>
            </a:r>
            <a:r>
              <a:rPr lang="en-US" sz="1200" dirty="0">
                <a:solidFill>
                  <a:srgbClr val="24323D"/>
                </a:solidFill>
                <a:latin typeface="Inter" pitchFamily="34" charset="0"/>
                <a:ea typeface="Inter" pitchFamily="34" charset="-122"/>
                <a:cs typeface="Inter" pitchFamily="34" charset="-120"/>
              </a:rPr>
              <a:t> automatically; logged and auditable</a:t>
            </a:r>
            <a:endParaRPr lang="en-US" sz="1200" dirty="0"/>
          </a:p>
        </p:txBody>
      </p:sp>
      <p:sp>
        <p:nvSpPr>
          <p:cNvPr id="12" name="Text 10"/>
          <p:cNvSpPr/>
          <p:nvPr/>
        </p:nvSpPr>
        <p:spPr>
          <a:xfrm>
            <a:off x="6273800" y="2646561"/>
            <a:ext cx="5258562"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3C4A55"/>
                </a:solidFill>
                <a:latin typeface="Inter" pitchFamily="34" charset="0"/>
                <a:ea typeface="Inter" pitchFamily="34" charset="-122"/>
                <a:cs typeface="Inter" pitchFamily="34" charset="-120"/>
              </a:rPr>
              <a:t>Flag an unbilled SKU, refresh the forecast, route a ticket, update a risk score</a:t>
            </a:r>
            <a:endParaRPr lang="en-US" sz="1200" dirty="0"/>
          </a:p>
        </p:txBody>
      </p:sp>
      <p:sp>
        <p:nvSpPr>
          <p:cNvPr id="13" name="Shape 11"/>
          <p:cNvSpPr/>
          <p:nvPr/>
        </p:nvSpPr>
        <p:spPr>
          <a:xfrm>
            <a:off x="812800" y="3966567"/>
            <a:ext cx="10566400" cy="0"/>
          </a:xfrm>
          <a:prstGeom prst="line">
            <a:avLst/>
          </a:prstGeom>
          <a:noFill/>
          <a:ln w="6350">
            <a:solidFill>
              <a:srgbClr val="C9D1D8"/>
            </a:solidFill>
            <a:prstDash val="solid"/>
          </a:ln>
        </p:spPr>
      </p:sp>
      <p:sp>
        <p:nvSpPr>
          <p:cNvPr id="14" name="Shape 12"/>
          <p:cNvSpPr/>
          <p:nvPr/>
        </p:nvSpPr>
        <p:spPr>
          <a:xfrm>
            <a:off x="812800" y="3384352"/>
            <a:ext cx="101600" cy="355600"/>
          </a:xfrm>
          <a:prstGeom prst="rect">
            <a:avLst/>
          </a:prstGeom>
          <a:solidFill>
            <a:srgbClr val="5F86B0"/>
          </a:solidFill>
          <a:ln/>
        </p:spPr>
      </p:sp>
      <p:sp>
        <p:nvSpPr>
          <p:cNvPr id="15" name="Text 13"/>
          <p:cNvSpPr/>
          <p:nvPr/>
        </p:nvSpPr>
        <p:spPr>
          <a:xfrm>
            <a:off x="1016000" y="3455491"/>
            <a:ext cx="2077164" cy="238720"/>
          </a:xfrm>
          <a:prstGeom prst="rect">
            <a:avLst/>
          </a:prstGeom>
          <a:noFill/>
          <a:ln/>
        </p:spPr>
        <p:txBody>
          <a:bodyPr wrap="square" lIns="0" tIns="0" rIns="0" bIns="0" rtlCol="0" anchor="t">
            <a:normAutofit/>
          </a:bodyPr>
          <a:lstStyle/>
          <a:p>
            <a:pPr algn="l" indent="0" marL="0">
              <a:lnSpc>
                <a:spcPts val="1680"/>
              </a:lnSpc>
              <a:buNone/>
            </a:pPr>
            <a:r>
              <a:rPr lang="en-US" sz="1400" b="1" dirty="0">
                <a:solidFill>
                  <a:srgbClr val="051C2C"/>
                </a:solidFill>
                <a:latin typeface="Inter" pitchFamily="34" charset="0"/>
                <a:ea typeface="Inter" pitchFamily="34" charset="-122"/>
                <a:cs typeface="Inter" pitchFamily="34" charset="-120"/>
              </a:rPr>
              <a:t>Medium confidence</a:t>
            </a:r>
            <a:endParaRPr lang="en-US" sz="1400" dirty="0"/>
          </a:p>
        </p:txBody>
      </p:sp>
      <p:sp>
        <p:nvSpPr>
          <p:cNvPr id="16" name="Text 14"/>
          <p:cNvSpPr/>
          <p:nvPr/>
        </p:nvSpPr>
        <p:spPr>
          <a:xfrm>
            <a:off x="3352800" y="3384352"/>
            <a:ext cx="2747010" cy="452041"/>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24323D"/>
                </a:solidFill>
                <a:latin typeface="Inter" pitchFamily="34" charset="0"/>
                <a:ea typeface="Inter" pitchFamily="34" charset="-122"/>
                <a:cs typeface="Inter" pitchFamily="34" charset="-120"/>
              </a:rPr>
              <a:t>Agent recommends,</a:t>
            </a:r>
            <a:r>
              <a:rPr lang="en-US" sz="1200" dirty="0">
                <a:solidFill>
                  <a:srgbClr val="24323D"/>
                </a:solidFill>
                <a:latin typeface="Inter" pitchFamily="34" charset="0"/>
                <a:ea typeface="Inter" pitchFamily="34" charset="-122"/>
                <a:cs typeface="Inter" pitchFamily="34" charset="-120"/>
              </a:rPr>
              <a:t> a person approves in one step</a:t>
            </a:r>
            <a:endParaRPr lang="en-US" sz="1200" dirty="0"/>
          </a:p>
        </p:txBody>
      </p:sp>
      <p:sp>
        <p:nvSpPr>
          <p:cNvPr id="17" name="Text 15"/>
          <p:cNvSpPr/>
          <p:nvPr/>
        </p:nvSpPr>
        <p:spPr>
          <a:xfrm>
            <a:off x="6273800" y="3384352"/>
            <a:ext cx="525856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3C4A55"/>
                </a:solidFill>
                <a:latin typeface="Inter" pitchFamily="34" charset="0"/>
                <a:ea typeface="Inter" pitchFamily="34" charset="-122"/>
                <a:cs typeface="Inter" pitchFamily="34" charset="-120"/>
              </a:rPr>
              <a:t>Renewal play, cross-sell pitch, service recovery plan</a:t>
            </a:r>
            <a:endParaRPr lang="en-US" sz="1200" dirty="0"/>
          </a:p>
        </p:txBody>
      </p:sp>
      <p:sp>
        <p:nvSpPr>
          <p:cNvPr id="18" name="Shape 16"/>
          <p:cNvSpPr/>
          <p:nvPr/>
        </p:nvSpPr>
        <p:spPr>
          <a:xfrm>
            <a:off x="812800" y="4704358"/>
            <a:ext cx="10566400" cy="0"/>
          </a:xfrm>
          <a:prstGeom prst="line">
            <a:avLst/>
          </a:prstGeom>
          <a:noFill/>
          <a:ln w="6350">
            <a:solidFill>
              <a:srgbClr val="C9D1D8"/>
            </a:solidFill>
            <a:prstDash val="solid"/>
          </a:ln>
        </p:spPr>
      </p:sp>
      <p:sp>
        <p:nvSpPr>
          <p:cNvPr id="19" name="Shape 17"/>
          <p:cNvSpPr/>
          <p:nvPr/>
        </p:nvSpPr>
        <p:spPr>
          <a:xfrm>
            <a:off x="812800" y="4157663"/>
            <a:ext cx="101600" cy="355600"/>
          </a:xfrm>
          <a:prstGeom prst="rect">
            <a:avLst/>
          </a:prstGeom>
          <a:solidFill>
            <a:srgbClr val="051C2C"/>
          </a:solidFill>
          <a:ln/>
        </p:spPr>
      </p:sp>
      <p:sp>
        <p:nvSpPr>
          <p:cNvPr id="20" name="Text 18"/>
          <p:cNvSpPr/>
          <p:nvPr/>
        </p:nvSpPr>
        <p:spPr>
          <a:xfrm>
            <a:off x="1016000" y="4122142"/>
            <a:ext cx="2145284" cy="452041"/>
          </a:xfrm>
          <a:prstGeom prst="rect">
            <a:avLst/>
          </a:prstGeom>
          <a:noFill/>
          <a:ln/>
        </p:spPr>
        <p:txBody>
          <a:bodyPr wrap="square" lIns="0" tIns="0" rIns="0" bIns="0" rtlCol="0" anchor="t">
            <a:normAutofit/>
          </a:bodyPr>
          <a:lstStyle/>
          <a:p>
            <a:pPr algn="l" indent="0" marL="0">
              <a:lnSpc>
                <a:spcPts val="1680"/>
              </a:lnSpc>
              <a:buNone/>
            </a:pPr>
            <a:r>
              <a:rPr lang="en-US" sz="1400" b="1" dirty="0">
                <a:solidFill>
                  <a:srgbClr val="051C2C"/>
                </a:solidFill>
                <a:latin typeface="Inter" pitchFamily="34" charset="0"/>
                <a:ea typeface="Inter" pitchFamily="34" charset="-122"/>
                <a:cs typeface="Inter" pitchFamily="34" charset="-120"/>
              </a:rPr>
              <a:t>Low confidence or high impact</a:t>
            </a:r>
            <a:endParaRPr lang="en-US" sz="1400" dirty="0"/>
          </a:p>
        </p:txBody>
      </p:sp>
      <p:sp>
        <p:nvSpPr>
          <p:cNvPr id="21" name="Text 19"/>
          <p:cNvSpPr/>
          <p:nvPr/>
        </p:nvSpPr>
        <p:spPr>
          <a:xfrm>
            <a:off x="3352800" y="4122142"/>
            <a:ext cx="2747010" cy="452041"/>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24323D"/>
                </a:solidFill>
                <a:latin typeface="Inter" pitchFamily="34" charset="0"/>
                <a:ea typeface="Inter" pitchFamily="34" charset="-122"/>
                <a:cs typeface="Inter" pitchFamily="34" charset="-120"/>
              </a:rPr>
              <a:t>Person decides,</a:t>
            </a:r>
            <a:r>
              <a:rPr lang="en-US" sz="1200" dirty="0">
                <a:solidFill>
                  <a:srgbClr val="24323D"/>
                </a:solidFill>
                <a:latin typeface="Inter" pitchFamily="34" charset="0"/>
                <a:ea typeface="Inter" pitchFamily="34" charset="-122"/>
                <a:cs typeface="Inter" pitchFamily="34" charset="-120"/>
              </a:rPr>
              <a:t> agent supplies the evidence</a:t>
            </a:r>
            <a:endParaRPr lang="en-US" sz="1200" dirty="0"/>
          </a:p>
        </p:txBody>
      </p:sp>
      <p:sp>
        <p:nvSpPr>
          <p:cNvPr id="22" name="Text 20"/>
          <p:cNvSpPr/>
          <p:nvPr/>
        </p:nvSpPr>
        <p:spPr>
          <a:xfrm>
            <a:off x="6273800" y="4122142"/>
            <a:ext cx="525856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3C4A55"/>
                </a:solidFill>
                <a:latin typeface="Inter" pitchFamily="34" charset="0"/>
                <a:ea typeface="Inter" pitchFamily="34" charset="-122"/>
                <a:cs typeface="Inter" pitchFamily="34" charset="-120"/>
              </a:rPr>
              <a:t>Back-bill to a strategic client, pricing concession, capital reallocation</a:t>
            </a:r>
            <a:endParaRPr lang="en-US" sz="1200" dirty="0"/>
          </a:p>
        </p:txBody>
      </p:sp>
      <p:sp>
        <p:nvSpPr>
          <p:cNvPr id="23" name="Text 21"/>
          <p:cNvSpPr/>
          <p:nvPr/>
        </p:nvSpPr>
        <p:spPr>
          <a:xfrm>
            <a:off x="812800" y="5012333"/>
            <a:ext cx="5284724" cy="452041"/>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051C2C"/>
                </a:solidFill>
                <a:latin typeface="Inter" pitchFamily="34" charset="0"/>
                <a:ea typeface="Inter" pitchFamily="34" charset="-122"/>
                <a:cs typeface="Inter" pitchFamily="34" charset="-120"/>
              </a:rPr>
              <a:t>Learning loop.</a:t>
            </a:r>
            <a:r>
              <a:rPr lang="en-US" sz="1200" dirty="0">
                <a:solidFill>
                  <a:srgbClr val="3C4A55"/>
                </a:solidFill>
                <a:latin typeface="Inter" pitchFamily="34" charset="0"/>
                <a:ea typeface="Inter" pitchFamily="34" charset="-122"/>
                <a:cs typeface="Inter" pitchFamily="34" charset="-120"/>
              </a:rPr>
              <a:t> Every human decision becomes feedback, so agents earn autonomy over time.</a:t>
            </a:r>
            <a:endParaRPr lang="en-US" sz="1200" dirty="0"/>
          </a:p>
        </p:txBody>
      </p:sp>
      <p:sp>
        <p:nvSpPr>
          <p:cNvPr id="24" name="Text 22"/>
          <p:cNvSpPr/>
          <p:nvPr/>
        </p:nvSpPr>
        <p:spPr>
          <a:xfrm>
            <a:off x="6248400" y="5012333"/>
            <a:ext cx="5284724" cy="452041"/>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051C2C"/>
                </a:solidFill>
                <a:latin typeface="Inter" pitchFamily="34" charset="0"/>
                <a:ea typeface="Inter" pitchFamily="34" charset="-122"/>
                <a:cs typeface="Inter" pitchFamily="34" charset="-120"/>
              </a:rPr>
              <a:t>Guardrails.</a:t>
            </a:r>
            <a:r>
              <a:rPr lang="en-US" sz="1200" dirty="0">
                <a:solidFill>
                  <a:srgbClr val="3C4A55"/>
                </a:solidFill>
                <a:latin typeface="Inter" pitchFamily="34" charset="0"/>
                <a:ea typeface="Inter" pitchFamily="34" charset="-122"/>
                <a:cs typeface="Inter" pitchFamily="34" charset="-120"/>
              </a:rPr>
              <a:t> Policy thresholds, role-based access and a full audit trail for SOX and PCI-DSS.</a:t>
            </a:r>
            <a:endParaRPr lang="en-US" sz="1200" dirty="0"/>
          </a:p>
        </p:txBody>
      </p:sp>
      <p:sp>
        <p:nvSpPr>
          <p:cNvPr id="25" name="Text 23"/>
          <p:cNvSpPr/>
          <p:nvPr/>
        </p:nvSpPr>
        <p:spPr>
          <a:xfrm>
            <a:off x="812800" y="6238280"/>
            <a:ext cx="2366546"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680"/>
                </a:solidFill>
                <a:latin typeface="Inter" pitchFamily="34" charset="0"/>
                <a:ea typeface="Inter" pitchFamily="34" charset="-122"/>
                <a:cs typeface="Inter" pitchFamily="34" charset="-120"/>
              </a:rPr>
              <a:t>Enterprise Intelligence | FIS</a:t>
            </a:r>
            <a:endParaRPr lang="en-US" sz="1200" dirty="0"/>
          </a:p>
        </p:txBody>
      </p:sp>
      <p:sp>
        <p:nvSpPr>
          <p:cNvPr id="26" name="Text 24"/>
          <p:cNvSpPr/>
          <p:nvPr/>
        </p:nvSpPr>
        <p:spPr>
          <a:xfrm>
            <a:off x="11173470" y="6238280"/>
            <a:ext cx="20573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B7680"/>
                </a:solidFill>
                <a:latin typeface="Inter" pitchFamily="34" charset="0"/>
                <a:ea typeface="Inter" pitchFamily="34" charset="-122"/>
                <a:cs typeface="Inter" pitchFamily="34" charset="-120"/>
              </a:rPr>
              <a:t>12</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51C2C"/>
        </a:solidFill>
      </p:bgPr>
    </p:bg>
    <p:spTree>
      <p:nvGrpSpPr>
        <p:cNvPr id="1" name=""/>
        <p:cNvGrpSpPr/>
        <p:nvPr/>
      </p:nvGrpSpPr>
      <p:grpSpPr>
        <a:xfrm>
          <a:off x="0" y="0"/>
          <a:ext cx="0" cy="0"/>
          <a:chOff x="0" y="0"/>
          <a:chExt cx="0" cy="0"/>
        </a:xfrm>
      </p:grpSpPr>
      <p:sp>
        <p:nvSpPr>
          <p:cNvPr id="2" name="Text 0"/>
          <p:cNvSpPr/>
          <p:nvPr/>
        </p:nvSpPr>
        <p:spPr>
          <a:xfrm>
            <a:off x="812800" y="169932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200" kern="0" dirty="0">
                <a:solidFill>
                  <a:srgbClr val="00A9F4"/>
                </a:solidFill>
                <a:latin typeface="Inter" pitchFamily="34" charset="0"/>
                <a:ea typeface="Inter" pitchFamily="34" charset="-122"/>
                <a:cs typeface="Inter" pitchFamily="34" charset="-120"/>
              </a:rPr>
              <a:t>THE SYMPHONY</a:t>
            </a:r>
            <a:endParaRPr lang="en-US" sz="1200" dirty="0"/>
          </a:p>
        </p:txBody>
      </p:sp>
      <p:sp>
        <p:nvSpPr>
          <p:cNvPr id="3" name="Text 1"/>
          <p:cNvSpPr/>
          <p:nvPr>
            <p:ph type="title"/>
          </p:nvPr>
        </p:nvSpPr>
        <p:spPr>
          <a:xfrm>
            <a:off x="812800" y="2268240"/>
            <a:ext cx="9810750" cy="640060"/>
          </a:xfrm>
          <a:prstGeom prst="rect">
            <a:avLst/>
          </a:prstGeom>
          <a:noFill/>
          <a:ln/>
        </p:spPr>
        <p:txBody>
          <a:bodyPr wrap="square" lIns="0" tIns="0" rIns="0" bIns="0" rtlCol="0" anchor="t">
            <a:normAutofit/>
          </a:bodyPr>
          <a:lstStyle/>
          <a:p>
            <a:pPr algn="l" indent="0" marL="0">
              <a:lnSpc>
                <a:spcPts val="4840"/>
              </a:lnSpc>
              <a:buNone/>
            </a:pPr>
            <a:r>
              <a:rPr lang="en-US" sz="4400" b="0" i="0" dirty="0">
                <a:solidFill>
                  <a:srgbClr val="F4F6F8"/>
                </a:solidFill>
                <a:latin typeface="Source Serif 4" pitchFamily="18" charset="0"/>
                <a:ea typeface="Source Serif 4" pitchFamily="18" charset="-122"/>
                <a:cs typeface="Source Serif 4" pitchFamily="18" charset="-120"/>
              </a:rPr>
              <a:t>Think at scale. Care up close.</a:t>
            </a:r>
            <a:endParaRPr lang="en-US" sz="4400" dirty="0"/>
          </a:p>
        </p:txBody>
      </p:sp>
      <p:sp>
        <p:nvSpPr>
          <p:cNvPr id="4" name="Text 2"/>
          <p:cNvSpPr/>
          <p:nvPr/>
        </p:nvSpPr>
        <p:spPr>
          <a:xfrm>
            <a:off x="812800" y="3238500"/>
            <a:ext cx="9156700" cy="59432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C9D4DD"/>
                </a:solidFill>
                <a:latin typeface="Inter" pitchFamily="34" charset="0"/>
                <a:ea typeface="Inter" pitchFamily="34" charset="-122"/>
                <a:cs typeface="Inter" pitchFamily="34" charset="-120"/>
              </a:rPr>
              <a:t>Our people are the heart of FIS. Enterprise Intelligence is the brain that gives them back 3 million hours a year to spend with clients.</a:t>
            </a:r>
            <a:endParaRPr lang="en-US" sz="1600" dirty="0"/>
          </a:p>
        </p:txBody>
      </p:sp>
      <p:sp>
        <p:nvSpPr>
          <p:cNvPr id="5" name="Shape 3"/>
          <p:cNvSpPr/>
          <p:nvPr/>
        </p:nvSpPr>
        <p:spPr>
          <a:xfrm>
            <a:off x="812800" y="4175720"/>
            <a:ext cx="4508500" cy="0"/>
          </a:xfrm>
          <a:prstGeom prst="line">
            <a:avLst/>
          </a:prstGeom>
          <a:noFill/>
          <a:ln w="25400">
            <a:solidFill>
              <a:srgbClr val="2251FF"/>
            </a:solidFill>
            <a:prstDash val="solid"/>
          </a:ln>
        </p:spPr>
      </p:sp>
      <p:sp>
        <p:nvSpPr>
          <p:cNvPr id="6" name="Text 4"/>
          <p:cNvSpPr/>
          <p:nvPr/>
        </p:nvSpPr>
        <p:spPr>
          <a:xfrm>
            <a:off x="812800" y="4340820"/>
            <a:ext cx="4643755" cy="26923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F4F6F8"/>
                </a:solidFill>
                <a:latin typeface="Inter" pitchFamily="34" charset="0"/>
                <a:ea typeface="Inter" pitchFamily="34" charset="-122"/>
                <a:cs typeface="Inter" pitchFamily="34" charset="-120"/>
              </a:rPr>
              <a:t>The brain</a:t>
            </a:r>
            <a:endParaRPr lang="en-US" sz="1600" dirty="0"/>
          </a:p>
        </p:txBody>
      </p:sp>
      <p:sp>
        <p:nvSpPr>
          <p:cNvPr id="7" name="Text 5"/>
          <p:cNvSpPr/>
          <p:nvPr/>
        </p:nvSpPr>
        <p:spPr>
          <a:xfrm>
            <a:off x="812800" y="4660850"/>
            <a:ext cx="4643755" cy="52318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C9D4DD"/>
                </a:solidFill>
                <a:latin typeface="Inter" pitchFamily="34" charset="0"/>
                <a:ea typeface="Inter" pitchFamily="34" charset="-122"/>
                <a:cs typeface="Inter" pitchFamily="34" charset="-120"/>
              </a:rPr>
              <a:t>Senses every signal, reasons at scale and does the work, around the clock.</a:t>
            </a:r>
            <a:endParaRPr lang="en-US" sz="1400" dirty="0"/>
          </a:p>
        </p:txBody>
      </p:sp>
      <p:sp>
        <p:nvSpPr>
          <p:cNvPr id="8" name="Shape 6"/>
          <p:cNvSpPr/>
          <p:nvPr/>
        </p:nvSpPr>
        <p:spPr>
          <a:xfrm>
            <a:off x="5829300" y="4175720"/>
            <a:ext cx="4508500" cy="0"/>
          </a:xfrm>
          <a:prstGeom prst="line">
            <a:avLst/>
          </a:prstGeom>
          <a:noFill/>
          <a:ln w="25400">
            <a:solidFill>
              <a:srgbClr val="00A9F4"/>
            </a:solidFill>
            <a:prstDash val="solid"/>
          </a:ln>
        </p:spPr>
      </p:sp>
      <p:sp>
        <p:nvSpPr>
          <p:cNvPr id="9" name="Text 7"/>
          <p:cNvSpPr/>
          <p:nvPr/>
        </p:nvSpPr>
        <p:spPr>
          <a:xfrm>
            <a:off x="5829300" y="4340820"/>
            <a:ext cx="4643755" cy="26923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F4F6F8"/>
                </a:solidFill>
                <a:latin typeface="Inter" pitchFamily="34" charset="0"/>
                <a:ea typeface="Inter" pitchFamily="34" charset="-122"/>
                <a:cs typeface="Inter" pitchFamily="34" charset="-120"/>
              </a:rPr>
              <a:t>The heart</a:t>
            </a:r>
            <a:endParaRPr lang="en-US" sz="1600" dirty="0"/>
          </a:p>
        </p:txBody>
      </p:sp>
      <p:sp>
        <p:nvSpPr>
          <p:cNvPr id="10" name="Text 8"/>
          <p:cNvSpPr/>
          <p:nvPr/>
        </p:nvSpPr>
        <p:spPr>
          <a:xfrm>
            <a:off x="5829300" y="4660850"/>
            <a:ext cx="4643755" cy="52318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C9D4DD"/>
                </a:solidFill>
                <a:latin typeface="Inter" pitchFamily="34" charset="0"/>
                <a:ea typeface="Inter" pitchFamily="34" charset="-122"/>
                <a:cs typeface="Inter" pitchFamily="34" charset="-120"/>
              </a:rPr>
              <a:t>Brings judgment, relationships and trust to the decisions that matter.</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BFBF9"/>
        </a:solidFill>
      </p:bgPr>
    </p:bg>
    <p:spTree>
      <p:nvGrpSpPr>
        <p:cNvPr id="1" name=""/>
        <p:cNvGrpSpPr/>
        <p:nvPr/>
      </p:nvGrpSpPr>
      <p:grpSpPr>
        <a:xfrm>
          <a:off x="0" y="0"/>
          <a:ext cx="0" cy="0"/>
          <a:chOff x="0" y="0"/>
          <a:chExt cx="0" cy="0"/>
        </a:xfrm>
      </p:grpSpPr>
      <p:sp>
        <p:nvSpPr>
          <p:cNvPr id="2" name="Text 0"/>
          <p:cNvSpPr/>
          <p:nvPr/>
        </p:nvSpPr>
        <p:spPr>
          <a:xfrm>
            <a:off x="812800" y="812800"/>
            <a:ext cx="10883392" cy="220414"/>
          </a:xfrm>
          <a:prstGeom prst="rect">
            <a:avLst/>
          </a:prstGeom>
          <a:noFill/>
          <a:ln/>
        </p:spPr>
        <p:txBody>
          <a:bodyPr wrap="square" lIns="0" tIns="0" rIns="0" bIns="0" rtlCol="0" anchor="t">
            <a:normAutofit/>
          </a:bodyPr>
          <a:lstStyle/>
          <a:p>
            <a:pPr algn="l" indent="0" marL="0">
              <a:lnSpc>
                <a:spcPts val="1570"/>
              </a:lnSpc>
              <a:buNone/>
            </a:pPr>
            <a:r>
              <a:rPr lang="en-US" sz="1121" b="1" spc="150" kern="0" dirty="0">
                <a:solidFill>
                  <a:srgbClr val="2251FF"/>
                </a:solidFill>
                <a:latin typeface="Inter" pitchFamily="34" charset="0"/>
                <a:ea typeface="Inter" pitchFamily="34" charset="-122"/>
                <a:cs typeface="Inter" pitchFamily="34" charset="-120"/>
              </a:rPr>
              <a:t>LABOR CAPACITY</a:t>
            </a:r>
            <a:endParaRPr lang="en-US" sz="1121" dirty="0"/>
          </a:p>
        </p:txBody>
      </p:sp>
      <p:sp>
        <p:nvSpPr>
          <p:cNvPr id="3" name="Text 1"/>
          <p:cNvSpPr/>
          <p:nvPr>
            <p:ph type="title"/>
          </p:nvPr>
        </p:nvSpPr>
        <p:spPr>
          <a:xfrm>
            <a:off x="812800" y="1109414"/>
            <a:ext cx="10883392" cy="719584"/>
          </a:xfrm>
          <a:prstGeom prst="rect">
            <a:avLst/>
          </a:prstGeom>
          <a:noFill/>
          <a:ln/>
        </p:spPr>
        <p:txBody>
          <a:bodyPr wrap="square" lIns="0" tIns="0" rIns="0" bIns="0" rtlCol="0" anchor="t">
            <a:normAutofit/>
          </a:bodyPr>
          <a:lstStyle/>
          <a:p>
            <a:pPr algn="l" indent="0" marL="0">
              <a:lnSpc>
                <a:spcPts val="2728"/>
              </a:lnSpc>
              <a:buNone/>
            </a:pPr>
            <a:r>
              <a:rPr lang="en-US" sz="2373" b="0" i="0" dirty="0">
                <a:solidFill>
                  <a:srgbClr val="051C2C"/>
                </a:solidFill>
                <a:latin typeface="Source Serif 4" pitchFamily="18" charset="0"/>
                <a:ea typeface="Source Serif 4" pitchFamily="18" charset="-122"/>
                <a:cs typeface="Source Serif 4" pitchFamily="18" charset="-120"/>
              </a:rPr>
              <a:t>Agents give 3 million hours a year back to our people, to invest in client experience and relationships.</a:t>
            </a:r>
            <a:endParaRPr lang="en-US" sz="2373"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825500" y="1994098"/>
          <a:ext cx="10553700" cy="3112691"/>
        </p:xfrm>
        <a:graphic>
          <a:graphicData uri="http://schemas.openxmlformats.org/drawingml/2006/table">
            <a:tbl>
              <a:tblPr/>
              <a:tblGrid>
                <a:gridCol w="4327017"/>
                <a:gridCol w="2321814"/>
                <a:gridCol w="949833"/>
                <a:gridCol w="1055370"/>
                <a:gridCol w="949833"/>
                <a:gridCol w="949833"/>
              </a:tblGrid>
              <a:tr h="322808">
                <a:tc>
                  <a:txBody>
                    <a:bodyPr/>
                    <a:lstStyle/>
                    <a:p>
                      <a:pPr indent="0" marL="0">
                        <a:lnSpc>
                          <a:spcPts val="1633"/>
                        </a:lnSpc>
                        <a:buNone/>
                      </a:pPr>
                      <a:r>
                        <a:rPr lang="en-US" sz="1166" b="1" dirty="0">
                          <a:solidFill>
                            <a:srgbClr val="6B7680"/>
                          </a:solidFill>
                          <a:latin typeface="Inter" pitchFamily="34" charset="0"/>
                          <a:ea typeface="Inter" pitchFamily="34" charset="-122"/>
                          <a:cs typeface="Inter" pitchFamily="34" charset="-120"/>
                        </a:rPr>
                        <a:t>Agentic workflow</a:t>
                      </a:r>
                      <a:endParaRPr lang="en-US" sz="1166" dirty="0">
                        <a:latin typeface="Inter" charset="0"/>
                        <a:ea typeface="Inter" charset="0"/>
                        <a:cs typeface="Inter" charset="0"/>
                      </a:endParaRPr>
                    </a:p>
                  </a:txBody>
                  <a:tcPr marL="88900" marR="88900" marT="50800" marB="50800" anchor="t">
                    <a:lnL w="12700" cap="flat" cmpd="sng" algn="ctr">
                      <a:solidFill>
                        <a:srgbClr val="C8C8C6"/>
                      </a:solidFill>
                      <a:prstDash val="solid"/>
                      <a:round/>
                      <a:headEnd type="none" w="med" len="med"/>
                      <a:tailEnd type="none" w="med" len="med"/>
                    </a:lnL>
                    <a:lnR w="12700" cap="flat" cmpd="sng" algn="ctr">
                      <a:solidFill>
                        <a:srgbClr val="BABAB8"/>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BABAB8"/>
                      </a:solidFill>
                      <a:prstDash val="solid"/>
                      <a:round/>
                      <a:headEnd type="none" w="med" len="med"/>
                      <a:tailEnd type="none" w="med" len="med"/>
                    </a:lnB>
                    <a:solidFill>
                      <a:srgbClr val="E9E9E7"/>
                    </a:solidFill>
                  </a:tcPr>
                </a:tc>
                <a:tc>
                  <a:txBody>
                    <a:bodyPr/>
                    <a:lstStyle/>
                    <a:p>
                      <a:pPr indent="0" marL="0">
                        <a:lnSpc>
                          <a:spcPts val="1633"/>
                        </a:lnSpc>
                        <a:buNone/>
                      </a:pPr>
                      <a:r>
                        <a:rPr lang="en-US" sz="1166" b="1" dirty="0">
                          <a:solidFill>
                            <a:srgbClr val="6B7680"/>
                          </a:solidFill>
                          <a:latin typeface="Inter" pitchFamily="34" charset="0"/>
                          <a:ea typeface="Inter" pitchFamily="34" charset="-122"/>
                          <a:cs typeface="Inter" pitchFamily="34" charset="-120"/>
                        </a:rPr>
                        <a:t>Role pool</a:t>
                      </a:r>
                      <a:endParaRPr lang="en-US" sz="1166" dirty="0">
                        <a:latin typeface="Inter" charset="0"/>
                        <a:ea typeface="Inter" charset="0"/>
                        <a:cs typeface="Inter" charset="0"/>
                      </a:endParaRPr>
                    </a:p>
                  </a:txBody>
                  <a:tcPr marL="88900" marR="88900" marT="50800" marB="50800" anchor="t">
                    <a:lnL w="12700" cap="flat" cmpd="sng" algn="ctr">
                      <a:solidFill>
                        <a:srgbClr val="BABAB8"/>
                      </a:solidFill>
                      <a:prstDash val="solid"/>
                      <a:round/>
                      <a:headEnd type="none" w="med" len="med"/>
                      <a:tailEnd type="none" w="med" len="med"/>
                    </a:lnL>
                    <a:lnR w="12700" cap="flat" cmpd="sng" algn="ctr">
                      <a:solidFill>
                        <a:srgbClr val="BABAB8"/>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BABAB8"/>
                      </a:solidFill>
                      <a:prstDash val="solid"/>
                      <a:round/>
                      <a:headEnd type="none" w="med" len="med"/>
                      <a:tailEnd type="none" w="med" len="med"/>
                    </a:lnB>
                    <a:solidFill>
                      <a:srgbClr val="E9E9E7"/>
                    </a:solidFill>
                  </a:tcPr>
                </a:tc>
                <a:tc>
                  <a:txBody>
                    <a:bodyPr/>
                    <a:lstStyle/>
                    <a:p>
                      <a:pPr algn="r" indent="0" marL="0">
                        <a:lnSpc>
                          <a:spcPts val="1633"/>
                        </a:lnSpc>
                        <a:buNone/>
                      </a:pPr>
                      <a:r>
                        <a:rPr lang="en-US" sz="1166" b="1" dirty="0">
                          <a:solidFill>
                            <a:srgbClr val="6B7680"/>
                          </a:solidFill>
                          <a:latin typeface="Inter" pitchFamily="34" charset="0"/>
                          <a:ea typeface="Inter" pitchFamily="34" charset="-122"/>
                          <a:cs typeface="Inter" pitchFamily="34" charset="-120"/>
                        </a:rPr>
                        <a:t>People</a:t>
                      </a:r>
                      <a:endParaRPr lang="en-US" sz="1166" dirty="0">
                        <a:latin typeface="Inter" charset="0"/>
                        <a:ea typeface="Inter" charset="0"/>
                        <a:cs typeface="Inter" charset="0"/>
                      </a:endParaRPr>
                    </a:p>
                  </a:txBody>
                  <a:tcPr marL="88900" marR="88900" marT="50800" marB="50800" anchor="t">
                    <a:lnL w="12700" cap="flat" cmpd="sng" algn="ctr">
                      <a:solidFill>
                        <a:srgbClr val="BABAB8"/>
                      </a:solidFill>
                      <a:prstDash val="solid"/>
                      <a:round/>
                      <a:headEnd type="none" w="med" len="med"/>
                      <a:tailEnd type="none" w="med" len="med"/>
                    </a:lnL>
                    <a:lnR w="12700" cap="flat" cmpd="sng" algn="ctr">
                      <a:solidFill>
                        <a:srgbClr val="BABAB8"/>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BABAB8"/>
                      </a:solidFill>
                      <a:prstDash val="solid"/>
                      <a:round/>
                      <a:headEnd type="none" w="med" len="med"/>
                      <a:tailEnd type="none" w="med" len="med"/>
                    </a:lnB>
                    <a:solidFill>
                      <a:srgbClr val="E9E9E7"/>
                    </a:solidFill>
                  </a:tcPr>
                </a:tc>
                <a:tc>
                  <a:txBody>
                    <a:bodyPr/>
                    <a:lstStyle/>
                    <a:p>
                      <a:pPr algn="r" indent="0" marL="0">
                        <a:lnSpc>
                          <a:spcPts val="1633"/>
                        </a:lnSpc>
                        <a:buNone/>
                      </a:pPr>
                      <a:r>
                        <a:rPr lang="en-US" sz="1166" b="1" dirty="0">
                          <a:solidFill>
                            <a:srgbClr val="6B7680"/>
                          </a:solidFill>
                          <a:latin typeface="Inter" pitchFamily="34" charset="0"/>
                          <a:ea typeface="Inter" pitchFamily="34" charset="-122"/>
                          <a:cs typeface="Inter" pitchFamily="34" charset="-120"/>
                        </a:rPr>
                        <a:t>Time share</a:t>
                      </a:r>
                      <a:endParaRPr lang="en-US" sz="1166" dirty="0">
                        <a:latin typeface="Inter" charset="0"/>
                        <a:ea typeface="Inter" charset="0"/>
                        <a:cs typeface="Inter" charset="0"/>
                      </a:endParaRPr>
                    </a:p>
                  </a:txBody>
                  <a:tcPr marL="88900" marR="88900" marT="50800" marB="50800" anchor="t">
                    <a:lnL w="12700" cap="flat" cmpd="sng" algn="ctr">
                      <a:solidFill>
                        <a:srgbClr val="BABAB8"/>
                      </a:solidFill>
                      <a:prstDash val="solid"/>
                      <a:round/>
                      <a:headEnd type="none" w="med" len="med"/>
                      <a:tailEnd type="none" w="med" len="med"/>
                    </a:lnL>
                    <a:lnR w="12700" cap="flat" cmpd="sng" algn="ctr">
                      <a:solidFill>
                        <a:srgbClr val="BABAB8"/>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BABAB8"/>
                      </a:solidFill>
                      <a:prstDash val="solid"/>
                      <a:round/>
                      <a:headEnd type="none" w="med" len="med"/>
                      <a:tailEnd type="none" w="med" len="med"/>
                    </a:lnB>
                    <a:solidFill>
                      <a:srgbClr val="E9E9E7"/>
                    </a:solidFill>
                  </a:tcPr>
                </a:tc>
                <a:tc>
                  <a:txBody>
                    <a:bodyPr/>
                    <a:lstStyle/>
                    <a:p>
                      <a:pPr algn="r" indent="0" marL="0">
                        <a:lnSpc>
                          <a:spcPts val="1633"/>
                        </a:lnSpc>
                        <a:buNone/>
                      </a:pPr>
                      <a:r>
                        <a:rPr lang="en-US" sz="1166" b="1" dirty="0">
                          <a:solidFill>
                            <a:srgbClr val="6B7680"/>
                          </a:solidFill>
                          <a:latin typeface="Inter" pitchFamily="34" charset="0"/>
                          <a:ea typeface="Inter" pitchFamily="34" charset="-122"/>
                          <a:cs typeface="Inter" pitchFamily="34" charset="-120"/>
                        </a:rPr>
                        <a:t>Hours</a:t>
                      </a:r>
                      <a:endParaRPr lang="en-US" sz="1166" dirty="0">
                        <a:latin typeface="Inter" charset="0"/>
                        <a:ea typeface="Inter" charset="0"/>
                        <a:cs typeface="Inter" charset="0"/>
                      </a:endParaRPr>
                    </a:p>
                  </a:txBody>
                  <a:tcPr marL="88900" marR="88900" marT="50800" marB="50800" anchor="t">
                    <a:lnL w="12700" cap="flat" cmpd="sng" algn="ctr">
                      <a:solidFill>
                        <a:srgbClr val="BABAB8"/>
                      </a:solidFill>
                      <a:prstDash val="solid"/>
                      <a:round/>
                      <a:headEnd type="none" w="med" len="med"/>
                      <a:tailEnd type="none" w="med" len="med"/>
                    </a:lnL>
                    <a:lnR w="12700" cap="flat" cmpd="sng" algn="ctr">
                      <a:solidFill>
                        <a:srgbClr val="BABAB8"/>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BABAB8"/>
                      </a:solidFill>
                      <a:prstDash val="solid"/>
                      <a:round/>
                      <a:headEnd type="none" w="med" len="med"/>
                      <a:tailEnd type="none" w="med" len="med"/>
                    </a:lnB>
                    <a:solidFill>
                      <a:srgbClr val="E9E9E7"/>
                    </a:solidFill>
                  </a:tcPr>
                </a:tc>
                <a:tc>
                  <a:txBody>
                    <a:bodyPr/>
                    <a:lstStyle/>
                    <a:p>
                      <a:pPr algn="r" indent="0" marL="0">
                        <a:lnSpc>
                          <a:spcPts val="1633"/>
                        </a:lnSpc>
                        <a:buNone/>
                      </a:pPr>
                      <a:r>
                        <a:rPr lang="en-US" sz="1166" b="1" dirty="0">
                          <a:solidFill>
                            <a:srgbClr val="6B7680"/>
                          </a:solidFill>
                          <a:latin typeface="Inter" pitchFamily="34" charset="0"/>
                          <a:ea typeface="Inter" pitchFamily="34" charset="-122"/>
                          <a:cs typeface="Inter" pitchFamily="34" charset="-120"/>
                        </a:rPr>
                        <a:t>FTEs</a:t>
                      </a:r>
                      <a:endParaRPr lang="en-US" sz="1166" dirty="0">
                        <a:latin typeface="Inter" charset="0"/>
                        <a:ea typeface="Inter" charset="0"/>
                        <a:cs typeface="Inter" charset="0"/>
                      </a:endParaRPr>
                    </a:p>
                  </a:txBody>
                  <a:tcPr marL="88900" marR="88900" marT="50800" marB="50800" anchor="t">
                    <a:lnL w="12700" cap="flat" cmpd="sng" algn="ctr">
                      <a:solidFill>
                        <a:srgbClr val="BABAB8"/>
                      </a:solidFill>
                      <a:prstDash val="solid"/>
                      <a:round/>
                      <a:headEnd type="none" w="med" len="med"/>
                      <a:tailEnd type="none" w="med" len="med"/>
                    </a:lnL>
                    <a:lnR w="12700" cap="flat" cmpd="sng" algn="ctr">
                      <a:solidFill>
                        <a:srgbClr val="BABAB8"/>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BABAB8"/>
                      </a:solidFill>
                      <a:prstDash val="solid"/>
                      <a:round/>
                      <a:headEnd type="none" w="med" len="med"/>
                      <a:tailEnd type="none" w="med" len="med"/>
                    </a:lnB>
                    <a:solidFill>
                      <a:srgbClr val="E9E9E7"/>
                    </a:solidFill>
                  </a:tcPr>
                </a:tc>
              </a:tr>
              <a:tr h="322808">
                <a:tc>
                  <a:txBody>
                    <a:bodyPr/>
                    <a:lstStyle/>
                    <a:p>
                      <a:pPr indent="0" marL="0">
                        <a:lnSpc>
                          <a:spcPts val="1633"/>
                        </a:lnSpc>
                        <a:buNone/>
                      </a:pPr>
                      <a:r>
                        <a:rPr lang="en-US" sz="1166" dirty="0">
                          <a:solidFill>
                            <a:srgbClr val="051C2C"/>
                          </a:solidFill>
                          <a:latin typeface="Inter" pitchFamily="34" charset="0"/>
                          <a:ea typeface="Inter" pitchFamily="34" charset="-122"/>
                          <a:cs typeface="Inter" pitchFamily="34" charset="-120"/>
                        </a:rPr>
                        <a:t>Ticket triage, routing, SLAs and incidents</a:t>
                      </a:r>
                      <a:endParaRPr lang="en-US" sz="1166" dirty="0">
                        <a:latin typeface="Inter" charset="0"/>
                        <a:ea typeface="Inter" charset="0"/>
                        <a:cs typeface="Inter" charset="0"/>
                      </a:endParaRPr>
                    </a:p>
                  </a:txBody>
                  <a:tcPr marL="88900" marR="88900" marT="50800" marB="50800"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BABAB8"/>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633"/>
                        </a:lnSpc>
                        <a:buNone/>
                      </a:pPr>
                      <a:r>
                        <a:rPr lang="en-US" sz="1166" dirty="0">
                          <a:solidFill>
                            <a:srgbClr val="3C4A55"/>
                          </a:solidFill>
                          <a:latin typeface="Inter" pitchFamily="34" charset="0"/>
                          <a:ea typeface="Inter" pitchFamily="34" charset="-122"/>
                          <a:cs typeface="Inter" pitchFamily="34" charset="-120"/>
                        </a:rPr>
                        <a:t>Client service</a:t>
                      </a:r>
                      <a:endParaRPr lang="en-US" sz="1166" dirty="0">
                        <a:latin typeface="Inter" charset="0"/>
                        <a:ea typeface="Inter" charset="0"/>
                        <a:cs typeface="Inter" charset="0"/>
                      </a:endParaRPr>
                    </a:p>
                  </a:txBody>
                  <a:tcPr marL="88900" marR="88900" marT="50800" marB="50800"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BABAB8"/>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algn="r" indent="0" marL="0">
                        <a:lnSpc>
                          <a:spcPts val="1633"/>
                        </a:lnSpc>
                        <a:buNone/>
                      </a:pPr>
                      <a:r>
                        <a:rPr lang="en-US" sz="1166" dirty="0">
                          <a:solidFill>
                            <a:srgbClr val="051C2C"/>
                          </a:solidFill>
                          <a:latin typeface="Inter" pitchFamily="34" charset="0"/>
                          <a:ea typeface="Inter" pitchFamily="34" charset="-122"/>
                          <a:cs typeface="Inter" pitchFamily="34" charset="-120"/>
                        </a:rPr>
                        <a:t>8,800</a:t>
                      </a:r>
                      <a:endParaRPr lang="en-US" sz="1166" dirty="0">
                        <a:latin typeface="Inter" charset="0"/>
                        <a:ea typeface="Inter" charset="0"/>
                        <a:cs typeface="Inter" charset="0"/>
                      </a:endParaRPr>
                    </a:p>
                  </a:txBody>
                  <a:tcPr marL="88900" marR="88900" marT="50800" marB="50800"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BABAB8"/>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algn="r" indent="0" marL="0">
                        <a:lnSpc>
                          <a:spcPts val="1633"/>
                        </a:lnSpc>
                        <a:buNone/>
                      </a:pPr>
                      <a:r>
                        <a:rPr lang="en-US" sz="1166" dirty="0">
                          <a:solidFill>
                            <a:srgbClr val="051C2C"/>
                          </a:solidFill>
                          <a:latin typeface="Inter" pitchFamily="34" charset="0"/>
                          <a:ea typeface="Inter" pitchFamily="34" charset="-122"/>
                          <a:cs typeface="Inter" pitchFamily="34" charset="-120"/>
                        </a:rPr>
                        <a:t>30%</a:t>
                      </a:r>
                      <a:endParaRPr lang="en-US" sz="1166" dirty="0">
                        <a:latin typeface="Inter" charset="0"/>
                        <a:ea typeface="Inter" charset="0"/>
                        <a:cs typeface="Inter" charset="0"/>
                      </a:endParaRPr>
                    </a:p>
                  </a:txBody>
                  <a:tcPr marL="88900" marR="88900" marT="50800" marB="50800"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BABAB8"/>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algn="r" indent="0" marL="0">
                        <a:lnSpc>
                          <a:spcPts val="1633"/>
                        </a:lnSpc>
                        <a:buNone/>
                      </a:pPr>
                      <a:r>
                        <a:rPr lang="en-US" sz="1166" dirty="0">
                          <a:solidFill>
                            <a:srgbClr val="051C2C"/>
                          </a:solidFill>
                          <a:latin typeface="Inter" pitchFamily="34" charset="0"/>
                          <a:ea typeface="Inter" pitchFamily="34" charset="-122"/>
                          <a:cs typeface="Inter" pitchFamily="34" charset="-120"/>
                        </a:rPr>
                        <a:t>1.90M</a:t>
                      </a:r>
                      <a:endParaRPr lang="en-US" sz="1166" dirty="0">
                        <a:latin typeface="Inter" charset="0"/>
                        <a:ea typeface="Inter" charset="0"/>
                        <a:cs typeface="Inter" charset="0"/>
                      </a:endParaRPr>
                    </a:p>
                  </a:txBody>
                  <a:tcPr marL="88900" marR="88900" marT="50800" marB="50800"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BABAB8"/>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algn="r" indent="0" marL="0">
                        <a:lnSpc>
                          <a:spcPts val="1633"/>
                        </a:lnSpc>
                        <a:buNone/>
                      </a:pPr>
                      <a:r>
                        <a:rPr lang="en-US" sz="1166" dirty="0">
                          <a:solidFill>
                            <a:srgbClr val="2251FF"/>
                          </a:solidFill>
                          <a:latin typeface="Inter" pitchFamily="34" charset="0"/>
                          <a:ea typeface="Inter" pitchFamily="34" charset="-122"/>
                          <a:cs typeface="Inter" pitchFamily="34" charset="-120"/>
                        </a:rPr>
                        <a:t>1,056</a:t>
                      </a:r>
                      <a:endParaRPr lang="en-US" sz="1166" dirty="0">
                        <a:latin typeface="Inter" charset="0"/>
                        <a:ea typeface="Inter" charset="0"/>
                        <a:cs typeface="Inter" charset="0"/>
                      </a:endParaRPr>
                    </a:p>
                  </a:txBody>
                  <a:tcPr marL="88900" marR="88900" marT="50800" marB="50800"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BABAB8"/>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r>
              <a:tr h="322808">
                <a:tc>
                  <a:txBody>
                    <a:bodyPr/>
                    <a:lstStyle/>
                    <a:p>
                      <a:pPr indent="0" marL="0">
                        <a:lnSpc>
                          <a:spcPts val="1633"/>
                        </a:lnSpc>
                        <a:buNone/>
                      </a:pPr>
                      <a:r>
                        <a:rPr lang="en-US" sz="1166" dirty="0">
                          <a:solidFill>
                            <a:srgbClr val="051C2C"/>
                          </a:solidFill>
                          <a:latin typeface="Inter" pitchFamily="34" charset="0"/>
                          <a:ea typeface="Inter" pitchFamily="34" charset="-122"/>
                          <a:cs typeface="Inter" pitchFamily="34" charset="-120"/>
                        </a:rPr>
                        <a:t>Reporting, forecasting, portfolio and cost-to-serve analysis</a:t>
                      </a:r>
                      <a:endParaRPr lang="en-US" sz="1166" dirty="0">
                        <a:latin typeface="Inter" charset="0"/>
                        <a:ea typeface="Inter" charset="0"/>
                        <a:cs typeface="Inter" charset="0"/>
                      </a:endParaRPr>
                    </a:p>
                  </a:txBody>
                  <a:tcPr marL="88900" marR="88900" marT="50800" marB="50800"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633"/>
                        </a:lnSpc>
                        <a:buNone/>
                      </a:pPr>
                      <a:r>
                        <a:rPr lang="en-US" sz="1166" dirty="0">
                          <a:solidFill>
                            <a:srgbClr val="3C4A55"/>
                          </a:solidFill>
                          <a:latin typeface="Inter" pitchFamily="34" charset="0"/>
                          <a:ea typeface="Inter" pitchFamily="34" charset="-122"/>
                          <a:cs typeface="Inter" pitchFamily="34" charset="-120"/>
                        </a:rPr>
                        <a:t>FP&amp;A, BI and strategy</a:t>
                      </a:r>
                      <a:endParaRPr lang="en-US" sz="1166" dirty="0">
                        <a:latin typeface="Inter" charset="0"/>
                        <a:ea typeface="Inter" charset="0"/>
                        <a:cs typeface="Inter" charset="0"/>
                      </a:endParaRPr>
                    </a:p>
                  </a:txBody>
                  <a:tcPr marL="88900" marR="88900" marT="50800" marB="50800"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algn="r" indent="0" marL="0">
                        <a:lnSpc>
                          <a:spcPts val="1633"/>
                        </a:lnSpc>
                        <a:buNone/>
                      </a:pPr>
                      <a:r>
                        <a:rPr lang="en-US" sz="1166" dirty="0">
                          <a:solidFill>
                            <a:srgbClr val="051C2C"/>
                          </a:solidFill>
                          <a:latin typeface="Inter" pitchFamily="34" charset="0"/>
                          <a:ea typeface="Inter" pitchFamily="34" charset="-122"/>
                          <a:cs typeface="Inter" pitchFamily="34" charset="-120"/>
                        </a:rPr>
                        <a:t>1,056</a:t>
                      </a:r>
                      <a:endParaRPr lang="en-US" sz="1166" dirty="0">
                        <a:latin typeface="Inter" charset="0"/>
                        <a:ea typeface="Inter" charset="0"/>
                        <a:cs typeface="Inter" charset="0"/>
                      </a:endParaRPr>
                    </a:p>
                  </a:txBody>
                  <a:tcPr marL="88900" marR="88900" marT="50800" marB="50800"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algn="r" indent="0" marL="0">
                        <a:lnSpc>
                          <a:spcPts val="1633"/>
                        </a:lnSpc>
                        <a:buNone/>
                      </a:pPr>
                      <a:r>
                        <a:rPr lang="en-US" sz="1166" dirty="0">
                          <a:solidFill>
                            <a:srgbClr val="051C2C"/>
                          </a:solidFill>
                          <a:latin typeface="Inter" pitchFamily="34" charset="0"/>
                          <a:ea typeface="Inter" pitchFamily="34" charset="-122"/>
                          <a:cs typeface="Inter" pitchFamily="34" charset="-120"/>
                        </a:rPr>
                        <a:t>40%</a:t>
                      </a:r>
                      <a:endParaRPr lang="en-US" sz="1166" dirty="0">
                        <a:latin typeface="Inter" charset="0"/>
                        <a:ea typeface="Inter" charset="0"/>
                        <a:cs typeface="Inter" charset="0"/>
                      </a:endParaRPr>
                    </a:p>
                  </a:txBody>
                  <a:tcPr marL="88900" marR="88900" marT="50800" marB="50800"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algn="r" indent="0" marL="0">
                        <a:lnSpc>
                          <a:spcPts val="1633"/>
                        </a:lnSpc>
                        <a:buNone/>
                      </a:pPr>
                      <a:r>
                        <a:rPr lang="en-US" sz="1166" dirty="0">
                          <a:solidFill>
                            <a:srgbClr val="051C2C"/>
                          </a:solidFill>
                          <a:latin typeface="Inter" pitchFamily="34" charset="0"/>
                          <a:ea typeface="Inter" pitchFamily="34" charset="-122"/>
                          <a:cs typeface="Inter" pitchFamily="34" charset="-120"/>
                        </a:rPr>
                        <a:t>0.38M</a:t>
                      </a:r>
                      <a:endParaRPr lang="en-US" sz="1166" dirty="0">
                        <a:latin typeface="Inter" charset="0"/>
                        <a:ea typeface="Inter" charset="0"/>
                        <a:cs typeface="Inter" charset="0"/>
                      </a:endParaRPr>
                    </a:p>
                  </a:txBody>
                  <a:tcPr marL="88900" marR="88900" marT="50800" marB="50800"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algn="r" indent="0" marL="0">
                        <a:lnSpc>
                          <a:spcPts val="1633"/>
                        </a:lnSpc>
                        <a:buNone/>
                      </a:pPr>
                      <a:r>
                        <a:rPr lang="en-US" sz="1166" dirty="0">
                          <a:solidFill>
                            <a:srgbClr val="2251FF"/>
                          </a:solidFill>
                          <a:latin typeface="Inter" pitchFamily="34" charset="0"/>
                          <a:ea typeface="Inter" pitchFamily="34" charset="-122"/>
                          <a:cs typeface="Inter" pitchFamily="34" charset="-120"/>
                        </a:rPr>
                        <a:t>211</a:t>
                      </a:r>
                      <a:endParaRPr lang="en-US" sz="1166" dirty="0">
                        <a:latin typeface="Inter" charset="0"/>
                        <a:ea typeface="Inter" charset="0"/>
                        <a:cs typeface="Inter" charset="0"/>
                      </a:endParaRPr>
                    </a:p>
                  </a:txBody>
                  <a:tcPr marL="88900" marR="88900" marT="50800" marB="50800"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r>
              <a:tr h="322808">
                <a:tc>
                  <a:txBody>
                    <a:bodyPr/>
                    <a:lstStyle/>
                    <a:p>
                      <a:pPr indent="0" marL="0">
                        <a:lnSpc>
                          <a:spcPts val="1633"/>
                        </a:lnSpc>
                        <a:buNone/>
                      </a:pPr>
                      <a:r>
                        <a:rPr lang="en-US" sz="1166" dirty="0">
                          <a:solidFill>
                            <a:srgbClr val="051C2C"/>
                          </a:solidFill>
                          <a:latin typeface="Inter" pitchFamily="34" charset="0"/>
                          <a:ea typeface="Inter" pitchFamily="34" charset="-122"/>
                          <a:cs typeface="Inter" pitchFamily="34" charset="-120"/>
                        </a:rPr>
                        <a:t>Billing reconciliation and back-bill packages</a:t>
                      </a:r>
                      <a:endParaRPr lang="en-US" sz="1166" dirty="0">
                        <a:latin typeface="Inter" charset="0"/>
                        <a:ea typeface="Inter" charset="0"/>
                        <a:cs typeface="Inter" charset="0"/>
                      </a:endParaRPr>
                    </a:p>
                  </a:txBody>
                  <a:tcPr marL="88900" marR="88900" marT="50800" marB="50800"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633"/>
                        </a:lnSpc>
                        <a:buNone/>
                      </a:pPr>
                      <a:r>
                        <a:rPr lang="en-US" sz="1166" dirty="0">
                          <a:solidFill>
                            <a:srgbClr val="3C4A55"/>
                          </a:solidFill>
                          <a:latin typeface="Inter" pitchFamily="34" charset="0"/>
                          <a:ea typeface="Inter" pitchFamily="34" charset="-122"/>
                          <a:cs typeface="Inter" pitchFamily="34" charset="-120"/>
                        </a:rPr>
                        <a:t>Billing and finance ops</a:t>
                      </a:r>
                      <a:endParaRPr lang="en-US" sz="1166" dirty="0">
                        <a:latin typeface="Inter" charset="0"/>
                        <a:ea typeface="Inter" charset="0"/>
                        <a:cs typeface="Inter" charset="0"/>
                      </a:endParaRPr>
                    </a:p>
                  </a:txBody>
                  <a:tcPr marL="88900" marR="88900" marT="50800" marB="50800"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algn="r" indent="0" marL="0">
                        <a:lnSpc>
                          <a:spcPts val="1633"/>
                        </a:lnSpc>
                        <a:buNone/>
                      </a:pPr>
                      <a:r>
                        <a:rPr lang="en-US" sz="1166" dirty="0">
                          <a:solidFill>
                            <a:srgbClr val="051C2C"/>
                          </a:solidFill>
                          <a:latin typeface="Inter" pitchFamily="34" charset="0"/>
                          <a:ea typeface="Inter" pitchFamily="34" charset="-122"/>
                          <a:cs typeface="Inter" pitchFamily="34" charset="-120"/>
                        </a:rPr>
                        <a:t>1,584</a:t>
                      </a:r>
                      <a:endParaRPr lang="en-US" sz="1166" dirty="0">
                        <a:latin typeface="Inter" charset="0"/>
                        <a:ea typeface="Inter" charset="0"/>
                        <a:cs typeface="Inter" charset="0"/>
                      </a:endParaRPr>
                    </a:p>
                  </a:txBody>
                  <a:tcPr marL="88900" marR="88900" marT="50800" marB="50800"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algn="r" indent="0" marL="0">
                        <a:lnSpc>
                          <a:spcPts val="1633"/>
                        </a:lnSpc>
                        <a:buNone/>
                      </a:pPr>
                      <a:r>
                        <a:rPr lang="en-US" sz="1166" dirty="0">
                          <a:solidFill>
                            <a:srgbClr val="051C2C"/>
                          </a:solidFill>
                          <a:latin typeface="Inter" pitchFamily="34" charset="0"/>
                          <a:ea typeface="Inter" pitchFamily="34" charset="-122"/>
                          <a:cs typeface="Inter" pitchFamily="34" charset="-120"/>
                        </a:rPr>
                        <a:t>25%</a:t>
                      </a:r>
                      <a:endParaRPr lang="en-US" sz="1166" dirty="0">
                        <a:latin typeface="Inter" charset="0"/>
                        <a:ea typeface="Inter" charset="0"/>
                        <a:cs typeface="Inter" charset="0"/>
                      </a:endParaRPr>
                    </a:p>
                  </a:txBody>
                  <a:tcPr marL="88900" marR="88900" marT="50800" marB="50800"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algn="r" indent="0" marL="0">
                        <a:lnSpc>
                          <a:spcPts val="1633"/>
                        </a:lnSpc>
                        <a:buNone/>
                      </a:pPr>
                      <a:r>
                        <a:rPr lang="en-US" sz="1166" dirty="0">
                          <a:solidFill>
                            <a:srgbClr val="051C2C"/>
                          </a:solidFill>
                          <a:latin typeface="Inter" pitchFamily="34" charset="0"/>
                          <a:ea typeface="Inter" pitchFamily="34" charset="-122"/>
                          <a:cs typeface="Inter" pitchFamily="34" charset="-120"/>
                        </a:rPr>
                        <a:t>0.36M</a:t>
                      </a:r>
                      <a:endParaRPr lang="en-US" sz="1166" dirty="0">
                        <a:latin typeface="Inter" charset="0"/>
                        <a:ea typeface="Inter" charset="0"/>
                        <a:cs typeface="Inter" charset="0"/>
                      </a:endParaRPr>
                    </a:p>
                  </a:txBody>
                  <a:tcPr marL="88900" marR="88900" marT="50800" marB="50800"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algn="r" indent="0" marL="0">
                        <a:lnSpc>
                          <a:spcPts val="1633"/>
                        </a:lnSpc>
                        <a:buNone/>
                      </a:pPr>
                      <a:r>
                        <a:rPr lang="en-US" sz="1166" dirty="0">
                          <a:solidFill>
                            <a:srgbClr val="2251FF"/>
                          </a:solidFill>
                          <a:latin typeface="Inter" pitchFamily="34" charset="0"/>
                          <a:ea typeface="Inter" pitchFamily="34" charset="-122"/>
                          <a:cs typeface="Inter" pitchFamily="34" charset="-120"/>
                        </a:rPr>
                        <a:t>198</a:t>
                      </a:r>
                      <a:endParaRPr lang="en-US" sz="1166" dirty="0">
                        <a:latin typeface="Inter" charset="0"/>
                        <a:ea typeface="Inter" charset="0"/>
                        <a:cs typeface="Inter" charset="0"/>
                      </a:endParaRPr>
                    </a:p>
                  </a:txBody>
                  <a:tcPr marL="88900" marR="88900" marT="50800" marB="50800"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r>
              <a:tr h="322808">
                <a:tc>
                  <a:txBody>
                    <a:bodyPr/>
                    <a:lstStyle/>
                    <a:p>
                      <a:pPr indent="0" marL="0">
                        <a:lnSpc>
                          <a:spcPts val="1633"/>
                        </a:lnSpc>
                        <a:buNone/>
                      </a:pPr>
                      <a:r>
                        <a:rPr lang="en-US" sz="1166" dirty="0">
                          <a:solidFill>
                            <a:srgbClr val="051C2C"/>
                          </a:solidFill>
                          <a:latin typeface="Inter" pitchFamily="34" charset="0"/>
                          <a:ea typeface="Inter" pitchFamily="34" charset="-122"/>
                          <a:cs typeface="Inter" pitchFamily="34" charset="-120"/>
                        </a:rPr>
                        <a:t>Renewal prep, account health reviews, QBRs</a:t>
                      </a:r>
                      <a:endParaRPr lang="en-US" sz="1166" dirty="0">
                        <a:latin typeface="Inter" charset="0"/>
                        <a:ea typeface="Inter" charset="0"/>
                        <a:cs typeface="Inter" charset="0"/>
                      </a:endParaRPr>
                    </a:p>
                  </a:txBody>
                  <a:tcPr marL="88900" marR="88900" marT="50800" marB="50800"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633"/>
                        </a:lnSpc>
                        <a:buNone/>
                      </a:pPr>
                      <a:r>
                        <a:rPr lang="en-US" sz="1166" dirty="0">
                          <a:solidFill>
                            <a:srgbClr val="3C4A55"/>
                          </a:solidFill>
                          <a:latin typeface="Inter" pitchFamily="34" charset="0"/>
                          <a:ea typeface="Inter" pitchFamily="34" charset="-122"/>
                          <a:cs typeface="Inter" pitchFamily="34" charset="-120"/>
                        </a:rPr>
                        <a:t>Renewal and account health</a:t>
                      </a:r>
                      <a:endParaRPr lang="en-US" sz="1166" dirty="0">
                        <a:latin typeface="Inter" charset="0"/>
                        <a:ea typeface="Inter" charset="0"/>
                        <a:cs typeface="Inter" charset="0"/>
                      </a:endParaRPr>
                    </a:p>
                  </a:txBody>
                  <a:tcPr marL="88900" marR="88900" marT="50800" marB="50800"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algn="r" indent="0" marL="0">
                        <a:lnSpc>
                          <a:spcPts val="1633"/>
                        </a:lnSpc>
                        <a:buNone/>
                      </a:pPr>
                      <a:r>
                        <a:rPr lang="en-US" sz="1166" dirty="0">
                          <a:solidFill>
                            <a:srgbClr val="051C2C"/>
                          </a:solidFill>
                          <a:latin typeface="Inter" pitchFamily="34" charset="0"/>
                          <a:ea typeface="Inter" pitchFamily="34" charset="-122"/>
                          <a:cs typeface="Inter" pitchFamily="34" charset="-120"/>
                        </a:rPr>
                        <a:t>990</a:t>
                      </a:r>
                      <a:endParaRPr lang="en-US" sz="1166" dirty="0">
                        <a:latin typeface="Inter" charset="0"/>
                        <a:ea typeface="Inter" charset="0"/>
                        <a:cs typeface="Inter" charset="0"/>
                      </a:endParaRPr>
                    </a:p>
                  </a:txBody>
                  <a:tcPr marL="88900" marR="88900" marT="50800" marB="50800"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algn="r" indent="0" marL="0">
                        <a:lnSpc>
                          <a:spcPts val="1633"/>
                        </a:lnSpc>
                        <a:buNone/>
                      </a:pPr>
                      <a:r>
                        <a:rPr lang="en-US" sz="1166" dirty="0">
                          <a:solidFill>
                            <a:srgbClr val="051C2C"/>
                          </a:solidFill>
                          <a:latin typeface="Inter" pitchFamily="34" charset="0"/>
                          <a:ea typeface="Inter" pitchFamily="34" charset="-122"/>
                          <a:cs typeface="Inter" pitchFamily="34" charset="-120"/>
                        </a:rPr>
                        <a:t>20%</a:t>
                      </a:r>
                      <a:endParaRPr lang="en-US" sz="1166" dirty="0">
                        <a:latin typeface="Inter" charset="0"/>
                        <a:ea typeface="Inter" charset="0"/>
                        <a:cs typeface="Inter" charset="0"/>
                      </a:endParaRPr>
                    </a:p>
                  </a:txBody>
                  <a:tcPr marL="88900" marR="88900" marT="50800" marB="50800"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algn="r" indent="0" marL="0">
                        <a:lnSpc>
                          <a:spcPts val="1633"/>
                        </a:lnSpc>
                        <a:buNone/>
                      </a:pPr>
                      <a:r>
                        <a:rPr lang="en-US" sz="1166" dirty="0">
                          <a:solidFill>
                            <a:srgbClr val="051C2C"/>
                          </a:solidFill>
                          <a:latin typeface="Inter" pitchFamily="34" charset="0"/>
                          <a:ea typeface="Inter" pitchFamily="34" charset="-122"/>
                          <a:cs typeface="Inter" pitchFamily="34" charset="-120"/>
                        </a:rPr>
                        <a:t>0.18M</a:t>
                      </a:r>
                      <a:endParaRPr lang="en-US" sz="1166" dirty="0">
                        <a:latin typeface="Inter" charset="0"/>
                        <a:ea typeface="Inter" charset="0"/>
                        <a:cs typeface="Inter" charset="0"/>
                      </a:endParaRPr>
                    </a:p>
                  </a:txBody>
                  <a:tcPr marL="88900" marR="88900" marT="50800" marB="50800"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algn="r" indent="0" marL="0">
                        <a:lnSpc>
                          <a:spcPts val="1633"/>
                        </a:lnSpc>
                        <a:buNone/>
                      </a:pPr>
                      <a:r>
                        <a:rPr lang="en-US" sz="1166" dirty="0">
                          <a:solidFill>
                            <a:srgbClr val="2251FF"/>
                          </a:solidFill>
                          <a:latin typeface="Inter" pitchFamily="34" charset="0"/>
                          <a:ea typeface="Inter" pitchFamily="34" charset="-122"/>
                          <a:cs typeface="Inter" pitchFamily="34" charset="-120"/>
                        </a:rPr>
                        <a:t>99</a:t>
                      </a:r>
                      <a:endParaRPr lang="en-US" sz="1166" dirty="0">
                        <a:latin typeface="Inter" charset="0"/>
                        <a:ea typeface="Inter" charset="0"/>
                        <a:cs typeface="Inter" charset="0"/>
                      </a:endParaRPr>
                    </a:p>
                  </a:txBody>
                  <a:tcPr marL="88900" marR="88900" marT="50800" marB="50800"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r>
              <a:tr h="322808">
                <a:tc>
                  <a:txBody>
                    <a:bodyPr/>
                    <a:lstStyle/>
                    <a:p>
                      <a:pPr indent="0" marL="0">
                        <a:lnSpc>
                          <a:spcPts val="1633"/>
                        </a:lnSpc>
                        <a:buNone/>
                      </a:pPr>
                      <a:r>
                        <a:rPr lang="en-US" sz="1166" dirty="0">
                          <a:solidFill>
                            <a:srgbClr val="051C2C"/>
                          </a:solidFill>
                          <a:latin typeface="Inter" pitchFamily="34" charset="0"/>
                          <a:ea typeface="Inter" pitchFamily="34" charset="-122"/>
                          <a:cs typeface="Inter" pitchFamily="34" charset="-120"/>
                        </a:rPr>
                        <a:t>Contract review and comparison</a:t>
                      </a:r>
                      <a:endParaRPr lang="en-US" sz="1166" dirty="0">
                        <a:latin typeface="Inter" charset="0"/>
                        <a:ea typeface="Inter" charset="0"/>
                        <a:cs typeface="Inter" charset="0"/>
                      </a:endParaRPr>
                    </a:p>
                  </a:txBody>
                  <a:tcPr marL="88900" marR="88900" marT="50800" marB="50800"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633"/>
                        </a:lnSpc>
                        <a:buNone/>
                      </a:pPr>
                      <a:r>
                        <a:rPr lang="en-US" sz="1166" dirty="0">
                          <a:solidFill>
                            <a:srgbClr val="3C4A55"/>
                          </a:solidFill>
                          <a:latin typeface="Inter" pitchFamily="34" charset="0"/>
                          <a:ea typeface="Inter" pitchFamily="34" charset="-122"/>
                          <a:cs typeface="Inter" pitchFamily="34" charset="-120"/>
                        </a:rPr>
                        <a:t>Deal desk and legal ops</a:t>
                      </a:r>
                      <a:endParaRPr lang="en-US" sz="1166" dirty="0">
                        <a:latin typeface="Inter" charset="0"/>
                        <a:ea typeface="Inter" charset="0"/>
                        <a:cs typeface="Inter" charset="0"/>
                      </a:endParaRPr>
                    </a:p>
                  </a:txBody>
                  <a:tcPr marL="88900" marR="88900" marT="50800" marB="50800"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algn="r" indent="0" marL="0">
                        <a:lnSpc>
                          <a:spcPts val="1633"/>
                        </a:lnSpc>
                        <a:buNone/>
                      </a:pPr>
                      <a:r>
                        <a:rPr lang="en-US" sz="1166" dirty="0">
                          <a:solidFill>
                            <a:srgbClr val="051C2C"/>
                          </a:solidFill>
                          <a:latin typeface="Inter" pitchFamily="34" charset="0"/>
                          <a:ea typeface="Inter" pitchFamily="34" charset="-122"/>
                          <a:cs typeface="Inter" pitchFamily="34" charset="-120"/>
                        </a:rPr>
                        <a:t>360</a:t>
                      </a:r>
                      <a:endParaRPr lang="en-US" sz="1166" dirty="0">
                        <a:latin typeface="Inter" charset="0"/>
                        <a:ea typeface="Inter" charset="0"/>
                        <a:cs typeface="Inter" charset="0"/>
                      </a:endParaRPr>
                    </a:p>
                  </a:txBody>
                  <a:tcPr marL="88900" marR="88900" marT="50800" marB="50800"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algn="r" indent="0" marL="0">
                        <a:lnSpc>
                          <a:spcPts val="1633"/>
                        </a:lnSpc>
                        <a:buNone/>
                      </a:pPr>
                      <a:r>
                        <a:rPr lang="en-US" sz="1166" dirty="0">
                          <a:solidFill>
                            <a:srgbClr val="051C2C"/>
                          </a:solidFill>
                          <a:latin typeface="Inter" pitchFamily="34" charset="0"/>
                          <a:ea typeface="Inter" pitchFamily="34" charset="-122"/>
                          <a:cs typeface="Inter" pitchFamily="34" charset="-120"/>
                        </a:rPr>
                        <a:t>50%</a:t>
                      </a:r>
                      <a:endParaRPr lang="en-US" sz="1166" dirty="0">
                        <a:latin typeface="Inter" charset="0"/>
                        <a:ea typeface="Inter" charset="0"/>
                        <a:cs typeface="Inter" charset="0"/>
                      </a:endParaRPr>
                    </a:p>
                  </a:txBody>
                  <a:tcPr marL="88900" marR="88900" marT="50800" marB="50800"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algn="r" indent="0" marL="0">
                        <a:lnSpc>
                          <a:spcPts val="1633"/>
                        </a:lnSpc>
                        <a:buNone/>
                      </a:pPr>
                      <a:r>
                        <a:rPr lang="en-US" sz="1166" dirty="0">
                          <a:solidFill>
                            <a:srgbClr val="051C2C"/>
                          </a:solidFill>
                          <a:latin typeface="Inter" pitchFamily="34" charset="0"/>
                          <a:ea typeface="Inter" pitchFamily="34" charset="-122"/>
                          <a:cs typeface="Inter" pitchFamily="34" charset="-120"/>
                        </a:rPr>
                        <a:t>0.13M</a:t>
                      </a:r>
                      <a:endParaRPr lang="en-US" sz="1166" dirty="0">
                        <a:latin typeface="Inter" charset="0"/>
                        <a:ea typeface="Inter" charset="0"/>
                        <a:cs typeface="Inter" charset="0"/>
                      </a:endParaRPr>
                    </a:p>
                  </a:txBody>
                  <a:tcPr marL="88900" marR="88900" marT="50800" marB="50800"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algn="r" indent="0" marL="0">
                        <a:lnSpc>
                          <a:spcPts val="1633"/>
                        </a:lnSpc>
                        <a:buNone/>
                      </a:pPr>
                      <a:r>
                        <a:rPr lang="en-US" sz="1166" dirty="0">
                          <a:solidFill>
                            <a:srgbClr val="2251FF"/>
                          </a:solidFill>
                          <a:latin typeface="Inter" pitchFamily="34" charset="0"/>
                          <a:ea typeface="Inter" pitchFamily="34" charset="-122"/>
                          <a:cs typeface="Inter" pitchFamily="34" charset="-120"/>
                        </a:rPr>
                        <a:t>72</a:t>
                      </a:r>
                      <a:endParaRPr lang="en-US" sz="1166" dirty="0">
                        <a:latin typeface="Inter" charset="0"/>
                        <a:ea typeface="Inter" charset="0"/>
                        <a:cs typeface="Inter" charset="0"/>
                      </a:endParaRPr>
                    </a:p>
                  </a:txBody>
                  <a:tcPr marL="88900" marR="88900" marT="50800" marB="50800"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r>
              <a:tr h="322808">
                <a:tc>
                  <a:txBody>
                    <a:bodyPr/>
                    <a:lstStyle/>
                    <a:p>
                      <a:pPr indent="0" marL="0">
                        <a:lnSpc>
                          <a:spcPts val="1633"/>
                        </a:lnSpc>
                        <a:buNone/>
                      </a:pPr>
                      <a:r>
                        <a:rPr lang="en-US" sz="1166" dirty="0">
                          <a:solidFill>
                            <a:srgbClr val="051C2C"/>
                          </a:solidFill>
                          <a:latin typeface="Inter" pitchFamily="34" charset="0"/>
                          <a:ea typeface="Inter" pitchFamily="34" charset="-122"/>
                          <a:cs typeface="Inter" pitchFamily="34" charset="-120"/>
                        </a:rPr>
                        <a:t>Cross-sell research and pitch drafting</a:t>
                      </a:r>
                      <a:endParaRPr lang="en-US" sz="1166" dirty="0">
                        <a:latin typeface="Inter" charset="0"/>
                        <a:ea typeface="Inter" charset="0"/>
                        <a:cs typeface="Inter" charset="0"/>
                      </a:endParaRPr>
                    </a:p>
                  </a:txBody>
                  <a:tcPr marL="88900" marR="88900" marT="50800" marB="50800"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633"/>
                        </a:lnSpc>
                        <a:buNone/>
                      </a:pPr>
                      <a:r>
                        <a:rPr lang="en-US" sz="1166" dirty="0">
                          <a:solidFill>
                            <a:srgbClr val="3C4A55"/>
                          </a:solidFill>
                          <a:latin typeface="Inter" pitchFamily="34" charset="0"/>
                          <a:ea typeface="Inter" pitchFamily="34" charset="-122"/>
                          <a:cs typeface="Inter" pitchFamily="34" charset="-120"/>
                        </a:rPr>
                        <a:t>Cross-sell, upsell and sales</a:t>
                      </a:r>
                      <a:endParaRPr lang="en-US" sz="1166" dirty="0">
                        <a:latin typeface="Inter" charset="0"/>
                        <a:ea typeface="Inter" charset="0"/>
                        <a:cs typeface="Inter" charset="0"/>
                      </a:endParaRPr>
                    </a:p>
                  </a:txBody>
                  <a:tcPr marL="88900" marR="88900" marT="50800" marB="50800"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algn="r" indent="0" marL="0">
                        <a:lnSpc>
                          <a:spcPts val="1633"/>
                        </a:lnSpc>
                        <a:buNone/>
                      </a:pPr>
                      <a:r>
                        <a:rPr lang="en-US" sz="1166" dirty="0">
                          <a:solidFill>
                            <a:srgbClr val="051C2C"/>
                          </a:solidFill>
                          <a:latin typeface="Inter" pitchFamily="34" charset="0"/>
                          <a:ea typeface="Inter" pitchFamily="34" charset="-122"/>
                          <a:cs typeface="Inter" pitchFamily="34" charset="-120"/>
                        </a:rPr>
                        <a:t>900</a:t>
                      </a:r>
                      <a:endParaRPr lang="en-US" sz="1166" dirty="0">
                        <a:latin typeface="Inter" charset="0"/>
                        <a:ea typeface="Inter" charset="0"/>
                        <a:cs typeface="Inter" charset="0"/>
                      </a:endParaRPr>
                    </a:p>
                  </a:txBody>
                  <a:tcPr marL="88900" marR="88900" marT="50800" marB="50800"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algn="r" indent="0" marL="0">
                        <a:lnSpc>
                          <a:spcPts val="1633"/>
                        </a:lnSpc>
                        <a:buNone/>
                      </a:pPr>
                      <a:r>
                        <a:rPr lang="en-US" sz="1166" dirty="0">
                          <a:solidFill>
                            <a:srgbClr val="051C2C"/>
                          </a:solidFill>
                          <a:latin typeface="Inter" pitchFamily="34" charset="0"/>
                          <a:ea typeface="Inter" pitchFamily="34" charset="-122"/>
                          <a:cs typeface="Inter" pitchFamily="34" charset="-120"/>
                        </a:rPr>
                        <a:t>10%</a:t>
                      </a:r>
                      <a:endParaRPr lang="en-US" sz="1166" dirty="0">
                        <a:latin typeface="Inter" charset="0"/>
                        <a:ea typeface="Inter" charset="0"/>
                        <a:cs typeface="Inter" charset="0"/>
                      </a:endParaRPr>
                    </a:p>
                  </a:txBody>
                  <a:tcPr marL="88900" marR="88900" marT="50800" marB="50800"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algn="r" indent="0" marL="0">
                        <a:lnSpc>
                          <a:spcPts val="1633"/>
                        </a:lnSpc>
                        <a:buNone/>
                      </a:pPr>
                      <a:r>
                        <a:rPr lang="en-US" sz="1166" dirty="0">
                          <a:solidFill>
                            <a:srgbClr val="051C2C"/>
                          </a:solidFill>
                          <a:latin typeface="Inter" pitchFamily="34" charset="0"/>
                          <a:ea typeface="Inter" pitchFamily="34" charset="-122"/>
                          <a:cs typeface="Inter" pitchFamily="34" charset="-120"/>
                        </a:rPr>
                        <a:t>0.08M</a:t>
                      </a:r>
                      <a:endParaRPr lang="en-US" sz="1166" dirty="0">
                        <a:latin typeface="Inter" charset="0"/>
                        <a:ea typeface="Inter" charset="0"/>
                        <a:cs typeface="Inter" charset="0"/>
                      </a:endParaRPr>
                    </a:p>
                  </a:txBody>
                  <a:tcPr marL="88900" marR="88900" marT="50800" marB="50800"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algn="r" indent="0" marL="0">
                        <a:lnSpc>
                          <a:spcPts val="1633"/>
                        </a:lnSpc>
                        <a:buNone/>
                      </a:pPr>
                      <a:r>
                        <a:rPr lang="en-US" sz="1166" dirty="0">
                          <a:solidFill>
                            <a:srgbClr val="2251FF"/>
                          </a:solidFill>
                          <a:latin typeface="Inter" pitchFamily="34" charset="0"/>
                          <a:ea typeface="Inter" pitchFamily="34" charset="-122"/>
                          <a:cs typeface="Inter" pitchFamily="34" charset="-120"/>
                        </a:rPr>
                        <a:t>45</a:t>
                      </a:r>
                      <a:endParaRPr lang="en-US" sz="1166" dirty="0">
                        <a:latin typeface="Inter" charset="0"/>
                        <a:ea typeface="Inter" charset="0"/>
                        <a:cs typeface="Inter" charset="0"/>
                      </a:endParaRPr>
                    </a:p>
                  </a:txBody>
                  <a:tcPr marL="88900" marR="88900" marT="50800" marB="50800"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r>
              <a:tr h="530175">
                <a:tc>
                  <a:txBody>
                    <a:bodyPr/>
                    <a:lstStyle/>
                    <a:p>
                      <a:pPr indent="0" marL="0">
                        <a:lnSpc>
                          <a:spcPts val="1633"/>
                        </a:lnSpc>
                        <a:buNone/>
                      </a:pPr>
                      <a:r>
                        <a:rPr lang="en-US" sz="1166" dirty="0">
                          <a:solidFill>
                            <a:srgbClr val="051C2C"/>
                          </a:solidFill>
                          <a:latin typeface="Inter" pitchFamily="34" charset="0"/>
                          <a:ea typeface="Inter" pitchFamily="34" charset="-122"/>
                          <a:cs typeface="Inter" pitchFamily="34" charset="-120"/>
                        </a:rPr>
                        <a:t>Vendor licence and time-to-cost reconciliation</a:t>
                      </a:r>
                      <a:endParaRPr lang="en-US" sz="1166" dirty="0">
                        <a:latin typeface="Inter" charset="0"/>
                        <a:ea typeface="Inter" charset="0"/>
                        <a:cs typeface="Inter" charset="0"/>
                      </a:endParaRPr>
                    </a:p>
                  </a:txBody>
                  <a:tcPr marL="88900" marR="88900" marT="50800" marB="50800"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633"/>
                        </a:lnSpc>
                        <a:buNone/>
                      </a:pPr>
                      <a:r>
                        <a:rPr lang="en-US" sz="1166" dirty="0">
                          <a:solidFill>
                            <a:srgbClr val="3C4A55"/>
                          </a:solidFill>
                          <a:latin typeface="Inter" pitchFamily="34" charset="0"/>
                          <a:ea typeface="Inter" pitchFamily="34" charset="-122"/>
                          <a:cs typeface="Inter" pitchFamily="34" charset="-120"/>
                        </a:rPr>
                        <a:t>Procurement and vendor mgmt</a:t>
                      </a:r>
                      <a:endParaRPr lang="en-US" sz="1166" dirty="0">
                        <a:latin typeface="Inter" charset="0"/>
                        <a:ea typeface="Inter" charset="0"/>
                        <a:cs typeface="Inter" charset="0"/>
                      </a:endParaRPr>
                    </a:p>
                  </a:txBody>
                  <a:tcPr marL="88900" marR="88900" marT="50800" marB="50800"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algn="r" indent="0" marL="0">
                        <a:lnSpc>
                          <a:spcPts val="1633"/>
                        </a:lnSpc>
                        <a:buNone/>
                      </a:pPr>
                      <a:r>
                        <a:rPr lang="en-US" sz="1166" dirty="0">
                          <a:solidFill>
                            <a:srgbClr val="051C2C"/>
                          </a:solidFill>
                          <a:latin typeface="Inter" pitchFamily="34" charset="0"/>
                          <a:ea typeface="Inter" pitchFamily="34" charset="-122"/>
                          <a:cs typeface="Inter" pitchFamily="34" charset="-120"/>
                        </a:rPr>
                        <a:t>240</a:t>
                      </a:r>
                      <a:endParaRPr lang="en-US" sz="1166" dirty="0">
                        <a:latin typeface="Inter" charset="0"/>
                        <a:ea typeface="Inter" charset="0"/>
                        <a:cs typeface="Inter" charset="0"/>
                      </a:endParaRPr>
                    </a:p>
                  </a:txBody>
                  <a:tcPr marL="88900" marR="88900" marT="50800" marB="50800"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algn="r" indent="0" marL="0">
                        <a:lnSpc>
                          <a:spcPts val="1633"/>
                        </a:lnSpc>
                        <a:buNone/>
                      </a:pPr>
                      <a:r>
                        <a:rPr lang="en-US" sz="1166" dirty="0">
                          <a:solidFill>
                            <a:srgbClr val="051C2C"/>
                          </a:solidFill>
                          <a:latin typeface="Inter" pitchFamily="34" charset="0"/>
                          <a:ea typeface="Inter" pitchFamily="34" charset="-122"/>
                          <a:cs typeface="Inter" pitchFamily="34" charset="-120"/>
                        </a:rPr>
                        <a:t>30%</a:t>
                      </a:r>
                      <a:endParaRPr lang="en-US" sz="1166" dirty="0">
                        <a:latin typeface="Inter" charset="0"/>
                        <a:ea typeface="Inter" charset="0"/>
                        <a:cs typeface="Inter" charset="0"/>
                      </a:endParaRPr>
                    </a:p>
                  </a:txBody>
                  <a:tcPr marL="88900" marR="88900" marT="50800" marB="50800"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algn="r" indent="0" marL="0">
                        <a:lnSpc>
                          <a:spcPts val="1633"/>
                        </a:lnSpc>
                        <a:buNone/>
                      </a:pPr>
                      <a:r>
                        <a:rPr lang="en-US" sz="1166" dirty="0">
                          <a:solidFill>
                            <a:srgbClr val="051C2C"/>
                          </a:solidFill>
                          <a:latin typeface="Inter" pitchFamily="34" charset="0"/>
                          <a:ea typeface="Inter" pitchFamily="34" charset="-122"/>
                          <a:cs typeface="Inter" pitchFamily="34" charset="-120"/>
                        </a:rPr>
                        <a:t>0.06M</a:t>
                      </a:r>
                      <a:endParaRPr lang="en-US" sz="1166" dirty="0">
                        <a:latin typeface="Inter" charset="0"/>
                        <a:ea typeface="Inter" charset="0"/>
                        <a:cs typeface="Inter" charset="0"/>
                      </a:endParaRPr>
                    </a:p>
                  </a:txBody>
                  <a:tcPr marL="88900" marR="88900" marT="50800" marB="50800"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algn="r" indent="0" marL="0">
                        <a:lnSpc>
                          <a:spcPts val="1633"/>
                        </a:lnSpc>
                        <a:buNone/>
                      </a:pPr>
                      <a:r>
                        <a:rPr lang="en-US" sz="1166" dirty="0">
                          <a:solidFill>
                            <a:srgbClr val="2251FF"/>
                          </a:solidFill>
                          <a:latin typeface="Inter" pitchFamily="34" charset="0"/>
                          <a:ea typeface="Inter" pitchFamily="34" charset="-122"/>
                          <a:cs typeface="Inter" pitchFamily="34" charset="-120"/>
                        </a:rPr>
                        <a:t>36</a:t>
                      </a:r>
                      <a:endParaRPr lang="en-US" sz="1166" dirty="0">
                        <a:latin typeface="Inter" charset="0"/>
                        <a:ea typeface="Inter" charset="0"/>
                        <a:cs typeface="Inter" charset="0"/>
                      </a:endParaRPr>
                    </a:p>
                  </a:txBody>
                  <a:tcPr marL="88900" marR="88900" marT="50800" marB="50800"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r>
              <a:tr h="322858">
                <a:tc>
                  <a:txBody>
                    <a:bodyPr/>
                    <a:lstStyle/>
                    <a:p>
                      <a:pPr indent="0" marL="0">
                        <a:lnSpc>
                          <a:spcPts val="1633"/>
                        </a:lnSpc>
                        <a:buNone/>
                      </a:pPr>
                      <a:r>
                        <a:rPr lang="en-US" sz="1166" dirty="0">
                          <a:solidFill>
                            <a:srgbClr val="F4F6F8"/>
                          </a:solidFill>
                          <a:latin typeface="Inter" pitchFamily="34" charset="0"/>
                          <a:ea typeface="Inter" pitchFamily="34" charset="-122"/>
                          <a:cs typeface="Inter" pitchFamily="34" charset="-120"/>
                        </a:rPr>
                        <a:t>Total (12% of in-scope time, 4% of workforce)</a:t>
                      </a:r>
                      <a:endParaRPr lang="en-US" sz="1166" dirty="0">
                        <a:latin typeface="Inter" charset="0"/>
                        <a:ea typeface="Inter" charset="0"/>
                        <a:cs typeface="Inter" charset="0"/>
                      </a:endParaRPr>
                    </a:p>
                  </a:txBody>
                  <a:tcPr marL="88900" marR="88900" marT="50800" marB="50800" anchor="t">
                    <a:lnL w="12700" cap="flat" cmpd="sng" algn="ctr">
                      <a:solidFill>
                        <a:srgbClr val="C8C8C6"/>
                      </a:solidFill>
                      <a:prstDash val="solid"/>
                      <a:round/>
                      <a:headEnd type="none" w="med" len="med"/>
                      <a:tailEnd type="none" w="med" len="med"/>
                    </a:lnL>
                    <a:lnR w="12700" cap="flat" cmpd="sng" algn="ctr">
                      <a:solidFill>
                        <a:srgbClr val="081A27"/>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081A27"/>
                      </a:solidFill>
                      <a:prstDash val="solid"/>
                      <a:round/>
                      <a:headEnd type="none" w="med" len="med"/>
                      <a:tailEnd type="none" w="med" len="med"/>
                    </a:lnB>
                    <a:solidFill>
                      <a:srgbClr val="051C2C"/>
                    </a:solidFill>
                  </a:tcPr>
                </a:tc>
                <a:tc>
                  <a:txBody>
                    <a:bodyPr/>
                    <a:lstStyle/>
                    <a:p>
                      <a:pPr indent="0" marL="0">
                        <a:lnSpc>
                          <a:spcPts val="1633"/>
                        </a:lnSpc>
                        <a:buNone/>
                      </a:pPr>
                      <a:r>
                        <a:rPr lang="en-US" sz="1166" dirty="0">
                          <a:solidFill>
                            <a:srgbClr val="C9D4DD"/>
                          </a:solidFill>
                          <a:latin typeface="Inter" pitchFamily="34" charset="0"/>
                          <a:ea typeface="Inter" pitchFamily="34" charset="-122"/>
                          <a:cs typeface="Inter" pitchFamily="34" charset="-120"/>
                        </a:rPr>
                        <a:t>Seven role pools</a:t>
                      </a:r>
                      <a:endParaRPr lang="en-US" sz="1166" dirty="0">
                        <a:latin typeface="Inter" charset="0"/>
                        <a:ea typeface="Inter" charset="0"/>
                        <a:cs typeface="Inter" charset="0"/>
                      </a:endParaRPr>
                    </a:p>
                  </a:txBody>
                  <a:tcPr marL="88900" marR="88900" marT="50800" marB="50800" anchor="t">
                    <a:lnL w="12700" cap="flat" cmpd="sng" algn="ctr">
                      <a:solidFill>
                        <a:srgbClr val="081A27"/>
                      </a:solidFill>
                      <a:prstDash val="solid"/>
                      <a:round/>
                      <a:headEnd type="none" w="med" len="med"/>
                      <a:tailEnd type="none" w="med" len="med"/>
                    </a:lnL>
                    <a:lnR w="12700" cap="flat" cmpd="sng" algn="ctr">
                      <a:solidFill>
                        <a:srgbClr val="081A27"/>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081A27"/>
                      </a:solidFill>
                      <a:prstDash val="solid"/>
                      <a:round/>
                      <a:headEnd type="none" w="med" len="med"/>
                      <a:tailEnd type="none" w="med" len="med"/>
                    </a:lnB>
                    <a:solidFill>
                      <a:srgbClr val="051C2C"/>
                    </a:solidFill>
                  </a:tcPr>
                </a:tc>
                <a:tc>
                  <a:txBody>
                    <a:bodyPr/>
                    <a:lstStyle/>
                    <a:p>
                      <a:pPr algn="r" indent="0" marL="0">
                        <a:lnSpc>
                          <a:spcPts val="1633"/>
                        </a:lnSpc>
                        <a:buNone/>
                      </a:pPr>
                      <a:r>
                        <a:rPr lang="en-US" sz="1166" dirty="0">
                          <a:solidFill>
                            <a:srgbClr val="C9D4DD"/>
                          </a:solidFill>
                          <a:latin typeface="Inter" pitchFamily="34" charset="0"/>
                          <a:ea typeface="Inter" pitchFamily="34" charset="-122"/>
                          <a:cs typeface="Inter" pitchFamily="34" charset="-120"/>
                        </a:rPr>
                        <a:t>13,930</a:t>
                      </a:r>
                      <a:endParaRPr lang="en-US" sz="1166" dirty="0">
                        <a:latin typeface="Inter" charset="0"/>
                        <a:ea typeface="Inter" charset="0"/>
                        <a:cs typeface="Inter" charset="0"/>
                      </a:endParaRPr>
                    </a:p>
                  </a:txBody>
                  <a:tcPr marL="88900" marR="88900" marT="50800" marB="50800" anchor="t">
                    <a:lnL w="12700" cap="flat" cmpd="sng" algn="ctr">
                      <a:solidFill>
                        <a:srgbClr val="081A27"/>
                      </a:solidFill>
                      <a:prstDash val="solid"/>
                      <a:round/>
                      <a:headEnd type="none" w="med" len="med"/>
                      <a:tailEnd type="none" w="med" len="med"/>
                    </a:lnL>
                    <a:lnR w="12700" cap="flat" cmpd="sng" algn="ctr">
                      <a:solidFill>
                        <a:srgbClr val="081A27"/>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081A27"/>
                      </a:solidFill>
                      <a:prstDash val="solid"/>
                      <a:round/>
                      <a:headEnd type="none" w="med" len="med"/>
                      <a:tailEnd type="none" w="med" len="med"/>
                    </a:lnB>
                    <a:solidFill>
                      <a:srgbClr val="051C2C"/>
                    </a:solidFill>
                  </a:tcPr>
                </a:tc>
                <a:tc>
                  <a:txBody>
                    <a:bodyPr/>
                    <a:lstStyle/>
                    <a:p>
                      <a:pPr algn="r" indent="0" marL="0">
                        <a:lnSpc>
                          <a:spcPts val="1633"/>
                        </a:lnSpc>
                        <a:buNone/>
                      </a:pPr>
                      <a:r>
                        <a:rPr lang="en-US" sz="1166" dirty="0">
                          <a:solidFill>
                            <a:srgbClr val="C9D4DD"/>
                          </a:solidFill>
                          <a:latin typeface="Inter" pitchFamily="34" charset="0"/>
                          <a:ea typeface="Inter" pitchFamily="34" charset="-122"/>
                          <a:cs typeface="Inter" pitchFamily="34" charset="-120"/>
                        </a:rPr>
                        <a:t>–</a:t>
                      </a:r>
                      <a:endParaRPr lang="en-US" sz="1166" dirty="0">
                        <a:latin typeface="Inter" charset="0"/>
                        <a:ea typeface="Inter" charset="0"/>
                        <a:cs typeface="Inter" charset="0"/>
                      </a:endParaRPr>
                    </a:p>
                  </a:txBody>
                  <a:tcPr marL="88900" marR="88900" marT="50800" marB="50800" anchor="t">
                    <a:lnL w="12700" cap="flat" cmpd="sng" algn="ctr">
                      <a:solidFill>
                        <a:srgbClr val="081A27"/>
                      </a:solidFill>
                      <a:prstDash val="solid"/>
                      <a:round/>
                      <a:headEnd type="none" w="med" len="med"/>
                      <a:tailEnd type="none" w="med" len="med"/>
                    </a:lnL>
                    <a:lnR w="12700" cap="flat" cmpd="sng" algn="ctr">
                      <a:solidFill>
                        <a:srgbClr val="081A27"/>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081A27"/>
                      </a:solidFill>
                      <a:prstDash val="solid"/>
                      <a:round/>
                      <a:headEnd type="none" w="med" len="med"/>
                      <a:tailEnd type="none" w="med" len="med"/>
                    </a:lnB>
                    <a:solidFill>
                      <a:srgbClr val="051C2C"/>
                    </a:solidFill>
                  </a:tcPr>
                </a:tc>
                <a:tc>
                  <a:txBody>
                    <a:bodyPr/>
                    <a:lstStyle/>
                    <a:p>
                      <a:pPr algn="r" indent="0" marL="0">
                        <a:lnSpc>
                          <a:spcPts val="1633"/>
                        </a:lnSpc>
                        <a:buNone/>
                      </a:pPr>
                      <a:r>
                        <a:rPr lang="en-US" sz="1166" dirty="0">
                          <a:solidFill>
                            <a:srgbClr val="F4F6F8"/>
                          </a:solidFill>
                          <a:latin typeface="Inter" pitchFamily="34" charset="0"/>
                          <a:ea typeface="Inter" pitchFamily="34" charset="-122"/>
                          <a:cs typeface="Inter" pitchFamily="34" charset="-120"/>
                        </a:rPr>
                        <a:t>3.09M</a:t>
                      </a:r>
                      <a:endParaRPr lang="en-US" sz="1166" dirty="0">
                        <a:latin typeface="Inter" charset="0"/>
                        <a:ea typeface="Inter" charset="0"/>
                        <a:cs typeface="Inter" charset="0"/>
                      </a:endParaRPr>
                    </a:p>
                  </a:txBody>
                  <a:tcPr marL="88900" marR="88900" marT="50800" marB="50800" anchor="t">
                    <a:lnL w="12700" cap="flat" cmpd="sng" algn="ctr">
                      <a:solidFill>
                        <a:srgbClr val="081A27"/>
                      </a:solidFill>
                      <a:prstDash val="solid"/>
                      <a:round/>
                      <a:headEnd type="none" w="med" len="med"/>
                      <a:tailEnd type="none" w="med" len="med"/>
                    </a:lnL>
                    <a:lnR w="12700" cap="flat" cmpd="sng" algn="ctr">
                      <a:solidFill>
                        <a:srgbClr val="081A27"/>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081A27"/>
                      </a:solidFill>
                      <a:prstDash val="solid"/>
                      <a:round/>
                      <a:headEnd type="none" w="med" len="med"/>
                      <a:tailEnd type="none" w="med" len="med"/>
                    </a:lnB>
                    <a:solidFill>
                      <a:srgbClr val="051C2C"/>
                    </a:solidFill>
                  </a:tcPr>
                </a:tc>
                <a:tc>
                  <a:txBody>
                    <a:bodyPr/>
                    <a:lstStyle/>
                    <a:p>
                      <a:pPr algn="r" indent="0" marL="0">
                        <a:lnSpc>
                          <a:spcPts val="1633"/>
                        </a:lnSpc>
                        <a:buNone/>
                      </a:pPr>
                      <a:r>
                        <a:rPr lang="en-US" sz="1166" dirty="0">
                          <a:solidFill>
                            <a:srgbClr val="00A9F4"/>
                          </a:solidFill>
                          <a:latin typeface="Inter" pitchFamily="34" charset="0"/>
                          <a:ea typeface="Inter" pitchFamily="34" charset="-122"/>
                          <a:cs typeface="Inter" pitchFamily="34" charset="-120"/>
                        </a:rPr>
                        <a:t>1,717</a:t>
                      </a:r>
                      <a:endParaRPr lang="en-US" sz="1166" dirty="0">
                        <a:latin typeface="Inter" charset="0"/>
                        <a:ea typeface="Inter" charset="0"/>
                        <a:cs typeface="Inter" charset="0"/>
                      </a:endParaRPr>
                    </a:p>
                  </a:txBody>
                  <a:tcPr marL="88900" marR="88900" marT="50800" marB="50800" anchor="t">
                    <a:lnL w="12700" cap="flat" cmpd="sng" algn="ctr">
                      <a:solidFill>
                        <a:srgbClr val="081A27"/>
                      </a:solidFill>
                      <a:prstDash val="solid"/>
                      <a:round/>
                      <a:headEnd type="none" w="med" len="med"/>
                      <a:tailEnd type="none" w="med" len="med"/>
                    </a:lnL>
                    <a:lnR w="12700" cap="flat" cmpd="sng" algn="ctr">
                      <a:solidFill>
                        <a:srgbClr val="081A27"/>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081A27"/>
                      </a:solidFill>
                      <a:prstDash val="solid"/>
                      <a:round/>
                      <a:headEnd type="none" w="med" len="med"/>
                      <a:tailEnd type="none" w="med" len="med"/>
                    </a:lnB>
                    <a:solidFill>
                      <a:srgbClr val="051C2C"/>
                    </a:solidFill>
                  </a:tcPr>
                </a:tc>
              </a:tr>
            </a:tbl>
          </a:graphicData>
        </a:graphic>
      </p:graphicFrame>
      <p:sp>
        <p:nvSpPr>
          <p:cNvPr id="5" name="Shape 2"/>
          <p:cNvSpPr/>
          <p:nvPr/>
        </p:nvSpPr>
        <p:spPr>
          <a:xfrm>
            <a:off x="815975" y="5287764"/>
            <a:ext cx="3448050" cy="551061"/>
          </a:xfrm>
          <a:prstGeom prst="rect">
            <a:avLst/>
          </a:prstGeom>
          <a:solidFill>
            <a:srgbClr val="FFFFFF"/>
          </a:solidFill>
          <a:ln w="6350">
            <a:solidFill>
              <a:srgbClr val="D5DCE2"/>
            </a:solidFill>
            <a:prstDash val="solid"/>
          </a:ln>
        </p:spPr>
      </p:sp>
      <p:sp>
        <p:nvSpPr>
          <p:cNvPr id="6" name="Text 3"/>
          <p:cNvSpPr/>
          <p:nvPr/>
        </p:nvSpPr>
        <p:spPr>
          <a:xfrm>
            <a:off x="971550" y="5367139"/>
            <a:ext cx="3231007" cy="215205"/>
          </a:xfrm>
          <a:prstGeom prst="rect">
            <a:avLst/>
          </a:prstGeom>
          <a:noFill/>
          <a:ln/>
        </p:spPr>
        <p:txBody>
          <a:bodyPr wrap="square" lIns="0" tIns="0" rIns="0" bIns="0" rtlCol="0" anchor="t">
            <a:normAutofit/>
          </a:bodyPr>
          <a:lstStyle/>
          <a:p>
            <a:pPr algn="l" indent="0" marL="0">
              <a:lnSpc>
                <a:spcPts val="1523"/>
              </a:lnSpc>
              <a:buNone/>
            </a:pPr>
            <a:r>
              <a:rPr lang="en-US" sz="1088" b="1" dirty="0">
                <a:solidFill>
                  <a:srgbClr val="051C2C"/>
                </a:solidFill>
                <a:latin typeface="Inter" pitchFamily="34" charset="0"/>
                <a:ea typeface="Inter" pitchFamily="34" charset="-122"/>
                <a:cs typeface="Inter" pitchFamily="34" charset="-120"/>
              </a:rPr>
              <a:t>Capacity value: $170M</a:t>
            </a:r>
            <a:endParaRPr lang="en-US" sz="1088" dirty="0"/>
          </a:p>
        </p:txBody>
      </p:sp>
      <p:sp>
        <p:nvSpPr>
          <p:cNvPr id="7" name="Text 4"/>
          <p:cNvSpPr/>
          <p:nvPr/>
        </p:nvSpPr>
        <p:spPr>
          <a:xfrm>
            <a:off x="971550" y="5569645"/>
            <a:ext cx="3231007" cy="215205"/>
          </a:xfrm>
          <a:prstGeom prst="rect">
            <a:avLst/>
          </a:prstGeom>
          <a:noFill/>
          <a:ln/>
        </p:spPr>
        <p:txBody>
          <a:bodyPr wrap="square" lIns="0" tIns="0" rIns="0" bIns="0" rtlCol="0" anchor="t">
            <a:normAutofit/>
          </a:bodyPr>
          <a:lstStyle/>
          <a:p>
            <a:pPr algn="l" indent="0" marL="0">
              <a:lnSpc>
                <a:spcPts val="1523"/>
              </a:lnSpc>
              <a:buNone/>
            </a:pPr>
            <a:r>
              <a:rPr lang="en-US" sz="1088" dirty="0">
                <a:solidFill>
                  <a:srgbClr val="3C4A55"/>
                </a:solidFill>
                <a:latin typeface="Inter" pitchFamily="34" charset="0"/>
                <a:ea typeface="Inter" pitchFamily="34" charset="-122"/>
                <a:cs typeface="Inter" pitchFamily="34" charset="-120"/>
              </a:rPr>
              <a:t>3.09M hours × $55 loaded/hr</a:t>
            </a:r>
            <a:endParaRPr lang="en-US" sz="1088" dirty="0"/>
          </a:p>
        </p:txBody>
      </p:sp>
      <p:sp>
        <p:nvSpPr>
          <p:cNvPr id="8" name="Shape 5"/>
          <p:cNvSpPr/>
          <p:nvPr/>
        </p:nvSpPr>
        <p:spPr>
          <a:xfrm>
            <a:off x="4368800" y="5284589"/>
            <a:ext cx="3454400" cy="557411"/>
          </a:xfrm>
          <a:prstGeom prst="rect">
            <a:avLst/>
          </a:prstGeom>
          <a:solidFill>
            <a:srgbClr val="2251FF"/>
          </a:solidFill>
          <a:ln/>
        </p:spPr>
      </p:sp>
      <p:sp>
        <p:nvSpPr>
          <p:cNvPr id="9" name="Text 6"/>
          <p:cNvSpPr/>
          <p:nvPr/>
        </p:nvSpPr>
        <p:spPr>
          <a:xfrm>
            <a:off x="4521200" y="5360789"/>
            <a:ext cx="3244088" cy="221555"/>
          </a:xfrm>
          <a:prstGeom prst="rect">
            <a:avLst/>
          </a:prstGeom>
          <a:noFill/>
          <a:ln/>
        </p:spPr>
        <p:txBody>
          <a:bodyPr wrap="square" lIns="0" tIns="0" rIns="0" bIns="0" rtlCol="0" anchor="t">
            <a:normAutofit/>
          </a:bodyPr>
          <a:lstStyle/>
          <a:p>
            <a:pPr algn="l" indent="0" marL="0">
              <a:lnSpc>
                <a:spcPts val="1570"/>
              </a:lnSpc>
              <a:buNone/>
            </a:pPr>
            <a:r>
              <a:rPr lang="en-US" sz="1121" b="1" dirty="0">
                <a:solidFill>
                  <a:srgbClr val="FFFFFF"/>
                </a:solidFill>
                <a:latin typeface="Inter" pitchFamily="34" charset="0"/>
                <a:ea typeface="Inter" pitchFamily="34" charset="-122"/>
                <a:cs typeface="Inter" pitchFamily="34" charset="-120"/>
              </a:rPr>
              <a:t>10% → $17M EBITDA</a:t>
            </a:r>
            <a:endParaRPr lang="en-US" sz="1121" dirty="0"/>
          </a:p>
        </p:txBody>
      </p:sp>
      <p:sp>
        <p:nvSpPr>
          <p:cNvPr id="10" name="Text 7"/>
          <p:cNvSpPr/>
          <p:nvPr/>
        </p:nvSpPr>
        <p:spPr>
          <a:xfrm>
            <a:off x="4521200" y="5569645"/>
            <a:ext cx="3244088" cy="221555"/>
          </a:xfrm>
          <a:prstGeom prst="rect">
            <a:avLst/>
          </a:prstGeom>
          <a:noFill/>
          <a:ln/>
        </p:spPr>
        <p:txBody>
          <a:bodyPr wrap="square" lIns="0" tIns="0" rIns="0" bIns="0" rtlCol="0" anchor="t">
            <a:normAutofit/>
          </a:bodyPr>
          <a:lstStyle/>
          <a:p>
            <a:pPr algn="l" indent="0" marL="0">
              <a:lnSpc>
                <a:spcPts val="1570"/>
              </a:lnSpc>
              <a:buNone/>
            </a:pPr>
            <a:r>
              <a:rPr lang="en-US" sz="1121" dirty="0">
                <a:solidFill>
                  <a:srgbClr val="E6ECFF"/>
                </a:solidFill>
                <a:latin typeface="Inter" pitchFamily="34" charset="0"/>
                <a:ea typeface="Inter" pitchFamily="34" charset="-122"/>
                <a:cs typeface="Inter" pitchFamily="34" charset="-120"/>
              </a:rPr>
              <a:t>~170 roles left unfilled through attrition</a:t>
            </a:r>
            <a:endParaRPr lang="en-US" sz="1121" dirty="0"/>
          </a:p>
        </p:txBody>
      </p:sp>
      <p:sp>
        <p:nvSpPr>
          <p:cNvPr id="11" name="Shape 8"/>
          <p:cNvSpPr/>
          <p:nvPr/>
        </p:nvSpPr>
        <p:spPr>
          <a:xfrm>
            <a:off x="7924800" y="5284589"/>
            <a:ext cx="3454400" cy="557411"/>
          </a:xfrm>
          <a:prstGeom prst="rect">
            <a:avLst/>
          </a:prstGeom>
          <a:solidFill>
            <a:srgbClr val="051C2C"/>
          </a:solidFill>
          <a:ln/>
        </p:spPr>
      </p:sp>
      <p:sp>
        <p:nvSpPr>
          <p:cNvPr id="12" name="Text 9"/>
          <p:cNvSpPr/>
          <p:nvPr/>
        </p:nvSpPr>
        <p:spPr>
          <a:xfrm>
            <a:off x="8077200" y="5360789"/>
            <a:ext cx="3244088" cy="221555"/>
          </a:xfrm>
          <a:prstGeom prst="rect">
            <a:avLst/>
          </a:prstGeom>
          <a:noFill/>
          <a:ln/>
        </p:spPr>
        <p:txBody>
          <a:bodyPr wrap="square" lIns="0" tIns="0" rIns="0" bIns="0" rtlCol="0" anchor="t">
            <a:normAutofit/>
          </a:bodyPr>
          <a:lstStyle/>
          <a:p>
            <a:pPr algn="l" indent="0" marL="0">
              <a:lnSpc>
                <a:spcPts val="1570"/>
              </a:lnSpc>
              <a:buNone/>
            </a:pPr>
            <a:r>
              <a:rPr lang="en-US" sz="1121" b="1" dirty="0">
                <a:solidFill>
                  <a:srgbClr val="F4F6F8"/>
                </a:solidFill>
                <a:latin typeface="Inter" pitchFamily="34" charset="0"/>
                <a:ea typeface="Inter" pitchFamily="34" charset="-122"/>
                <a:cs typeface="Inter" pitchFamily="34" charset="-120"/>
              </a:rPr>
              <a:t>90% → $153M redeployed</a:t>
            </a:r>
            <a:endParaRPr lang="en-US" sz="1121" dirty="0"/>
          </a:p>
        </p:txBody>
      </p:sp>
      <p:sp>
        <p:nvSpPr>
          <p:cNvPr id="13" name="Text 10"/>
          <p:cNvSpPr/>
          <p:nvPr/>
        </p:nvSpPr>
        <p:spPr>
          <a:xfrm>
            <a:off x="8077200" y="5569645"/>
            <a:ext cx="3244088" cy="221555"/>
          </a:xfrm>
          <a:prstGeom prst="rect">
            <a:avLst/>
          </a:prstGeom>
          <a:noFill/>
          <a:ln/>
        </p:spPr>
        <p:txBody>
          <a:bodyPr wrap="square" lIns="0" tIns="0" rIns="0" bIns="0" rtlCol="0" anchor="t">
            <a:normAutofit/>
          </a:bodyPr>
          <a:lstStyle/>
          <a:p>
            <a:pPr algn="l" indent="0" marL="0">
              <a:lnSpc>
                <a:spcPts val="1570"/>
              </a:lnSpc>
              <a:buNone/>
            </a:pPr>
            <a:r>
              <a:rPr lang="en-US" sz="1121" dirty="0">
                <a:solidFill>
                  <a:srgbClr val="C9D4DD"/>
                </a:solidFill>
                <a:latin typeface="Inter" pitchFamily="34" charset="0"/>
                <a:ea typeface="Inter" pitchFamily="34" charset="-122"/>
                <a:cs typeface="Inter" pitchFamily="34" charset="-120"/>
              </a:rPr>
              <a:t>More time with clients</a:t>
            </a:r>
            <a:endParaRPr lang="en-US" sz="1121" dirty="0"/>
          </a:p>
        </p:txBody>
      </p:sp>
      <p:sp>
        <p:nvSpPr>
          <p:cNvPr id="14" name="Text 11"/>
          <p:cNvSpPr/>
          <p:nvPr/>
        </p:nvSpPr>
        <p:spPr>
          <a:xfrm>
            <a:off x="812800" y="6238280"/>
            <a:ext cx="2366546"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680"/>
                </a:solidFill>
                <a:latin typeface="Inter" pitchFamily="34" charset="0"/>
                <a:ea typeface="Inter" pitchFamily="34" charset="-122"/>
                <a:cs typeface="Inter" pitchFamily="34" charset="-120"/>
              </a:rPr>
              <a:t>Enterprise Intelligence | FIS</a:t>
            </a:r>
            <a:endParaRPr lang="en-US" sz="1200" dirty="0"/>
          </a:p>
        </p:txBody>
      </p:sp>
      <p:sp>
        <p:nvSpPr>
          <p:cNvPr id="15" name="Text 12"/>
          <p:cNvSpPr/>
          <p:nvPr/>
        </p:nvSpPr>
        <p:spPr>
          <a:xfrm>
            <a:off x="11167963" y="6238280"/>
            <a:ext cx="211237"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B7680"/>
                </a:solidFill>
                <a:latin typeface="Inter" pitchFamily="34" charset="0"/>
                <a:ea typeface="Inter" pitchFamily="34" charset="-122"/>
                <a:cs typeface="Inter" pitchFamily="34" charset="-120"/>
              </a:rPr>
              <a:t>14</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BFBF9"/>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2251FF"/>
                </a:solidFill>
                <a:latin typeface="Inter" pitchFamily="34" charset="0"/>
                <a:ea typeface="Inter" pitchFamily="34" charset="-122"/>
                <a:cs typeface="Inter" pitchFamily="34" charset="-120"/>
              </a:rPr>
              <a:t>VALUE AT STAKE</a:t>
            </a:r>
            <a:endParaRPr lang="en-US" sz="1200" dirty="0"/>
          </a:p>
        </p:txBody>
      </p:sp>
      <p:sp>
        <p:nvSpPr>
          <p:cNvPr id="3" name="Text 1"/>
          <p:cNvSpPr/>
          <p:nvPr>
            <p:ph type="title"/>
          </p:nvPr>
        </p:nvSpPr>
        <p:spPr>
          <a:xfrm>
            <a:off x="812800" y="1127720"/>
            <a:ext cx="10883392" cy="784820"/>
          </a:xfrm>
          <a:prstGeom prst="rect">
            <a:avLst/>
          </a:prstGeom>
          <a:noFill/>
          <a:ln/>
        </p:spPr>
        <p:txBody>
          <a:bodyPr wrap="square" lIns="0" tIns="0" rIns="0" bIns="0" rtlCol="0" anchor="t">
            <a:normAutofit/>
          </a:bodyPr>
          <a:lstStyle/>
          <a:p>
            <a:pPr algn="l" indent="0" marL="0">
              <a:lnSpc>
                <a:spcPts val="2990"/>
              </a:lnSpc>
              <a:buNone/>
            </a:pPr>
            <a:r>
              <a:rPr lang="en-US" sz="2600" b="0" i="0" dirty="0">
                <a:solidFill>
                  <a:srgbClr val="051C2C"/>
                </a:solidFill>
                <a:latin typeface="Source Serif 4" pitchFamily="18" charset="0"/>
                <a:ea typeface="Source Serif 4" pitchFamily="18" charset="-122"/>
                <a:cs typeface="Source Serif 4" pitchFamily="18" charset="-120"/>
              </a:rPr>
              <a:t>Conservatively, ~$195M of annual EBITDA is at stake, a ~4.5% uplift, led by revenue recovery</a:t>
            </a:r>
            <a:endParaRPr lang="en-US" sz="2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825500" y="2128441"/>
          <a:ext cx="10553700" cy="3027363"/>
        </p:xfrm>
        <a:graphic>
          <a:graphicData uri="http://schemas.openxmlformats.org/drawingml/2006/table">
            <a:tbl>
              <a:tblPr/>
              <a:tblGrid>
                <a:gridCol w="1794129"/>
                <a:gridCol w="3482721"/>
                <a:gridCol w="2532888"/>
                <a:gridCol w="1371981"/>
                <a:gridCol w="1371981"/>
              </a:tblGrid>
              <a:tr h="378420">
                <a:tc>
                  <a:txBody>
                    <a:bodyPr/>
                    <a:lstStyle/>
                    <a:p>
                      <a:pPr indent="0" marL="0">
                        <a:lnSpc>
                          <a:spcPts val="1680"/>
                        </a:lnSpc>
                        <a:buNone/>
                      </a:pPr>
                      <a:r>
                        <a:rPr lang="en-US" sz="1200" b="1" dirty="0">
                          <a:solidFill>
                            <a:srgbClr val="6B7680"/>
                          </a:solidFill>
                          <a:latin typeface="Inter" pitchFamily="34" charset="0"/>
                          <a:ea typeface="Inter" pitchFamily="34" charset="-122"/>
                          <a:cs typeface="Inter" pitchFamily="34" charset="-120"/>
                        </a:rPr>
                        <a:t>Lever</a:t>
                      </a:r>
                      <a:endParaRPr lang="en-US" sz="1200" dirty="0">
                        <a:latin typeface="Inter" charset="0"/>
                        <a:ea typeface="Inter" charset="0"/>
                        <a:cs typeface="Inter" charset="0"/>
                      </a:endParaRPr>
                    </a:p>
                  </a:txBody>
                  <a:tcPr marL="101600" marR="101600" marT="76200" marB="76200" anchor="t">
                    <a:lnL w="12700" cap="flat" cmpd="sng" algn="ctr">
                      <a:solidFill>
                        <a:srgbClr val="C8C8C6"/>
                      </a:solidFill>
                      <a:prstDash val="solid"/>
                      <a:round/>
                      <a:headEnd type="none" w="med" len="med"/>
                      <a:tailEnd type="none" w="med" len="med"/>
                    </a:lnL>
                    <a:lnR w="12700" cap="flat" cmpd="sng" algn="ctr">
                      <a:solidFill>
                        <a:srgbClr val="BABAB8"/>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BABAB8"/>
                      </a:solidFill>
                      <a:prstDash val="solid"/>
                      <a:round/>
                      <a:headEnd type="none" w="med" len="med"/>
                      <a:tailEnd type="none" w="med" len="med"/>
                    </a:lnB>
                    <a:solidFill>
                      <a:srgbClr val="E9E9E7"/>
                    </a:solidFill>
                  </a:tcPr>
                </a:tc>
                <a:tc>
                  <a:txBody>
                    <a:bodyPr/>
                    <a:lstStyle/>
                    <a:p>
                      <a:pPr indent="0" marL="0">
                        <a:lnSpc>
                          <a:spcPts val="1680"/>
                        </a:lnSpc>
                        <a:buNone/>
                      </a:pPr>
                      <a:r>
                        <a:rPr lang="en-US" sz="1200" b="1" dirty="0">
                          <a:solidFill>
                            <a:srgbClr val="6B7680"/>
                          </a:solidFill>
                          <a:latin typeface="Inter" pitchFamily="34" charset="0"/>
                          <a:ea typeface="Inter" pitchFamily="34" charset="-122"/>
                          <a:cs typeface="Inter" pitchFamily="34" charset="-120"/>
                        </a:rPr>
                        <a:t>Baseline (FY2025)</a:t>
                      </a:r>
                      <a:endParaRPr lang="en-US" sz="1200" dirty="0">
                        <a:latin typeface="Inter" charset="0"/>
                        <a:ea typeface="Inter" charset="0"/>
                        <a:cs typeface="Inter" charset="0"/>
                      </a:endParaRPr>
                    </a:p>
                  </a:txBody>
                  <a:tcPr marL="101600" marR="101600" marT="76200" marB="76200" anchor="t">
                    <a:lnL w="12700" cap="flat" cmpd="sng" algn="ctr">
                      <a:solidFill>
                        <a:srgbClr val="BABAB8"/>
                      </a:solidFill>
                      <a:prstDash val="solid"/>
                      <a:round/>
                      <a:headEnd type="none" w="med" len="med"/>
                      <a:tailEnd type="none" w="med" len="med"/>
                    </a:lnL>
                    <a:lnR w="12700" cap="flat" cmpd="sng" algn="ctr">
                      <a:solidFill>
                        <a:srgbClr val="BABAB8"/>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BABAB8"/>
                      </a:solidFill>
                      <a:prstDash val="solid"/>
                      <a:round/>
                      <a:headEnd type="none" w="med" len="med"/>
                      <a:tailEnd type="none" w="med" len="med"/>
                    </a:lnB>
                    <a:solidFill>
                      <a:srgbClr val="E9E9E7"/>
                    </a:solidFill>
                  </a:tcPr>
                </a:tc>
                <a:tc>
                  <a:txBody>
                    <a:bodyPr/>
                    <a:lstStyle/>
                    <a:p>
                      <a:pPr indent="0" marL="0">
                        <a:lnSpc>
                          <a:spcPts val="1680"/>
                        </a:lnSpc>
                        <a:buNone/>
                      </a:pPr>
                      <a:r>
                        <a:rPr lang="en-US" sz="1200" b="1" dirty="0">
                          <a:solidFill>
                            <a:srgbClr val="6B7680"/>
                          </a:solidFill>
                          <a:latin typeface="Inter" pitchFamily="34" charset="0"/>
                          <a:ea typeface="Inter" pitchFamily="34" charset="-122"/>
                          <a:cs typeface="Inter" pitchFamily="34" charset="-120"/>
                        </a:rPr>
                        <a:t>Target</a:t>
                      </a:r>
                      <a:endParaRPr lang="en-US" sz="1200" dirty="0">
                        <a:latin typeface="Inter" charset="0"/>
                        <a:ea typeface="Inter" charset="0"/>
                        <a:cs typeface="Inter" charset="0"/>
                      </a:endParaRPr>
                    </a:p>
                  </a:txBody>
                  <a:tcPr marL="101600" marR="101600" marT="76200" marB="76200" anchor="t">
                    <a:lnL w="12700" cap="flat" cmpd="sng" algn="ctr">
                      <a:solidFill>
                        <a:srgbClr val="BABAB8"/>
                      </a:solidFill>
                      <a:prstDash val="solid"/>
                      <a:round/>
                      <a:headEnd type="none" w="med" len="med"/>
                      <a:tailEnd type="none" w="med" len="med"/>
                    </a:lnL>
                    <a:lnR w="12700" cap="flat" cmpd="sng" algn="ctr">
                      <a:solidFill>
                        <a:srgbClr val="BABAB8"/>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BABAB8"/>
                      </a:solidFill>
                      <a:prstDash val="solid"/>
                      <a:round/>
                      <a:headEnd type="none" w="med" len="med"/>
                      <a:tailEnd type="none" w="med" len="med"/>
                    </a:lnB>
                    <a:solidFill>
                      <a:srgbClr val="E9E9E7"/>
                    </a:solidFill>
                  </a:tcPr>
                </a:tc>
                <a:tc>
                  <a:txBody>
                    <a:bodyPr/>
                    <a:lstStyle/>
                    <a:p>
                      <a:pPr algn="r" indent="0" marL="0">
                        <a:lnSpc>
                          <a:spcPts val="1680"/>
                        </a:lnSpc>
                        <a:buNone/>
                      </a:pPr>
                      <a:r>
                        <a:rPr lang="en-US" sz="1200" b="1" dirty="0">
                          <a:solidFill>
                            <a:srgbClr val="6B7680"/>
                          </a:solidFill>
                          <a:latin typeface="Inter" pitchFamily="34" charset="0"/>
                          <a:ea typeface="Inter" pitchFamily="34" charset="-122"/>
                          <a:cs typeface="Inter" pitchFamily="34" charset="-120"/>
                        </a:rPr>
                        <a:t>Revenue</a:t>
                      </a:r>
                      <a:endParaRPr lang="en-US" sz="1200" dirty="0">
                        <a:latin typeface="Inter" charset="0"/>
                        <a:ea typeface="Inter" charset="0"/>
                        <a:cs typeface="Inter" charset="0"/>
                      </a:endParaRPr>
                    </a:p>
                  </a:txBody>
                  <a:tcPr marL="101600" marR="101600" marT="76200" marB="76200" anchor="t">
                    <a:lnL w="12700" cap="flat" cmpd="sng" algn="ctr">
                      <a:solidFill>
                        <a:srgbClr val="BABAB8"/>
                      </a:solidFill>
                      <a:prstDash val="solid"/>
                      <a:round/>
                      <a:headEnd type="none" w="med" len="med"/>
                      <a:tailEnd type="none" w="med" len="med"/>
                    </a:lnL>
                    <a:lnR w="12700" cap="flat" cmpd="sng" algn="ctr">
                      <a:solidFill>
                        <a:srgbClr val="BABAB8"/>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BABAB8"/>
                      </a:solidFill>
                      <a:prstDash val="solid"/>
                      <a:round/>
                      <a:headEnd type="none" w="med" len="med"/>
                      <a:tailEnd type="none" w="med" len="med"/>
                    </a:lnB>
                    <a:solidFill>
                      <a:srgbClr val="E9E9E7"/>
                    </a:solidFill>
                  </a:tcPr>
                </a:tc>
                <a:tc>
                  <a:txBody>
                    <a:bodyPr/>
                    <a:lstStyle/>
                    <a:p>
                      <a:pPr algn="r" indent="0" marL="0">
                        <a:lnSpc>
                          <a:spcPts val="1680"/>
                        </a:lnSpc>
                        <a:buNone/>
                      </a:pPr>
                      <a:r>
                        <a:rPr lang="en-US" sz="1200" b="1" dirty="0">
                          <a:solidFill>
                            <a:srgbClr val="6B7680"/>
                          </a:solidFill>
                          <a:latin typeface="Inter" pitchFamily="34" charset="0"/>
                          <a:ea typeface="Inter" pitchFamily="34" charset="-122"/>
                          <a:cs typeface="Inter" pitchFamily="34" charset="-120"/>
                        </a:rPr>
                        <a:t>EBITDA</a:t>
                      </a:r>
                      <a:endParaRPr lang="en-US" sz="1200" dirty="0">
                        <a:latin typeface="Inter" charset="0"/>
                        <a:ea typeface="Inter" charset="0"/>
                        <a:cs typeface="Inter" charset="0"/>
                      </a:endParaRPr>
                    </a:p>
                  </a:txBody>
                  <a:tcPr marL="101600" marR="101600" marT="76200" marB="76200" anchor="t">
                    <a:lnL w="12700" cap="flat" cmpd="sng" algn="ctr">
                      <a:solidFill>
                        <a:srgbClr val="BABAB8"/>
                      </a:solidFill>
                      <a:prstDash val="solid"/>
                      <a:round/>
                      <a:headEnd type="none" w="med" len="med"/>
                      <a:tailEnd type="none" w="med" len="med"/>
                    </a:lnL>
                    <a:lnR w="12700" cap="flat" cmpd="sng" algn="ctr">
                      <a:solidFill>
                        <a:srgbClr val="BABAB8"/>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BABAB8"/>
                      </a:solidFill>
                      <a:prstDash val="solid"/>
                      <a:round/>
                      <a:headEnd type="none" w="med" len="med"/>
                      <a:tailEnd type="none" w="med" len="med"/>
                    </a:lnB>
                    <a:solidFill>
                      <a:srgbClr val="E9E9E7"/>
                    </a:solidFill>
                  </a:tcPr>
                </a:tc>
              </a:tr>
              <a:tr h="378420">
                <a:tc>
                  <a:txBody>
                    <a:bodyPr/>
                    <a:lstStyle/>
                    <a:p>
                      <a:pPr indent="0" marL="0">
                        <a:lnSpc>
                          <a:spcPts val="1680"/>
                        </a:lnSpc>
                        <a:buNone/>
                      </a:pPr>
                      <a:r>
                        <a:rPr lang="en-US" sz="1200" dirty="0">
                          <a:solidFill>
                            <a:srgbClr val="051C2C"/>
                          </a:solidFill>
                          <a:latin typeface="Inter" pitchFamily="34" charset="0"/>
                          <a:ea typeface="Inter" pitchFamily="34" charset="-122"/>
                          <a:cs typeface="Inter" pitchFamily="34" charset="-120"/>
                        </a:rPr>
                        <a:t>Revenue recovery</a:t>
                      </a:r>
                      <a:endParaRPr lang="en-US" sz="1200" dirty="0">
                        <a:latin typeface="Inter" charset="0"/>
                        <a:ea typeface="Inter" charset="0"/>
                        <a:cs typeface="Inter" charset="0"/>
                      </a:endParaRPr>
                    </a:p>
                  </a:txBody>
                  <a:tcPr marL="101600" marR="101600" marT="76200" marB="76200"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BABAB8"/>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680"/>
                        </a:lnSpc>
                        <a:buNone/>
                      </a:pPr>
                      <a:r>
                        <a:rPr lang="en-US" sz="1200" dirty="0">
                          <a:solidFill>
                            <a:srgbClr val="3C4A55"/>
                          </a:solidFill>
                          <a:latin typeface="Inter" pitchFamily="34" charset="0"/>
                          <a:ea typeface="Inter" pitchFamily="34" charset="-122"/>
                          <a:cs typeface="Inter" pitchFamily="34" charset="-120"/>
                        </a:rPr>
                        <a:t>Leakage ~2% of recurring revenue ($171M)</a:t>
                      </a:r>
                      <a:endParaRPr lang="en-US" sz="1200" dirty="0">
                        <a:latin typeface="Inter" charset="0"/>
                        <a:ea typeface="Inter" charset="0"/>
                        <a:cs typeface="Inter" charset="0"/>
                      </a:endParaRPr>
                    </a:p>
                  </a:txBody>
                  <a:tcPr marL="101600" marR="101600" marT="76200" marB="76200"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BABAB8"/>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680"/>
                        </a:lnSpc>
                        <a:buNone/>
                      </a:pPr>
                      <a:r>
                        <a:rPr lang="en-US" sz="1200" dirty="0">
                          <a:solidFill>
                            <a:srgbClr val="3C4A55"/>
                          </a:solidFill>
                          <a:latin typeface="Inter" pitchFamily="34" charset="0"/>
                          <a:ea typeface="Inter" pitchFamily="34" charset="-122"/>
                          <a:cs typeface="Inter" pitchFamily="34" charset="-120"/>
                        </a:rPr>
                        <a:t>Recover 40% of it</a:t>
                      </a:r>
                      <a:endParaRPr lang="en-US" sz="1200" dirty="0">
                        <a:latin typeface="Inter" charset="0"/>
                        <a:ea typeface="Inter" charset="0"/>
                        <a:cs typeface="Inter" charset="0"/>
                      </a:endParaRPr>
                    </a:p>
                  </a:txBody>
                  <a:tcPr marL="101600" marR="101600" marT="76200" marB="76200"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BABAB8"/>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algn="r" indent="0" marL="0">
                        <a:lnSpc>
                          <a:spcPts val="1680"/>
                        </a:lnSpc>
                        <a:buNone/>
                      </a:pPr>
                      <a:r>
                        <a:rPr lang="en-US" sz="1200" dirty="0">
                          <a:solidFill>
                            <a:srgbClr val="051C2C"/>
                          </a:solidFill>
                          <a:latin typeface="Inter" pitchFamily="34" charset="0"/>
                          <a:ea typeface="Inter" pitchFamily="34" charset="-122"/>
                          <a:cs typeface="Inter" pitchFamily="34" charset="-120"/>
                        </a:rPr>
                        <a:t>$68M</a:t>
                      </a:r>
                      <a:endParaRPr lang="en-US" sz="1200" dirty="0">
                        <a:latin typeface="Inter" charset="0"/>
                        <a:ea typeface="Inter" charset="0"/>
                        <a:cs typeface="Inter" charset="0"/>
                      </a:endParaRPr>
                    </a:p>
                  </a:txBody>
                  <a:tcPr marL="101600" marR="101600" marT="76200" marB="76200"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BABAB8"/>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algn="r" indent="0" marL="0">
                        <a:lnSpc>
                          <a:spcPts val="1680"/>
                        </a:lnSpc>
                        <a:buNone/>
                      </a:pPr>
                      <a:r>
                        <a:rPr lang="en-US" sz="1200" dirty="0">
                          <a:solidFill>
                            <a:srgbClr val="2251FF"/>
                          </a:solidFill>
                          <a:latin typeface="Inter" pitchFamily="34" charset="0"/>
                          <a:ea typeface="Inter" pitchFamily="34" charset="-122"/>
                          <a:cs typeface="Inter" pitchFamily="34" charset="-120"/>
                        </a:rPr>
                        <a:t>$65M</a:t>
                      </a:r>
                      <a:endParaRPr lang="en-US" sz="1200" dirty="0">
                        <a:latin typeface="Inter" charset="0"/>
                        <a:ea typeface="Inter" charset="0"/>
                        <a:cs typeface="Inter" charset="0"/>
                      </a:endParaRPr>
                    </a:p>
                  </a:txBody>
                  <a:tcPr marL="101600" marR="101600" marT="76200" marB="76200"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BABAB8"/>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r>
              <a:tr h="378420">
                <a:tc>
                  <a:txBody>
                    <a:bodyPr/>
                    <a:lstStyle/>
                    <a:p>
                      <a:pPr indent="0" marL="0">
                        <a:lnSpc>
                          <a:spcPts val="1680"/>
                        </a:lnSpc>
                        <a:buNone/>
                      </a:pPr>
                      <a:r>
                        <a:rPr lang="en-US" sz="1200" dirty="0">
                          <a:solidFill>
                            <a:srgbClr val="051C2C"/>
                          </a:solidFill>
                          <a:latin typeface="Inter" pitchFamily="34" charset="0"/>
                          <a:ea typeface="Inter" pitchFamily="34" charset="-122"/>
                          <a:cs typeface="Inter" pitchFamily="34" charset="-120"/>
                        </a:rPr>
                        <a:t>Margin</a:t>
                      </a:r>
                      <a:endParaRPr lang="en-US" sz="1200" dirty="0">
                        <a:latin typeface="Inter" charset="0"/>
                        <a:ea typeface="Inter" charset="0"/>
                        <a:cs typeface="Inter" charset="0"/>
                      </a:endParaRPr>
                    </a:p>
                  </a:txBody>
                  <a:tcPr marL="101600" marR="101600" marT="76200" marB="76200"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680"/>
                        </a:lnSpc>
                        <a:buNone/>
                      </a:pPr>
                      <a:r>
                        <a:rPr lang="en-US" sz="1200" dirty="0">
                          <a:solidFill>
                            <a:srgbClr val="3C4A55"/>
                          </a:solidFill>
                          <a:latin typeface="Inter" pitchFamily="34" charset="0"/>
                          <a:ea typeface="Inter" pitchFamily="34" charset="-122"/>
                          <a:cs typeface="Inter" pitchFamily="34" charset="-120"/>
                        </a:rPr>
                        <a:t>Adj. EBITDA margin 40.6%</a:t>
                      </a:r>
                      <a:endParaRPr lang="en-US" sz="1200" dirty="0">
                        <a:latin typeface="Inter" charset="0"/>
                        <a:ea typeface="Inter" charset="0"/>
                        <a:cs typeface="Inter" charset="0"/>
                      </a:endParaRPr>
                    </a:p>
                  </a:txBody>
                  <a:tcPr marL="101600" marR="101600" marT="76200" marB="76200"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680"/>
                        </a:lnSpc>
                        <a:buNone/>
                      </a:pPr>
                      <a:r>
                        <a:rPr lang="en-US" sz="1200" dirty="0">
                          <a:solidFill>
                            <a:srgbClr val="3C4A55"/>
                          </a:solidFill>
                          <a:latin typeface="Inter" pitchFamily="34" charset="0"/>
                          <a:ea typeface="Inter" pitchFamily="34" charset="-122"/>
                          <a:cs typeface="Inter" pitchFamily="34" charset="-120"/>
                        </a:rPr>
                        <a:t>+50 bps, cost-to-serve</a:t>
                      </a:r>
                      <a:endParaRPr lang="en-US" sz="1200" dirty="0">
                        <a:latin typeface="Inter" charset="0"/>
                        <a:ea typeface="Inter" charset="0"/>
                        <a:cs typeface="Inter" charset="0"/>
                      </a:endParaRPr>
                    </a:p>
                  </a:txBody>
                  <a:tcPr marL="101600" marR="101600" marT="76200" marB="76200"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algn="r" indent="0" marL="0">
                        <a:lnSpc>
                          <a:spcPts val="1680"/>
                        </a:lnSpc>
                        <a:buNone/>
                      </a:pPr>
                      <a:r>
                        <a:rPr lang="en-US" sz="1200" dirty="0">
                          <a:solidFill>
                            <a:srgbClr val="051C2C"/>
                          </a:solidFill>
                          <a:latin typeface="Inter" pitchFamily="34" charset="0"/>
                          <a:ea typeface="Inter" pitchFamily="34" charset="-122"/>
                          <a:cs typeface="Inter" pitchFamily="34" charset="-120"/>
                        </a:rPr>
                        <a:t>–</a:t>
                      </a:r>
                      <a:endParaRPr lang="en-US" sz="1200" dirty="0">
                        <a:latin typeface="Inter" charset="0"/>
                        <a:ea typeface="Inter" charset="0"/>
                        <a:cs typeface="Inter" charset="0"/>
                      </a:endParaRPr>
                    </a:p>
                  </a:txBody>
                  <a:tcPr marL="101600" marR="101600" marT="76200" marB="76200"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algn="r" indent="0" marL="0">
                        <a:lnSpc>
                          <a:spcPts val="1680"/>
                        </a:lnSpc>
                        <a:buNone/>
                      </a:pPr>
                      <a:r>
                        <a:rPr lang="en-US" sz="1200" dirty="0">
                          <a:solidFill>
                            <a:srgbClr val="2251FF"/>
                          </a:solidFill>
                          <a:latin typeface="Inter" pitchFamily="34" charset="0"/>
                          <a:ea typeface="Inter" pitchFamily="34" charset="-122"/>
                          <a:cs typeface="Inter" pitchFamily="34" charset="-120"/>
                        </a:rPr>
                        <a:t>$53M</a:t>
                      </a:r>
                      <a:endParaRPr lang="en-US" sz="1200" dirty="0">
                        <a:latin typeface="Inter" charset="0"/>
                        <a:ea typeface="Inter" charset="0"/>
                        <a:cs typeface="Inter" charset="0"/>
                      </a:endParaRPr>
                    </a:p>
                  </a:txBody>
                  <a:tcPr marL="101600" marR="101600" marT="76200" marB="76200"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r>
              <a:tr h="378420">
                <a:tc>
                  <a:txBody>
                    <a:bodyPr/>
                    <a:lstStyle/>
                    <a:p>
                      <a:pPr indent="0" marL="0">
                        <a:lnSpc>
                          <a:spcPts val="1680"/>
                        </a:lnSpc>
                        <a:buNone/>
                      </a:pPr>
                      <a:r>
                        <a:rPr lang="en-US" sz="1200" dirty="0">
                          <a:solidFill>
                            <a:srgbClr val="051C2C"/>
                          </a:solidFill>
                          <a:latin typeface="Inter" pitchFamily="34" charset="0"/>
                          <a:ea typeface="Inter" pitchFamily="34" charset="-122"/>
                          <a:cs typeface="Inter" pitchFamily="34" charset="-120"/>
                        </a:rPr>
                        <a:t>Churn</a:t>
                      </a:r>
                      <a:endParaRPr lang="en-US" sz="1200" dirty="0">
                        <a:latin typeface="Inter" charset="0"/>
                        <a:ea typeface="Inter" charset="0"/>
                        <a:cs typeface="Inter" charset="0"/>
                      </a:endParaRPr>
                    </a:p>
                  </a:txBody>
                  <a:tcPr marL="101600" marR="101600" marT="76200" marB="76200"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680"/>
                        </a:lnSpc>
                        <a:buNone/>
                      </a:pPr>
                      <a:r>
                        <a:rPr lang="en-US" sz="1200" dirty="0">
                          <a:solidFill>
                            <a:srgbClr val="3C4A55"/>
                          </a:solidFill>
                          <a:latin typeface="Inter" pitchFamily="34" charset="0"/>
                          <a:ea typeface="Inter" pitchFamily="34" charset="-122"/>
                          <a:cs typeface="Inter" pitchFamily="34" charset="-120"/>
                        </a:rPr>
                        <a:t>Gross revenue churn ~3.0%*</a:t>
                      </a:r>
                      <a:endParaRPr lang="en-US" sz="1200" dirty="0">
                        <a:latin typeface="Inter" charset="0"/>
                        <a:ea typeface="Inter" charset="0"/>
                        <a:cs typeface="Inter" charset="0"/>
                      </a:endParaRPr>
                    </a:p>
                  </a:txBody>
                  <a:tcPr marL="101600" marR="101600" marT="76200" marB="76200"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680"/>
                        </a:lnSpc>
                        <a:buNone/>
                      </a:pPr>
                      <a:r>
                        <a:rPr lang="en-US" sz="1200" dirty="0">
                          <a:solidFill>
                            <a:srgbClr val="3C4A55"/>
                          </a:solidFill>
                          <a:latin typeface="Inter" pitchFamily="34" charset="0"/>
                          <a:ea typeface="Inter" pitchFamily="34" charset="-122"/>
                          <a:cs typeface="Inter" pitchFamily="34" charset="-120"/>
                        </a:rPr>
                        <a:t>2.5% (–50 bps)</a:t>
                      </a:r>
                      <a:endParaRPr lang="en-US" sz="1200" dirty="0">
                        <a:latin typeface="Inter" charset="0"/>
                        <a:ea typeface="Inter" charset="0"/>
                        <a:cs typeface="Inter" charset="0"/>
                      </a:endParaRPr>
                    </a:p>
                  </a:txBody>
                  <a:tcPr marL="101600" marR="101600" marT="76200" marB="76200"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algn="r" indent="0" marL="0">
                        <a:lnSpc>
                          <a:spcPts val="1680"/>
                        </a:lnSpc>
                        <a:buNone/>
                      </a:pPr>
                      <a:r>
                        <a:rPr lang="en-US" sz="1200" dirty="0">
                          <a:solidFill>
                            <a:srgbClr val="051C2C"/>
                          </a:solidFill>
                          <a:latin typeface="Inter" pitchFamily="34" charset="0"/>
                          <a:ea typeface="Inter" pitchFamily="34" charset="-122"/>
                          <a:cs typeface="Inter" pitchFamily="34" charset="-120"/>
                        </a:rPr>
                        <a:t>$43M</a:t>
                      </a:r>
                      <a:endParaRPr lang="en-US" sz="1200" dirty="0">
                        <a:latin typeface="Inter" charset="0"/>
                        <a:ea typeface="Inter" charset="0"/>
                        <a:cs typeface="Inter" charset="0"/>
                      </a:endParaRPr>
                    </a:p>
                  </a:txBody>
                  <a:tcPr marL="101600" marR="101600" marT="76200" marB="76200"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algn="r" indent="0" marL="0">
                        <a:lnSpc>
                          <a:spcPts val="1680"/>
                        </a:lnSpc>
                        <a:buNone/>
                      </a:pPr>
                      <a:r>
                        <a:rPr lang="en-US" sz="1200" dirty="0">
                          <a:solidFill>
                            <a:srgbClr val="2251FF"/>
                          </a:solidFill>
                          <a:latin typeface="Inter" pitchFamily="34" charset="0"/>
                          <a:ea typeface="Inter" pitchFamily="34" charset="-122"/>
                          <a:cs typeface="Inter" pitchFamily="34" charset="-120"/>
                        </a:rPr>
                        <a:t>$17M</a:t>
                      </a:r>
                      <a:endParaRPr lang="en-US" sz="1200" dirty="0">
                        <a:latin typeface="Inter" charset="0"/>
                        <a:ea typeface="Inter" charset="0"/>
                        <a:cs typeface="Inter" charset="0"/>
                      </a:endParaRPr>
                    </a:p>
                  </a:txBody>
                  <a:tcPr marL="101600" marR="101600" marT="76200" marB="76200"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r>
              <a:tr h="378420">
                <a:tc>
                  <a:txBody>
                    <a:bodyPr/>
                    <a:lstStyle/>
                    <a:p>
                      <a:pPr indent="0" marL="0">
                        <a:lnSpc>
                          <a:spcPts val="1680"/>
                        </a:lnSpc>
                        <a:buNone/>
                      </a:pPr>
                      <a:r>
                        <a:rPr lang="en-US" sz="1200" dirty="0">
                          <a:solidFill>
                            <a:srgbClr val="051C2C"/>
                          </a:solidFill>
                          <a:latin typeface="Inter" pitchFamily="34" charset="0"/>
                          <a:ea typeface="Inter" pitchFamily="34" charset="-122"/>
                          <a:cs typeface="Inter" pitchFamily="34" charset="-120"/>
                        </a:rPr>
                        <a:t>Compression</a:t>
                      </a:r>
                      <a:endParaRPr lang="en-US" sz="1200" dirty="0">
                        <a:latin typeface="Inter" charset="0"/>
                        <a:ea typeface="Inter" charset="0"/>
                        <a:cs typeface="Inter" charset="0"/>
                      </a:endParaRPr>
                    </a:p>
                  </a:txBody>
                  <a:tcPr marL="101600" marR="101600" marT="76200" marB="76200"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680"/>
                        </a:lnSpc>
                        <a:buNone/>
                      </a:pPr>
                      <a:r>
                        <a:rPr lang="en-US" sz="1200" dirty="0">
                          <a:solidFill>
                            <a:srgbClr val="3C4A55"/>
                          </a:solidFill>
                          <a:latin typeface="Inter" pitchFamily="34" charset="0"/>
                          <a:ea typeface="Inter" pitchFamily="34" charset="-122"/>
                          <a:cs typeface="Inter" pitchFamily="34" charset="-120"/>
                        </a:rPr>
                        <a:t>Renewal price and scope loss ~1.0%*</a:t>
                      </a:r>
                      <a:endParaRPr lang="en-US" sz="1200" dirty="0">
                        <a:latin typeface="Inter" charset="0"/>
                        <a:ea typeface="Inter" charset="0"/>
                        <a:cs typeface="Inter" charset="0"/>
                      </a:endParaRPr>
                    </a:p>
                  </a:txBody>
                  <a:tcPr marL="101600" marR="101600" marT="76200" marB="76200"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680"/>
                        </a:lnSpc>
                        <a:buNone/>
                      </a:pPr>
                      <a:r>
                        <a:rPr lang="en-US" sz="1200" dirty="0">
                          <a:solidFill>
                            <a:srgbClr val="3C4A55"/>
                          </a:solidFill>
                          <a:latin typeface="Inter" pitchFamily="34" charset="0"/>
                          <a:ea typeface="Inter" pitchFamily="34" charset="-122"/>
                          <a:cs typeface="Inter" pitchFamily="34" charset="-120"/>
                        </a:rPr>
                        <a:t>0.75% (–25 bps)</a:t>
                      </a:r>
                      <a:endParaRPr lang="en-US" sz="1200" dirty="0">
                        <a:latin typeface="Inter" charset="0"/>
                        <a:ea typeface="Inter" charset="0"/>
                        <a:cs typeface="Inter" charset="0"/>
                      </a:endParaRPr>
                    </a:p>
                  </a:txBody>
                  <a:tcPr marL="101600" marR="101600" marT="76200" marB="76200"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algn="r" indent="0" marL="0">
                        <a:lnSpc>
                          <a:spcPts val="1680"/>
                        </a:lnSpc>
                        <a:buNone/>
                      </a:pPr>
                      <a:r>
                        <a:rPr lang="en-US" sz="1200" dirty="0">
                          <a:solidFill>
                            <a:srgbClr val="051C2C"/>
                          </a:solidFill>
                          <a:latin typeface="Inter" pitchFamily="34" charset="0"/>
                          <a:ea typeface="Inter" pitchFamily="34" charset="-122"/>
                          <a:cs typeface="Inter" pitchFamily="34" charset="-120"/>
                        </a:rPr>
                        <a:t>$21M</a:t>
                      </a:r>
                      <a:endParaRPr lang="en-US" sz="1200" dirty="0">
                        <a:latin typeface="Inter" charset="0"/>
                        <a:ea typeface="Inter" charset="0"/>
                        <a:cs typeface="Inter" charset="0"/>
                      </a:endParaRPr>
                    </a:p>
                  </a:txBody>
                  <a:tcPr marL="101600" marR="101600" marT="76200" marB="76200"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algn="r" indent="0" marL="0">
                        <a:lnSpc>
                          <a:spcPts val="1680"/>
                        </a:lnSpc>
                        <a:buNone/>
                      </a:pPr>
                      <a:r>
                        <a:rPr lang="en-US" sz="1200" dirty="0">
                          <a:solidFill>
                            <a:srgbClr val="2251FF"/>
                          </a:solidFill>
                          <a:latin typeface="Inter" pitchFamily="34" charset="0"/>
                          <a:ea typeface="Inter" pitchFamily="34" charset="-122"/>
                          <a:cs typeface="Inter" pitchFamily="34" charset="-120"/>
                        </a:rPr>
                        <a:t>$20M</a:t>
                      </a:r>
                      <a:endParaRPr lang="en-US" sz="1200" dirty="0">
                        <a:latin typeface="Inter" charset="0"/>
                        <a:ea typeface="Inter" charset="0"/>
                        <a:cs typeface="Inter" charset="0"/>
                      </a:endParaRPr>
                    </a:p>
                  </a:txBody>
                  <a:tcPr marL="101600" marR="101600" marT="76200" marB="76200"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r>
              <a:tr h="378420">
                <a:tc>
                  <a:txBody>
                    <a:bodyPr/>
                    <a:lstStyle/>
                    <a:p>
                      <a:pPr indent="0" marL="0">
                        <a:lnSpc>
                          <a:spcPts val="1680"/>
                        </a:lnSpc>
                        <a:buNone/>
                      </a:pPr>
                      <a:r>
                        <a:rPr lang="en-US" sz="1200" dirty="0">
                          <a:solidFill>
                            <a:srgbClr val="051C2C"/>
                          </a:solidFill>
                          <a:latin typeface="Inter" pitchFamily="34" charset="0"/>
                          <a:ea typeface="Inter" pitchFamily="34" charset="-122"/>
                          <a:cs typeface="Inter" pitchFamily="34" charset="-120"/>
                        </a:rPr>
                        <a:t>Growth</a:t>
                      </a:r>
                      <a:endParaRPr lang="en-US" sz="1200" dirty="0">
                        <a:latin typeface="Inter" charset="0"/>
                        <a:ea typeface="Inter" charset="0"/>
                        <a:cs typeface="Inter" charset="0"/>
                      </a:endParaRPr>
                    </a:p>
                  </a:txBody>
                  <a:tcPr marL="101600" marR="101600" marT="76200" marB="76200"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680"/>
                        </a:lnSpc>
                        <a:buNone/>
                      </a:pPr>
                      <a:r>
                        <a:rPr lang="en-US" sz="1200" dirty="0">
                          <a:solidFill>
                            <a:srgbClr val="3C4A55"/>
                          </a:solidFill>
                          <a:latin typeface="Inter" pitchFamily="34" charset="0"/>
                          <a:ea typeface="Inter" pitchFamily="34" charset="-122"/>
                          <a:cs typeface="Inter" pitchFamily="34" charset="-120"/>
                        </a:rPr>
                        <a:t>Adj. revenue growth 6%</a:t>
                      </a:r>
                      <a:endParaRPr lang="en-US" sz="1200" dirty="0">
                        <a:latin typeface="Inter" charset="0"/>
                        <a:ea typeface="Inter" charset="0"/>
                        <a:cs typeface="Inter" charset="0"/>
                      </a:endParaRPr>
                    </a:p>
                  </a:txBody>
                  <a:tcPr marL="101600" marR="101600" marT="76200" marB="76200"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680"/>
                        </a:lnSpc>
                        <a:buNone/>
                      </a:pPr>
                      <a:r>
                        <a:rPr lang="en-US" sz="1200" dirty="0">
                          <a:solidFill>
                            <a:srgbClr val="3C4A55"/>
                          </a:solidFill>
                          <a:latin typeface="Inter" pitchFamily="34" charset="0"/>
                          <a:ea typeface="Inter" pitchFamily="34" charset="-122"/>
                          <a:cs typeface="Inter" pitchFamily="34" charset="-120"/>
                        </a:rPr>
                        <a:t>+0.5 pt from cross-sell</a:t>
                      </a:r>
                      <a:endParaRPr lang="en-US" sz="1200" dirty="0">
                        <a:latin typeface="Inter" charset="0"/>
                        <a:ea typeface="Inter" charset="0"/>
                        <a:cs typeface="Inter" charset="0"/>
                      </a:endParaRPr>
                    </a:p>
                  </a:txBody>
                  <a:tcPr marL="101600" marR="101600" marT="76200" marB="76200"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algn="r" indent="0" marL="0">
                        <a:lnSpc>
                          <a:spcPts val="1680"/>
                        </a:lnSpc>
                        <a:buNone/>
                      </a:pPr>
                      <a:r>
                        <a:rPr lang="en-US" sz="1200" dirty="0">
                          <a:solidFill>
                            <a:srgbClr val="051C2C"/>
                          </a:solidFill>
                          <a:latin typeface="Inter" pitchFamily="34" charset="0"/>
                          <a:ea typeface="Inter" pitchFamily="34" charset="-122"/>
                          <a:cs typeface="Inter" pitchFamily="34" charset="-120"/>
                        </a:rPr>
                        <a:t>$53M</a:t>
                      </a:r>
                      <a:endParaRPr lang="en-US" sz="1200" dirty="0">
                        <a:latin typeface="Inter" charset="0"/>
                        <a:ea typeface="Inter" charset="0"/>
                        <a:cs typeface="Inter" charset="0"/>
                      </a:endParaRPr>
                    </a:p>
                  </a:txBody>
                  <a:tcPr marL="101600" marR="101600" marT="76200" marB="76200"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algn="r" indent="0" marL="0">
                        <a:lnSpc>
                          <a:spcPts val="1680"/>
                        </a:lnSpc>
                        <a:buNone/>
                      </a:pPr>
                      <a:r>
                        <a:rPr lang="en-US" sz="1200" dirty="0">
                          <a:solidFill>
                            <a:srgbClr val="2251FF"/>
                          </a:solidFill>
                          <a:latin typeface="Inter" pitchFamily="34" charset="0"/>
                          <a:ea typeface="Inter" pitchFamily="34" charset="-122"/>
                          <a:cs typeface="Inter" pitchFamily="34" charset="-120"/>
                        </a:rPr>
                        <a:t>$22M</a:t>
                      </a:r>
                      <a:endParaRPr lang="en-US" sz="1200" dirty="0">
                        <a:latin typeface="Inter" charset="0"/>
                        <a:ea typeface="Inter" charset="0"/>
                        <a:cs typeface="Inter" charset="0"/>
                      </a:endParaRPr>
                    </a:p>
                  </a:txBody>
                  <a:tcPr marL="101600" marR="101600" marT="76200" marB="76200"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r>
              <a:tr h="378420">
                <a:tc>
                  <a:txBody>
                    <a:bodyPr/>
                    <a:lstStyle/>
                    <a:p>
                      <a:pPr indent="0" marL="0">
                        <a:lnSpc>
                          <a:spcPts val="1680"/>
                        </a:lnSpc>
                        <a:buNone/>
                      </a:pPr>
                      <a:r>
                        <a:rPr lang="en-US" sz="1200" dirty="0">
                          <a:solidFill>
                            <a:srgbClr val="051C2C"/>
                          </a:solidFill>
                          <a:latin typeface="Inter" pitchFamily="34" charset="0"/>
                          <a:ea typeface="Inter" pitchFamily="34" charset="-122"/>
                          <a:cs typeface="Inter" pitchFamily="34" charset="-120"/>
                        </a:rPr>
                        <a:t>Labor capacity</a:t>
                      </a:r>
                      <a:endParaRPr lang="en-US" sz="1200" dirty="0">
                        <a:latin typeface="Inter" charset="0"/>
                        <a:ea typeface="Inter" charset="0"/>
                        <a:cs typeface="Inter" charset="0"/>
                      </a:endParaRPr>
                    </a:p>
                  </a:txBody>
                  <a:tcPr marL="101600" marR="101600" marT="76200" marB="76200"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680"/>
                        </a:lnSpc>
                        <a:buNone/>
                      </a:pPr>
                      <a:r>
                        <a:rPr lang="en-US" sz="1200" dirty="0">
                          <a:solidFill>
                            <a:srgbClr val="3C4A55"/>
                          </a:solidFill>
                          <a:latin typeface="Inter" pitchFamily="34" charset="0"/>
                          <a:ea typeface="Inter" pitchFamily="34" charset="-122"/>
                          <a:cs typeface="Inter" pitchFamily="34" charset="-120"/>
                        </a:rPr>
                        <a:t>3.09M hours freed ($170M)*</a:t>
                      </a:r>
                      <a:endParaRPr lang="en-US" sz="1200" dirty="0">
                        <a:latin typeface="Inter" charset="0"/>
                        <a:ea typeface="Inter" charset="0"/>
                        <a:cs typeface="Inter" charset="0"/>
                      </a:endParaRPr>
                    </a:p>
                  </a:txBody>
                  <a:tcPr marL="101600" marR="101600" marT="76200" marB="76200"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680"/>
                        </a:lnSpc>
                        <a:buNone/>
                      </a:pPr>
                      <a:r>
                        <a:rPr lang="en-US" sz="1200" dirty="0">
                          <a:solidFill>
                            <a:srgbClr val="3C4A55"/>
                          </a:solidFill>
                          <a:latin typeface="Inter" pitchFamily="34" charset="0"/>
                          <a:ea typeface="Inter" pitchFamily="34" charset="-122"/>
                          <a:cs typeface="Inter" pitchFamily="34" charset="-120"/>
                        </a:rPr>
                        <a:t>10% via attrition</a:t>
                      </a:r>
                      <a:endParaRPr lang="en-US" sz="1200" dirty="0">
                        <a:latin typeface="Inter" charset="0"/>
                        <a:ea typeface="Inter" charset="0"/>
                        <a:cs typeface="Inter" charset="0"/>
                      </a:endParaRPr>
                    </a:p>
                  </a:txBody>
                  <a:tcPr marL="101600" marR="101600" marT="76200" marB="76200"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algn="r" indent="0" marL="0">
                        <a:lnSpc>
                          <a:spcPts val="1680"/>
                        </a:lnSpc>
                        <a:buNone/>
                      </a:pPr>
                      <a:r>
                        <a:rPr lang="en-US" sz="1200" dirty="0">
                          <a:solidFill>
                            <a:srgbClr val="051C2C"/>
                          </a:solidFill>
                          <a:latin typeface="Inter" pitchFamily="34" charset="0"/>
                          <a:ea typeface="Inter" pitchFamily="34" charset="-122"/>
                          <a:cs typeface="Inter" pitchFamily="34" charset="-120"/>
                        </a:rPr>
                        <a:t>–</a:t>
                      </a:r>
                      <a:endParaRPr lang="en-US" sz="1200" dirty="0">
                        <a:latin typeface="Inter" charset="0"/>
                        <a:ea typeface="Inter" charset="0"/>
                        <a:cs typeface="Inter" charset="0"/>
                      </a:endParaRPr>
                    </a:p>
                  </a:txBody>
                  <a:tcPr marL="101600" marR="101600" marT="76200" marB="76200"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algn="r" indent="0" marL="0">
                        <a:lnSpc>
                          <a:spcPts val="1680"/>
                        </a:lnSpc>
                        <a:buNone/>
                      </a:pPr>
                      <a:r>
                        <a:rPr lang="en-US" sz="1200" dirty="0">
                          <a:solidFill>
                            <a:srgbClr val="2251FF"/>
                          </a:solidFill>
                          <a:latin typeface="Inter" pitchFamily="34" charset="0"/>
                          <a:ea typeface="Inter" pitchFamily="34" charset="-122"/>
                          <a:cs typeface="Inter" pitchFamily="34" charset="-120"/>
                        </a:rPr>
                        <a:t>$17M</a:t>
                      </a:r>
                      <a:endParaRPr lang="en-US" sz="1200" dirty="0">
                        <a:latin typeface="Inter" charset="0"/>
                        <a:ea typeface="Inter" charset="0"/>
                        <a:cs typeface="Inter" charset="0"/>
                      </a:endParaRPr>
                    </a:p>
                  </a:txBody>
                  <a:tcPr marL="101600" marR="101600" marT="76200" marB="76200"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r>
              <a:tr h="378420">
                <a:tc>
                  <a:txBody>
                    <a:bodyPr/>
                    <a:lstStyle/>
                    <a:p>
                      <a:pPr indent="0" marL="0">
                        <a:lnSpc>
                          <a:spcPts val="1680"/>
                        </a:lnSpc>
                        <a:buNone/>
                      </a:pPr>
                      <a:r>
                        <a:rPr lang="en-US" sz="1200" dirty="0">
                          <a:solidFill>
                            <a:srgbClr val="F4F6F8"/>
                          </a:solidFill>
                          <a:latin typeface="Inter" pitchFamily="34" charset="0"/>
                          <a:ea typeface="Inter" pitchFamily="34" charset="-122"/>
                          <a:cs typeface="Inter" pitchFamily="34" charset="-120"/>
                        </a:rPr>
                        <a:t>Total</a:t>
                      </a:r>
                      <a:endParaRPr lang="en-US" sz="1200" dirty="0">
                        <a:latin typeface="Inter" charset="0"/>
                        <a:ea typeface="Inter" charset="0"/>
                        <a:cs typeface="Inter" charset="0"/>
                      </a:endParaRPr>
                    </a:p>
                  </a:txBody>
                  <a:tcPr marL="101600" marR="101600" marT="76200" marB="76200" anchor="t">
                    <a:lnL w="12700" cap="flat" cmpd="sng" algn="ctr">
                      <a:solidFill>
                        <a:srgbClr val="C8C8C6"/>
                      </a:solidFill>
                      <a:prstDash val="solid"/>
                      <a:round/>
                      <a:headEnd type="none" w="med" len="med"/>
                      <a:tailEnd type="none" w="med" len="med"/>
                    </a:lnL>
                    <a:lnR w="12700" cap="flat" cmpd="sng" algn="ctr">
                      <a:solidFill>
                        <a:srgbClr val="081A27"/>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081A27"/>
                      </a:solidFill>
                      <a:prstDash val="solid"/>
                      <a:round/>
                      <a:headEnd type="none" w="med" len="med"/>
                      <a:tailEnd type="none" w="med" len="med"/>
                    </a:lnB>
                    <a:solidFill>
                      <a:srgbClr val="051C2C"/>
                    </a:solidFill>
                  </a:tcPr>
                </a:tc>
                <a:tc>
                  <a:txBody>
                    <a:bodyPr/>
                    <a:lstStyle/>
                    <a:p>
                      <a:pPr indent="0" marL="0">
                        <a:lnSpc>
                          <a:spcPts val="1680"/>
                        </a:lnSpc>
                        <a:buNone/>
                      </a:pPr>
                      <a:r>
                        <a:rPr lang="en-US" sz="1200" dirty="0">
                          <a:solidFill>
                            <a:srgbClr val="C9D4DD"/>
                          </a:solidFill>
                          <a:latin typeface="Inter" pitchFamily="34" charset="0"/>
                          <a:ea typeface="Inter" pitchFamily="34" charset="-122"/>
                          <a:cs typeface="Inter" pitchFamily="34" charset="-120"/>
                        </a:rPr>
                        <a:t>On $10.68B revenue</a:t>
                      </a:r>
                      <a:endParaRPr lang="en-US" sz="1200" dirty="0">
                        <a:latin typeface="Inter" charset="0"/>
                        <a:ea typeface="Inter" charset="0"/>
                        <a:cs typeface="Inter" charset="0"/>
                      </a:endParaRPr>
                    </a:p>
                  </a:txBody>
                  <a:tcPr marL="101600" marR="101600" marT="76200" marB="76200" anchor="t">
                    <a:lnL w="12700" cap="flat" cmpd="sng" algn="ctr">
                      <a:solidFill>
                        <a:srgbClr val="081A27"/>
                      </a:solidFill>
                      <a:prstDash val="solid"/>
                      <a:round/>
                      <a:headEnd type="none" w="med" len="med"/>
                      <a:tailEnd type="none" w="med" len="med"/>
                    </a:lnL>
                    <a:lnR w="12700" cap="flat" cmpd="sng" algn="ctr">
                      <a:solidFill>
                        <a:srgbClr val="081A27"/>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081A27"/>
                      </a:solidFill>
                      <a:prstDash val="solid"/>
                      <a:round/>
                      <a:headEnd type="none" w="med" len="med"/>
                      <a:tailEnd type="none" w="med" len="med"/>
                    </a:lnB>
                    <a:solidFill>
                      <a:srgbClr val="051C2C"/>
                    </a:solidFill>
                  </a:tcPr>
                </a:tc>
                <a:tc>
                  <a:txBody>
                    <a:bodyPr/>
                    <a:lstStyle/>
                    <a:p>
                      <a:pPr indent="0" marL="0">
                        <a:lnSpc>
                          <a:spcPts val="1680"/>
                        </a:lnSpc>
                        <a:buNone/>
                      </a:pPr>
                      <a:r>
                        <a:rPr lang="en-US" sz="1200" dirty="0">
                          <a:solidFill>
                            <a:srgbClr val="C9D4DD"/>
                          </a:solidFill>
                          <a:latin typeface="Inter" pitchFamily="34" charset="0"/>
                          <a:ea typeface="Inter" pitchFamily="34" charset="-122"/>
                          <a:cs typeface="Inter" pitchFamily="34" charset="-120"/>
                        </a:rPr>
                        <a:t>+4.5% adj. EBITDA</a:t>
                      </a:r>
                      <a:endParaRPr lang="en-US" sz="1200" dirty="0">
                        <a:latin typeface="Inter" charset="0"/>
                        <a:ea typeface="Inter" charset="0"/>
                        <a:cs typeface="Inter" charset="0"/>
                      </a:endParaRPr>
                    </a:p>
                  </a:txBody>
                  <a:tcPr marL="101600" marR="101600" marT="76200" marB="76200" anchor="t">
                    <a:lnL w="12700" cap="flat" cmpd="sng" algn="ctr">
                      <a:solidFill>
                        <a:srgbClr val="081A27"/>
                      </a:solidFill>
                      <a:prstDash val="solid"/>
                      <a:round/>
                      <a:headEnd type="none" w="med" len="med"/>
                      <a:tailEnd type="none" w="med" len="med"/>
                    </a:lnL>
                    <a:lnR w="12700" cap="flat" cmpd="sng" algn="ctr">
                      <a:solidFill>
                        <a:srgbClr val="081A27"/>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081A27"/>
                      </a:solidFill>
                      <a:prstDash val="solid"/>
                      <a:round/>
                      <a:headEnd type="none" w="med" len="med"/>
                      <a:tailEnd type="none" w="med" len="med"/>
                    </a:lnB>
                    <a:solidFill>
                      <a:srgbClr val="051C2C"/>
                    </a:solidFill>
                  </a:tcPr>
                </a:tc>
                <a:tc>
                  <a:txBody>
                    <a:bodyPr/>
                    <a:lstStyle/>
                    <a:p>
                      <a:pPr algn="r" indent="0" marL="0">
                        <a:lnSpc>
                          <a:spcPts val="1680"/>
                        </a:lnSpc>
                        <a:buNone/>
                      </a:pPr>
                      <a:r>
                        <a:rPr lang="en-US" sz="1200" dirty="0">
                          <a:solidFill>
                            <a:srgbClr val="F4F6F8"/>
                          </a:solidFill>
                          <a:latin typeface="Inter" pitchFamily="34" charset="0"/>
                          <a:ea typeface="Inter" pitchFamily="34" charset="-122"/>
                          <a:cs typeface="Inter" pitchFamily="34" charset="-120"/>
                        </a:rPr>
                        <a:t>$186M</a:t>
                      </a:r>
                      <a:endParaRPr lang="en-US" sz="1200" dirty="0">
                        <a:latin typeface="Inter" charset="0"/>
                        <a:ea typeface="Inter" charset="0"/>
                        <a:cs typeface="Inter" charset="0"/>
                      </a:endParaRPr>
                    </a:p>
                  </a:txBody>
                  <a:tcPr marL="101600" marR="101600" marT="76200" marB="76200" anchor="t">
                    <a:lnL w="12700" cap="flat" cmpd="sng" algn="ctr">
                      <a:solidFill>
                        <a:srgbClr val="081A27"/>
                      </a:solidFill>
                      <a:prstDash val="solid"/>
                      <a:round/>
                      <a:headEnd type="none" w="med" len="med"/>
                      <a:tailEnd type="none" w="med" len="med"/>
                    </a:lnL>
                    <a:lnR w="12700" cap="flat" cmpd="sng" algn="ctr">
                      <a:solidFill>
                        <a:srgbClr val="081A27"/>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081A27"/>
                      </a:solidFill>
                      <a:prstDash val="solid"/>
                      <a:round/>
                      <a:headEnd type="none" w="med" len="med"/>
                      <a:tailEnd type="none" w="med" len="med"/>
                    </a:lnB>
                    <a:solidFill>
                      <a:srgbClr val="051C2C"/>
                    </a:solidFill>
                  </a:tcPr>
                </a:tc>
                <a:tc>
                  <a:txBody>
                    <a:bodyPr/>
                    <a:lstStyle/>
                    <a:p>
                      <a:pPr algn="r" indent="0" marL="0">
                        <a:lnSpc>
                          <a:spcPts val="1680"/>
                        </a:lnSpc>
                        <a:buNone/>
                      </a:pPr>
                      <a:r>
                        <a:rPr lang="en-US" sz="1200" dirty="0">
                          <a:solidFill>
                            <a:srgbClr val="00A9F4"/>
                          </a:solidFill>
                          <a:latin typeface="Inter" pitchFamily="34" charset="0"/>
                          <a:ea typeface="Inter" pitchFamily="34" charset="-122"/>
                          <a:cs typeface="Inter" pitchFamily="34" charset="-120"/>
                        </a:rPr>
                        <a:t>$195M</a:t>
                      </a:r>
                      <a:endParaRPr lang="en-US" sz="1200" dirty="0">
                        <a:latin typeface="Inter" charset="0"/>
                        <a:ea typeface="Inter" charset="0"/>
                        <a:cs typeface="Inter" charset="0"/>
                      </a:endParaRPr>
                    </a:p>
                  </a:txBody>
                  <a:tcPr marL="101600" marR="101600" marT="76200" marB="76200" anchor="t">
                    <a:lnL w="12700" cap="flat" cmpd="sng" algn="ctr">
                      <a:solidFill>
                        <a:srgbClr val="081A27"/>
                      </a:solidFill>
                      <a:prstDash val="solid"/>
                      <a:round/>
                      <a:headEnd type="none" w="med" len="med"/>
                      <a:tailEnd type="none" w="med" len="med"/>
                    </a:lnL>
                    <a:lnR w="12700" cap="flat" cmpd="sng" algn="ctr">
                      <a:solidFill>
                        <a:srgbClr val="081A27"/>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081A27"/>
                      </a:solidFill>
                      <a:prstDash val="solid"/>
                      <a:round/>
                      <a:headEnd type="none" w="med" len="med"/>
                      <a:tailEnd type="none" w="med" len="med"/>
                    </a:lnB>
                    <a:solidFill>
                      <a:srgbClr val="051C2C"/>
                    </a:solidFill>
                  </a:tcPr>
                </a:tc>
              </a:tr>
            </a:tbl>
          </a:graphicData>
        </a:graphic>
      </p:graphicFrame>
      <p:sp>
        <p:nvSpPr>
          <p:cNvPr id="5" name="Text 2"/>
          <p:cNvSpPr/>
          <p:nvPr/>
        </p:nvSpPr>
        <p:spPr>
          <a:xfrm>
            <a:off x="812800" y="5384403"/>
            <a:ext cx="10883392" cy="436860"/>
          </a:xfrm>
          <a:prstGeom prst="rect">
            <a:avLst/>
          </a:prstGeom>
          <a:noFill/>
          <a:ln/>
        </p:spPr>
        <p:txBody>
          <a:bodyPr wrap="square" lIns="0" tIns="0" rIns="0" bIns="0" rtlCol="0" anchor="t">
            <a:normAutofit/>
          </a:bodyPr>
          <a:lstStyle/>
          <a:p>
            <a:pPr algn="l" indent="0" marL="0">
              <a:lnSpc>
                <a:spcPts val="1620"/>
              </a:lnSpc>
              <a:buNone/>
            </a:pPr>
            <a:r>
              <a:rPr lang="en-US" sz="1200" dirty="0">
                <a:solidFill>
                  <a:srgbClr val="6B7680"/>
                </a:solidFill>
                <a:latin typeface="Inter" pitchFamily="34" charset="0"/>
                <a:ea typeface="Inter" pitchFamily="34" charset="-122"/>
                <a:cs typeface="Inter" pitchFamily="34" charset="-120"/>
              </a:rPr>
              <a:t>*Assumption to validate (labor: previous slide). Price levers flow 95% to EBITDA (BCG); volume levers at the 40.6% margin. Rows may not sum due to rounding.</a:t>
            </a:r>
            <a:endParaRPr lang="en-US" sz="1200" dirty="0"/>
          </a:p>
        </p:txBody>
      </p:sp>
      <p:sp>
        <p:nvSpPr>
          <p:cNvPr id="6" name="Text 3"/>
          <p:cNvSpPr/>
          <p:nvPr/>
        </p:nvSpPr>
        <p:spPr>
          <a:xfrm>
            <a:off x="812800" y="6238280"/>
            <a:ext cx="5824121"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680"/>
                </a:solidFill>
                <a:latin typeface="Inter" pitchFamily="34" charset="0"/>
                <a:ea typeface="Inter" pitchFamily="34" charset="-122"/>
                <a:cs typeface="Inter" pitchFamily="34" charset="-120"/>
              </a:rPr>
              <a:t>Sources: FIS FY2025 results; MGI Research; BCG. Annual, run-rate.</a:t>
            </a:r>
            <a:endParaRPr lang="en-US" sz="1200" dirty="0"/>
          </a:p>
        </p:txBody>
      </p:sp>
      <p:sp>
        <p:nvSpPr>
          <p:cNvPr id="7" name="Text 4"/>
          <p:cNvSpPr/>
          <p:nvPr/>
        </p:nvSpPr>
        <p:spPr>
          <a:xfrm>
            <a:off x="11176000" y="6238280"/>
            <a:ext cx="2032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B7680"/>
                </a:solidFill>
                <a:latin typeface="Inter" pitchFamily="34" charset="0"/>
                <a:ea typeface="Inter" pitchFamily="34" charset="-122"/>
                <a:cs typeface="Inter" pitchFamily="34" charset="-120"/>
              </a:rPr>
              <a:t>15</a:t>
            </a:r>
            <a:endParaRPr lang="en-US" sz="1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BFBF9"/>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2251FF"/>
                </a:solidFill>
                <a:latin typeface="Inter" pitchFamily="34" charset="0"/>
                <a:ea typeface="Inter" pitchFamily="34" charset="-122"/>
                <a:cs typeface="Inter" pitchFamily="34" charset="-120"/>
              </a:rPr>
              <a:t>ROADMAP</a:t>
            </a:r>
            <a:endParaRPr lang="en-US" sz="1200" dirty="0"/>
          </a:p>
        </p:txBody>
      </p:sp>
      <p:sp>
        <p:nvSpPr>
          <p:cNvPr id="3" name="Text 1"/>
          <p:cNvSpPr/>
          <p:nvPr>
            <p:ph type="title"/>
          </p:nvPr>
        </p:nvSpPr>
        <p:spPr>
          <a:xfrm>
            <a:off x="812800" y="1127720"/>
            <a:ext cx="11379200" cy="405110"/>
          </a:xfrm>
          <a:prstGeom prst="rect">
            <a:avLst/>
          </a:prstGeom>
          <a:noFill/>
          <a:ln/>
        </p:spPr>
        <p:txBody>
          <a:bodyPr wrap="square" lIns="0" tIns="0" rIns="0" bIns="0" rtlCol="0" anchor="t">
            <a:normAutofit/>
          </a:bodyPr>
          <a:lstStyle/>
          <a:p>
            <a:pPr algn="l" indent="0" marL="0">
              <a:lnSpc>
                <a:spcPts val="2990"/>
              </a:lnSpc>
              <a:buNone/>
            </a:pPr>
            <a:r>
              <a:rPr lang="en-US" sz="2600" b="0" i="0" dirty="0">
                <a:solidFill>
                  <a:srgbClr val="051C2C"/>
                </a:solidFill>
                <a:latin typeface="Source Serif 4" pitchFamily="18" charset="0"/>
                <a:ea typeface="Source Serif 4" pitchFamily="18" charset="-122"/>
                <a:cs typeface="Source Serif 4" pitchFamily="18" charset="-120"/>
              </a:rPr>
              <a:t>Start with what we can do today. Orchestrate within four months.</a:t>
            </a:r>
            <a:endParaRPr lang="en-US" sz="2600" dirty="0"/>
          </a:p>
        </p:txBody>
      </p:sp>
      <p:sp>
        <p:nvSpPr>
          <p:cNvPr id="4" name="Text 2"/>
          <p:cNvSpPr/>
          <p:nvPr/>
        </p:nvSpPr>
        <p:spPr>
          <a:xfrm>
            <a:off x="812800" y="1812230"/>
            <a:ext cx="3488234" cy="416520"/>
          </a:xfrm>
          <a:prstGeom prst="rect">
            <a:avLst/>
          </a:prstGeom>
          <a:solidFill>
            <a:srgbClr val="A9BCCD"/>
          </a:solidFill>
          <a:ln/>
        </p:spPr>
        <p:txBody>
          <a:bodyPr wrap="square" lIns="152400" tIns="101600" rIns="56897" bIns="76200" rtlCol="0" anchor="t">
            <a:normAutofit/>
          </a:bodyPr>
          <a:lstStyle/>
          <a:p>
            <a:pPr algn="l" indent="0" marL="0">
              <a:lnSpc>
                <a:spcPts val="1680"/>
              </a:lnSpc>
              <a:buNone/>
            </a:pPr>
            <a:r>
              <a:rPr lang="en-US" sz="1200" b="1" dirty="0">
                <a:solidFill>
                  <a:srgbClr val="051C2C"/>
                </a:solidFill>
                <a:latin typeface="Inter" pitchFamily="34" charset="0"/>
                <a:ea typeface="Inter" pitchFamily="34" charset="-122"/>
                <a:cs typeface="Inter" pitchFamily="34" charset="-120"/>
              </a:rPr>
              <a:t>Wave 1 · Month 1</a:t>
            </a:r>
            <a:endParaRPr lang="en-US" sz="1200" dirty="0"/>
          </a:p>
        </p:txBody>
      </p:sp>
      <p:sp>
        <p:nvSpPr>
          <p:cNvPr id="5" name="Text 3"/>
          <p:cNvSpPr/>
          <p:nvPr/>
        </p:nvSpPr>
        <p:spPr>
          <a:xfrm>
            <a:off x="4351834" y="1812230"/>
            <a:ext cx="3488283" cy="416520"/>
          </a:xfrm>
          <a:prstGeom prst="rect">
            <a:avLst/>
          </a:prstGeom>
          <a:solidFill>
            <a:srgbClr val="5F86B0"/>
          </a:solidFill>
          <a:ln/>
        </p:spPr>
        <p:txBody>
          <a:bodyPr wrap="square" lIns="152400" tIns="101600" rIns="56896" bIns="76200" rtlCol="0" anchor="t">
            <a:normAutofit/>
          </a:bodyPr>
          <a:lstStyle/>
          <a:p>
            <a:pPr algn="l" indent="0" marL="0">
              <a:lnSpc>
                <a:spcPts val="1680"/>
              </a:lnSpc>
              <a:buNone/>
            </a:pPr>
            <a:r>
              <a:rPr lang="en-US" sz="1200" b="1" dirty="0">
                <a:solidFill>
                  <a:srgbClr val="051C2C"/>
                </a:solidFill>
                <a:latin typeface="Inter" pitchFamily="34" charset="0"/>
                <a:ea typeface="Inter" pitchFamily="34" charset="-122"/>
                <a:cs typeface="Inter" pitchFamily="34" charset="-120"/>
              </a:rPr>
              <a:t>Wave 2 · Months 2–3</a:t>
            </a:r>
            <a:endParaRPr lang="en-US" sz="1200" dirty="0"/>
          </a:p>
        </p:txBody>
      </p:sp>
      <p:sp>
        <p:nvSpPr>
          <p:cNvPr id="6" name="Text 4"/>
          <p:cNvSpPr/>
          <p:nvPr/>
        </p:nvSpPr>
        <p:spPr>
          <a:xfrm>
            <a:off x="7890917" y="1812230"/>
            <a:ext cx="3488234" cy="416520"/>
          </a:xfrm>
          <a:prstGeom prst="rect">
            <a:avLst/>
          </a:prstGeom>
          <a:solidFill>
            <a:srgbClr val="2251FF"/>
          </a:solidFill>
          <a:ln/>
        </p:spPr>
        <p:txBody>
          <a:bodyPr wrap="square" lIns="152400" tIns="101600" rIns="56897" bIns="76200" rtlCol="0" anchor="t">
            <a:normAutofit/>
          </a:bodyPr>
          <a:lstStyle/>
          <a:p>
            <a:pPr algn="l" indent="0" marL="0">
              <a:lnSpc>
                <a:spcPts val="1680"/>
              </a:lnSpc>
              <a:buNone/>
            </a:pPr>
            <a:r>
              <a:rPr lang="en-US" sz="1200" b="1" dirty="0">
                <a:solidFill>
                  <a:srgbClr val="FFFFFF"/>
                </a:solidFill>
                <a:latin typeface="Inter" pitchFamily="34" charset="0"/>
                <a:ea typeface="Inter" pitchFamily="34" charset="-122"/>
                <a:cs typeface="Inter" pitchFamily="34" charset="-120"/>
              </a:rPr>
              <a:t>Wave 3 · Month 4</a:t>
            </a:r>
            <a:endParaRPr lang="en-US" sz="1200" dirty="0"/>
          </a:p>
        </p:txBody>
      </p:sp>
      <p:sp>
        <p:nvSpPr>
          <p:cNvPr id="7" name="Text 5"/>
          <p:cNvSpPr/>
          <p:nvPr/>
        </p:nvSpPr>
        <p:spPr>
          <a:xfrm>
            <a:off x="965200" y="2584351"/>
            <a:ext cx="3278937" cy="284460"/>
          </a:xfrm>
          <a:prstGeom prst="rect">
            <a:avLst/>
          </a:prstGeom>
          <a:noFill/>
          <a:ln/>
        </p:spPr>
        <p:txBody>
          <a:bodyPr wrap="square" lIns="0" tIns="0" rIns="0" bIns="0" rtlCol="0" anchor="t">
            <a:normAutofit/>
          </a:bodyPr>
          <a:lstStyle/>
          <a:p>
            <a:pPr algn="l" indent="0" marL="0">
              <a:lnSpc>
                <a:spcPts val="2040"/>
              </a:lnSpc>
              <a:buNone/>
            </a:pPr>
            <a:r>
              <a:rPr lang="en-US" sz="1700" dirty="0">
                <a:solidFill>
                  <a:srgbClr val="051C2C"/>
                </a:solidFill>
                <a:latin typeface="Source Serif 4" pitchFamily="18" charset="0"/>
                <a:ea typeface="Source Serif 4" pitchFamily="18" charset="-122"/>
                <a:cs typeface="Source Serif 4" pitchFamily="18" charset="-120"/>
              </a:rPr>
              <a:t>Predict and recommend</a:t>
            </a:r>
            <a:endParaRPr lang="en-US" sz="1700" dirty="0"/>
          </a:p>
        </p:txBody>
      </p:sp>
      <p:sp>
        <p:nvSpPr>
          <p:cNvPr id="8" name="Text 6"/>
          <p:cNvSpPr/>
          <p:nvPr/>
        </p:nvSpPr>
        <p:spPr>
          <a:xfrm>
            <a:off x="968756" y="2945011"/>
            <a:ext cx="3270809" cy="939800"/>
          </a:xfrm>
          <a:prstGeom prst="rect">
            <a:avLst/>
          </a:prstGeom>
          <a:noFill/>
          <a:ln/>
        </p:spPr>
        <p:txBody>
          <a:bodyPr wrap="square" lIns="0" tIns="0" rIns="0" bIns="0" rtlCol="0" anchor="t">
            <a:normAutofit/>
          </a:bodyPr>
          <a:lstStyle/>
          <a:p>
            <a:pPr algn="l" marL="148844" indent="-148844">
              <a:lnSpc>
                <a:spcPts val="1800"/>
              </a:lnSpc>
              <a:buSzPct val="100000"/>
              <a:buChar char="•"/>
            </a:pPr>
            <a:r>
              <a:rPr lang="en-US" sz="1200" dirty="0">
                <a:solidFill>
                  <a:srgbClr val="24323D"/>
                </a:solidFill>
                <a:latin typeface="Inter" pitchFamily="34" charset="0"/>
                <a:ea typeface="Inter" pitchFamily="34" charset="-122"/>
                <a:cs typeface="Inter" pitchFamily="34" charset="-120"/>
              </a:rPr>
              <a:t>Renewal and churn risk scoring</a:t>
            </a:r>
            <a:endParaRPr lang="en-US" sz="1200" dirty="0"/>
          </a:p>
          <a:p>
            <a:pPr algn="l" marL="148844" indent="-148844">
              <a:lnSpc>
                <a:spcPts val="1800"/>
              </a:lnSpc>
              <a:buSzPct val="100000"/>
              <a:buChar char="•"/>
            </a:pPr>
            <a:r>
              <a:rPr lang="en-US" sz="1200" dirty="0">
                <a:solidFill>
                  <a:srgbClr val="24323D"/>
                </a:solidFill>
                <a:latin typeface="Inter" pitchFamily="34" charset="0"/>
                <a:ea typeface="Inter" pitchFamily="34" charset="-122"/>
                <a:cs typeface="Inter" pitchFamily="34" charset="-120"/>
              </a:rPr>
              <a:t>Early warning on price compression</a:t>
            </a:r>
            <a:endParaRPr lang="en-US" sz="1200" dirty="0"/>
          </a:p>
          <a:p>
            <a:pPr algn="l" marL="148844" indent="-148844">
              <a:lnSpc>
                <a:spcPts val="1800"/>
              </a:lnSpc>
              <a:buSzPct val="100000"/>
              <a:buChar char="•"/>
            </a:pPr>
            <a:r>
              <a:rPr lang="en-US" sz="1200" dirty="0">
                <a:solidFill>
                  <a:srgbClr val="24323D"/>
                </a:solidFill>
                <a:latin typeface="Inter" pitchFamily="34" charset="0"/>
                <a:ea typeface="Inter" pitchFamily="34" charset="-122"/>
                <a:cs typeface="Inter" pitchFamily="34" charset="-120"/>
              </a:rPr>
              <a:t>Each client's next buy, and pitches</a:t>
            </a:r>
            <a:endParaRPr lang="en-US" sz="1200" dirty="0"/>
          </a:p>
          <a:p>
            <a:pPr algn="l" marL="148844" indent="-148844">
              <a:lnSpc>
                <a:spcPts val="1800"/>
              </a:lnSpc>
              <a:buSzPct val="100000"/>
              <a:buChar char="•"/>
            </a:pPr>
            <a:r>
              <a:rPr lang="en-US" sz="1200" dirty="0">
                <a:solidFill>
                  <a:srgbClr val="24323D"/>
                </a:solidFill>
                <a:latin typeface="Inter" pitchFamily="34" charset="0"/>
                <a:ea typeface="Inter" pitchFamily="34" charset="-122"/>
                <a:cs typeface="Inter" pitchFamily="34" charset="-120"/>
              </a:rPr>
              <a:t>Portfolio view live</a:t>
            </a:r>
            <a:endParaRPr lang="en-US" sz="1200" dirty="0"/>
          </a:p>
        </p:txBody>
      </p:sp>
      <p:sp>
        <p:nvSpPr>
          <p:cNvPr id="9" name="Shape 7"/>
          <p:cNvSpPr/>
          <p:nvPr/>
        </p:nvSpPr>
        <p:spPr>
          <a:xfrm>
            <a:off x="4355009" y="2533551"/>
            <a:ext cx="0" cy="3308449"/>
          </a:xfrm>
          <a:prstGeom prst="line">
            <a:avLst/>
          </a:prstGeom>
          <a:noFill/>
          <a:ln w="6350">
            <a:solidFill>
              <a:srgbClr val="D5DCE2"/>
            </a:solidFill>
            <a:prstDash val="solid"/>
          </a:ln>
        </p:spPr>
      </p:sp>
      <p:sp>
        <p:nvSpPr>
          <p:cNvPr id="10" name="Text 8"/>
          <p:cNvSpPr/>
          <p:nvPr/>
        </p:nvSpPr>
        <p:spPr>
          <a:xfrm>
            <a:off x="4510584" y="2584351"/>
            <a:ext cx="3272447" cy="284460"/>
          </a:xfrm>
          <a:prstGeom prst="rect">
            <a:avLst/>
          </a:prstGeom>
          <a:noFill/>
          <a:ln/>
        </p:spPr>
        <p:txBody>
          <a:bodyPr wrap="square" lIns="0" tIns="0" rIns="0" bIns="0" rtlCol="0" anchor="t">
            <a:normAutofit/>
          </a:bodyPr>
          <a:lstStyle/>
          <a:p>
            <a:pPr algn="l" indent="0" marL="0">
              <a:lnSpc>
                <a:spcPts val="2040"/>
              </a:lnSpc>
              <a:buNone/>
            </a:pPr>
            <a:r>
              <a:rPr lang="en-US" sz="1700" dirty="0">
                <a:solidFill>
                  <a:srgbClr val="051C2C"/>
                </a:solidFill>
                <a:latin typeface="Source Serif 4" pitchFamily="18" charset="0"/>
                <a:ea typeface="Source Serif 4" pitchFamily="18" charset="-122"/>
                <a:cs typeface="Source Serif 4" pitchFamily="18" charset="-120"/>
              </a:rPr>
              <a:t>Connect contracts</a:t>
            </a:r>
            <a:endParaRPr lang="en-US" sz="1700" dirty="0"/>
          </a:p>
        </p:txBody>
      </p:sp>
      <p:sp>
        <p:nvSpPr>
          <p:cNvPr id="11" name="Text 9"/>
          <p:cNvSpPr/>
          <p:nvPr/>
        </p:nvSpPr>
        <p:spPr>
          <a:xfrm>
            <a:off x="4514140" y="2945011"/>
            <a:ext cx="3264319" cy="1168400"/>
          </a:xfrm>
          <a:prstGeom prst="rect">
            <a:avLst/>
          </a:prstGeom>
          <a:noFill/>
          <a:ln/>
        </p:spPr>
        <p:txBody>
          <a:bodyPr wrap="square" lIns="0" tIns="0" rIns="0" bIns="0" rtlCol="0" anchor="t">
            <a:normAutofit/>
          </a:bodyPr>
          <a:lstStyle/>
          <a:p>
            <a:pPr algn="l" marL="148844" indent="-148844">
              <a:lnSpc>
                <a:spcPts val="1800"/>
              </a:lnSpc>
              <a:buSzPct val="100000"/>
              <a:buChar char="•"/>
            </a:pPr>
            <a:r>
              <a:rPr lang="en-US" sz="1200" dirty="0">
                <a:solidFill>
                  <a:srgbClr val="24323D"/>
                </a:solidFill>
                <a:latin typeface="Inter" pitchFamily="34" charset="0"/>
                <a:ea typeface="Inter" pitchFamily="34" charset="-122"/>
                <a:cs typeface="Inter" pitchFamily="34" charset="-120"/>
              </a:rPr>
              <a:t>Unify contract, billing and invoicing data</a:t>
            </a:r>
            <a:endParaRPr lang="en-US" sz="1200" dirty="0"/>
          </a:p>
          <a:p>
            <a:pPr algn="l" marL="148844" indent="-148844">
              <a:lnSpc>
                <a:spcPts val="1800"/>
              </a:lnSpc>
              <a:buSzPct val="100000"/>
              <a:buChar char="•"/>
            </a:pPr>
            <a:r>
              <a:rPr lang="en-US" sz="1200" dirty="0">
                <a:solidFill>
                  <a:srgbClr val="24323D"/>
                </a:solidFill>
                <a:latin typeface="Inter" pitchFamily="34" charset="0"/>
                <a:ea typeface="Inter" pitchFamily="34" charset="-122"/>
                <a:cs typeface="Inter" pitchFamily="34" charset="-120"/>
              </a:rPr>
              <a:t>Revenue recovery pilot in a pilot line of business</a:t>
            </a:r>
            <a:endParaRPr lang="en-US" sz="1200" dirty="0"/>
          </a:p>
          <a:p>
            <a:pPr algn="l" marL="148844" indent="-148844">
              <a:lnSpc>
                <a:spcPts val="1800"/>
              </a:lnSpc>
              <a:buSzPct val="100000"/>
              <a:buChar char="•"/>
            </a:pPr>
            <a:r>
              <a:rPr lang="en-US" sz="1200" dirty="0">
                <a:solidFill>
                  <a:srgbClr val="24323D"/>
                </a:solidFill>
                <a:latin typeface="Inter" pitchFamily="34" charset="0"/>
                <a:ea typeface="Inter" pitchFamily="34" charset="-122"/>
                <a:cs typeface="Inter" pitchFamily="34" charset="-120"/>
              </a:rPr>
              <a:t>True cost to serve, version 1</a:t>
            </a:r>
            <a:endParaRPr lang="en-US" sz="1200" dirty="0"/>
          </a:p>
          <a:p>
            <a:pPr algn="l" marL="148844" indent="-148844">
              <a:lnSpc>
                <a:spcPts val="1800"/>
              </a:lnSpc>
              <a:buSzPct val="100000"/>
              <a:buChar char="•"/>
            </a:pPr>
            <a:r>
              <a:rPr lang="en-US" sz="1200" dirty="0">
                <a:solidFill>
                  <a:srgbClr val="24323D"/>
                </a:solidFill>
                <a:latin typeface="Inter" pitchFamily="34" charset="0"/>
                <a:ea typeface="Inter" pitchFamily="34" charset="-122"/>
                <a:cs typeface="Inter" pitchFamily="34" charset="-120"/>
              </a:rPr>
              <a:t>Live revenue and cash forecast</a:t>
            </a:r>
            <a:endParaRPr lang="en-US" sz="1200" dirty="0"/>
          </a:p>
        </p:txBody>
      </p:sp>
      <p:sp>
        <p:nvSpPr>
          <p:cNvPr id="12" name="Shape 10"/>
          <p:cNvSpPr/>
          <p:nvPr/>
        </p:nvSpPr>
        <p:spPr>
          <a:xfrm>
            <a:off x="7894092" y="2533551"/>
            <a:ext cx="0" cy="3308449"/>
          </a:xfrm>
          <a:prstGeom prst="line">
            <a:avLst/>
          </a:prstGeom>
          <a:noFill/>
          <a:ln w="6350">
            <a:solidFill>
              <a:srgbClr val="D5DCE2"/>
            </a:solidFill>
            <a:prstDash val="solid"/>
          </a:ln>
        </p:spPr>
      </p:sp>
      <p:sp>
        <p:nvSpPr>
          <p:cNvPr id="13" name="Text 11"/>
          <p:cNvSpPr/>
          <p:nvPr/>
        </p:nvSpPr>
        <p:spPr>
          <a:xfrm>
            <a:off x="8049667" y="2584351"/>
            <a:ext cx="3272396" cy="284460"/>
          </a:xfrm>
          <a:prstGeom prst="rect">
            <a:avLst/>
          </a:prstGeom>
          <a:noFill/>
          <a:ln/>
        </p:spPr>
        <p:txBody>
          <a:bodyPr wrap="square" lIns="0" tIns="0" rIns="0" bIns="0" rtlCol="0" anchor="t">
            <a:normAutofit/>
          </a:bodyPr>
          <a:lstStyle/>
          <a:p>
            <a:pPr algn="l" indent="0" marL="0">
              <a:lnSpc>
                <a:spcPts val="2040"/>
              </a:lnSpc>
              <a:buNone/>
            </a:pPr>
            <a:r>
              <a:rPr lang="en-US" sz="1700" dirty="0">
                <a:solidFill>
                  <a:srgbClr val="051C2C"/>
                </a:solidFill>
                <a:latin typeface="Source Serif 4" pitchFamily="18" charset="0"/>
                <a:ea typeface="Source Serif 4" pitchFamily="18" charset="-122"/>
                <a:cs typeface="Source Serif 4" pitchFamily="18" charset="-120"/>
              </a:rPr>
              <a:t>Orchestrate</a:t>
            </a:r>
            <a:endParaRPr lang="en-US" sz="1700" dirty="0"/>
          </a:p>
        </p:txBody>
      </p:sp>
      <p:sp>
        <p:nvSpPr>
          <p:cNvPr id="14" name="Text 12"/>
          <p:cNvSpPr/>
          <p:nvPr/>
        </p:nvSpPr>
        <p:spPr>
          <a:xfrm>
            <a:off x="8053223" y="2945011"/>
            <a:ext cx="3264268" cy="1168400"/>
          </a:xfrm>
          <a:prstGeom prst="rect">
            <a:avLst/>
          </a:prstGeom>
          <a:noFill/>
          <a:ln/>
        </p:spPr>
        <p:txBody>
          <a:bodyPr wrap="square" lIns="0" tIns="0" rIns="0" bIns="0" rtlCol="0" anchor="t">
            <a:normAutofit/>
          </a:bodyPr>
          <a:lstStyle/>
          <a:p>
            <a:pPr algn="l" marL="148844" indent="-148844">
              <a:lnSpc>
                <a:spcPts val="1800"/>
              </a:lnSpc>
              <a:buSzPct val="100000"/>
              <a:buChar char="•"/>
            </a:pPr>
            <a:r>
              <a:rPr lang="en-US" sz="1200" dirty="0">
                <a:solidFill>
                  <a:srgbClr val="24323D"/>
                </a:solidFill>
                <a:latin typeface="Inter" pitchFamily="34" charset="0"/>
                <a:ea typeface="Inter" pitchFamily="34" charset="-122"/>
                <a:cs typeface="Inter" pitchFamily="34" charset="-120"/>
              </a:rPr>
              <a:t>Ambient agents across all five themes</a:t>
            </a:r>
            <a:endParaRPr lang="en-US" sz="1200" dirty="0"/>
          </a:p>
          <a:p>
            <a:pPr algn="l" marL="148844" indent="-148844">
              <a:lnSpc>
                <a:spcPts val="1800"/>
              </a:lnSpc>
              <a:buSzPct val="100000"/>
              <a:buChar char="•"/>
            </a:pPr>
            <a:r>
              <a:rPr lang="en-US" sz="1200" dirty="0">
                <a:solidFill>
                  <a:srgbClr val="24323D"/>
                </a:solidFill>
                <a:latin typeface="Inter" pitchFamily="34" charset="0"/>
                <a:ea typeface="Inter" pitchFamily="34" charset="-122"/>
                <a:cs typeface="Inter" pitchFamily="34" charset="-120"/>
              </a:rPr>
              <a:t>Confidence routing and guardrails live</a:t>
            </a:r>
            <a:endParaRPr lang="en-US" sz="1200" dirty="0"/>
          </a:p>
          <a:p>
            <a:pPr algn="l" marL="148844" indent="-148844">
              <a:lnSpc>
                <a:spcPts val="1800"/>
              </a:lnSpc>
              <a:buSzPct val="100000"/>
              <a:buChar char="•"/>
            </a:pPr>
            <a:r>
              <a:rPr lang="en-US" sz="1200" dirty="0">
                <a:solidFill>
                  <a:srgbClr val="24323D"/>
                </a:solidFill>
                <a:latin typeface="Inter" pitchFamily="34" charset="0"/>
                <a:ea typeface="Inter" pitchFamily="34" charset="-122"/>
                <a:cs typeface="Inter" pitchFamily="34" charset="-120"/>
              </a:rPr>
              <a:t>Whitespace and capital allocation</a:t>
            </a:r>
            <a:endParaRPr lang="en-US" sz="1200" dirty="0"/>
          </a:p>
          <a:p>
            <a:pPr algn="l" marL="148844" indent="-148844">
              <a:lnSpc>
                <a:spcPts val="1800"/>
              </a:lnSpc>
              <a:buSzPct val="100000"/>
              <a:buChar char="•"/>
            </a:pPr>
            <a:r>
              <a:rPr lang="en-US" sz="1200" dirty="0">
                <a:solidFill>
                  <a:srgbClr val="24323D"/>
                </a:solidFill>
                <a:latin typeface="Inter" pitchFamily="34" charset="0"/>
                <a:ea typeface="Inter" pitchFamily="34" charset="-122"/>
                <a:cs typeface="Inter" pitchFamily="34" charset="-120"/>
              </a:rPr>
              <a:t>Plan and go-ahead for enterprise scale-up</a:t>
            </a:r>
            <a:endParaRPr lang="en-US" sz="1200" dirty="0"/>
          </a:p>
        </p:txBody>
      </p:sp>
      <p:sp>
        <p:nvSpPr>
          <p:cNvPr id="15" name="Text 13"/>
          <p:cNvSpPr/>
          <p:nvPr/>
        </p:nvSpPr>
        <p:spPr>
          <a:xfrm>
            <a:off x="812800" y="6238280"/>
            <a:ext cx="2366546"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680"/>
                </a:solidFill>
                <a:latin typeface="Inter" pitchFamily="34" charset="0"/>
                <a:ea typeface="Inter" pitchFamily="34" charset="-122"/>
                <a:cs typeface="Inter" pitchFamily="34" charset="-120"/>
              </a:rPr>
              <a:t>Enterprise Intelligence | FIS</a:t>
            </a:r>
            <a:endParaRPr lang="en-US" sz="1200" dirty="0"/>
          </a:p>
        </p:txBody>
      </p:sp>
      <p:sp>
        <p:nvSpPr>
          <p:cNvPr id="16" name="Text 14"/>
          <p:cNvSpPr/>
          <p:nvPr/>
        </p:nvSpPr>
        <p:spPr>
          <a:xfrm>
            <a:off x="11171882" y="6238280"/>
            <a:ext cx="207318"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B7680"/>
                </a:solidFill>
                <a:latin typeface="Inter" pitchFamily="34" charset="0"/>
                <a:ea typeface="Inter" pitchFamily="34" charset="-122"/>
                <a:cs typeface="Inter" pitchFamily="34" charset="-120"/>
              </a:rPr>
              <a:t>16</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51C2C"/>
        </a:solidFill>
      </p:bgPr>
    </p:bg>
    <p:spTree>
      <p:nvGrpSpPr>
        <p:cNvPr id="1" name=""/>
        <p:cNvGrpSpPr/>
        <p:nvPr/>
      </p:nvGrpSpPr>
      <p:grpSpPr>
        <a:xfrm>
          <a:off x="0" y="0"/>
          <a:ext cx="0" cy="0"/>
          <a:chOff x="0" y="0"/>
          <a:chExt cx="0" cy="0"/>
        </a:xfrm>
      </p:grpSpPr>
      <p:sp>
        <p:nvSpPr>
          <p:cNvPr id="2" name="Text 0"/>
          <p:cNvSpPr/>
          <p:nvPr/>
        </p:nvSpPr>
        <p:spPr>
          <a:xfrm>
            <a:off x="812800" y="2176859"/>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200" kern="0" dirty="0">
                <a:solidFill>
                  <a:srgbClr val="00A9F4"/>
                </a:solidFill>
                <a:latin typeface="Inter" pitchFamily="34" charset="0"/>
                <a:ea typeface="Inter" pitchFamily="34" charset="-122"/>
                <a:cs typeface="Inter" pitchFamily="34" charset="-120"/>
              </a:rPr>
              <a:t>SEE IT IN ACTION</a:t>
            </a:r>
            <a:endParaRPr lang="en-US" sz="1200" dirty="0"/>
          </a:p>
        </p:txBody>
      </p:sp>
      <p:sp>
        <p:nvSpPr>
          <p:cNvPr id="3" name="Text 1"/>
          <p:cNvSpPr/>
          <p:nvPr>
            <p:ph type="title"/>
          </p:nvPr>
        </p:nvSpPr>
        <p:spPr>
          <a:xfrm>
            <a:off x="812800" y="2745780"/>
            <a:ext cx="9810750" cy="640060"/>
          </a:xfrm>
          <a:prstGeom prst="rect">
            <a:avLst/>
          </a:prstGeom>
          <a:noFill/>
          <a:ln/>
        </p:spPr>
        <p:txBody>
          <a:bodyPr wrap="square" lIns="0" tIns="0" rIns="0" bIns="0" rtlCol="0" anchor="t">
            <a:normAutofit/>
          </a:bodyPr>
          <a:lstStyle/>
          <a:p>
            <a:pPr algn="l" indent="0" marL="0">
              <a:lnSpc>
                <a:spcPts val="4840"/>
              </a:lnSpc>
              <a:buNone/>
            </a:pPr>
            <a:r>
              <a:rPr lang="en-US" sz="4400" b="0" i="0" dirty="0">
                <a:solidFill>
                  <a:srgbClr val="F4F6F8"/>
                </a:solidFill>
                <a:latin typeface="Source Serif 4" pitchFamily="18" charset="0"/>
                <a:ea typeface="Source Serif 4" pitchFamily="18" charset="-122"/>
                <a:cs typeface="Source Serif 4" pitchFamily="18" charset="-120"/>
              </a:rPr>
              <a:t>Here's what we can do today.</a:t>
            </a:r>
            <a:endParaRPr lang="en-US" sz="4400" dirty="0"/>
          </a:p>
        </p:txBody>
      </p:sp>
      <p:sp>
        <p:nvSpPr>
          <p:cNvPr id="4" name="Shape 2"/>
          <p:cNvSpPr/>
          <p:nvPr/>
        </p:nvSpPr>
        <p:spPr>
          <a:xfrm>
            <a:off x="812800" y="3728740"/>
            <a:ext cx="2413000" cy="0"/>
          </a:xfrm>
          <a:prstGeom prst="line">
            <a:avLst/>
          </a:prstGeom>
          <a:noFill/>
          <a:ln w="25400">
            <a:solidFill>
              <a:srgbClr val="2251FF"/>
            </a:solidFill>
            <a:prstDash val="solid"/>
          </a:ln>
        </p:spPr>
      </p:sp>
      <p:sp>
        <p:nvSpPr>
          <p:cNvPr id="5" name="Text 3"/>
          <p:cNvSpPr/>
          <p:nvPr/>
        </p:nvSpPr>
        <p:spPr>
          <a:xfrm>
            <a:off x="812800" y="3893840"/>
            <a:ext cx="2485390"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00A9F4"/>
                </a:solidFill>
                <a:latin typeface="Inter" pitchFamily="34" charset="0"/>
                <a:ea typeface="Inter" pitchFamily="34" charset="-122"/>
                <a:cs typeface="Inter" pitchFamily="34" charset="-120"/>
              </a:rPr>
              <a:t>01</a:t>
            </a:r>
            <a:endParaRPr lang="en-US" sz="1200" dirty="0"/>
          </a:p>
        </p:txBody>
      </p:sp>
      <p:sp>
        <p:nvSpPr>
          <p:cNvPr id="6" name="Text 4"/>
          <p:cNvSpPr/>
          <p:nvPr/>
        </p:nvSpPr>
        <p:spPr>
          <a:xfrm>
            <a:off x="812800" y="4183360"/>
            <a:ext cx="2485390" cy="52318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F4F6F8"/>
                </a:solidFill>
                <a:latin typeface="Inter" pitchFamily="34" charset="0"/>
                <a:ea typeface="Inter" pitchFamily="34" charset="-122"/>
                <a:cs typeface="Inter" pitchFamily="34" charset="-120"/>
              </a:rPr>
              <a:t>Spot renewal and churn risk early</a:t>
            </a:r>
            <a:endParaRPr lang="en-US" sz="1400" dirty="0"/>
          </a:p>
        </p:txBody>
      </p:sp>
      <p:sp>
        <p:nvSpPr>
          <p:cNvPr id="7" name="Shape 5"/>
          <p:cNvSpPr/>
          <p:nvPr/>
        </p:nvSpPr>
        <p:spPr>
          <a:xfrm>
            <a:off x="3530600" y="3728740"/>
            <a:ext cx="2413000" cy="0"/>
          </a:xfrm>
          <a:prstGeom prst="line">
            <a:avLst/>
          </a:prstGeom>
          <a:noFill/>
          <a:ln w="25400">
            <a:solidFill>
              <a:srgbClr val="2251FF"/>
            </a:solidFill>
            <a:prstDash val="solid"/>
          </a:ln>
        </p:spPr>
      </p:sp>
      <p:sp>
        <p:nvSpPr>
          <p:cNvPr id="8" name="Text 6"/>
          <p:cNvSpPr/>
          <p:nvPr/>
        </p:nvSpPr>
        <p:spPr>
          <a:xfrm>
            <a:off x="3530600" y="3893840"/>
            <a:ext cx="2485390"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00A9F4"/>
                </a:solidFill>
                <a:latin typeface="Inter" pitchFamily="34" charset="0"/>
                <a:ea typeface="Inter" pitchFamily="34" charset="-122"/>
                <a:cs typeface="Inter" pitchFamily="34" charset="-120"/>
              </a:rPr>
              <a:t>02</a:t>
            </a:r>
            <a:endParaRPr lang="en-US" sz="1200" dirty="0"/>
          </a:p>
        </p:txBody>
      </p:sp>
      <p:sp>
        <p:nvSpPr>
          <p:cNvPr id="9" name="Text 7"/>
          <p:cNvSpPr/>
          <p:nvPr/>
        </p:nvSpPr>
        <p:spPr>
          <a:xfrm>
            <a:off x="3530600" y="4183360"/>
            <a:ext cx="2485390" cy="52318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F4F6F8"/>
                </a:solidFill>
                <a:latin typeface="Inter" pitchFamily="34" charset="0"/>
                <a:ea typeface="Inter" pitchFamily="34" charset="-122"/>
                <a:cs typeface="Inter" pitchFamily="34" charset="-120"/>
              </a:rPr>
              <a:t>Recommend each client's next buy</a:t>
            </a:r>
            <a:endParaRPr lang="en-US" sz="1400" dirty="0"/>
          </a:p>
        </p:txBody>
      </p:sp>
      <p:sp>
        <p:nvSpPr>
          <p:cNvPr id="10" name="Shape 8"/>
          <p:cNvSpPr/>
          <p:nvPr/>
        </p:nvSpPr>
        <p:spPr>
          <a:xfrm>
            <a:off x="6248400" y="3728740"/>
            <a:ext cx="2413000" cy="0"/>
          </a:xfrm>
          <a:prstGeom prst="line">
            <a:avLst/>
          </a:prstGeom>
          <a:noFill/>
          <a:ln w="25400">
            <a:solidFill>
              <a:srgbClr val="2251FF"/>
            </a:solidFill>
            <a:prstDash val="solid"/>
          </a:ln>
        </p:spPr>
      </p:sp>
      <p:sp>
        <p:nvSpPr>
          <p:cNvPr id="11" name="Text 9"/>
          <p:cNvSpPr/>
          <p:nvPr/>
        </p:nvSpPr>
        <p:spPr>
          <a:xfrm>
            <a:off x="6248400" y="3893840"/>
            <a:ext cx="2485390"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00A9F4"/>
                </a:solidFill>
                <a:latin typeface="Inter" pitchFamily="34" charset="0"/>
                <a:ea typeface="Inter" pitchFamily="34" charset="-122"/>
                <a:cs typeface="Inter" pitchFamily="34" charset="-120"/>
              </a:rPr>
              <a:t>03</a:t>
            </a:r>
            <a:endParaRPr lang="en-US" sz="1200" dirty="0"/>
          </a:p>
        </p:txBody>
      </p:sp>
      <p:sp>
        <p:nvSpPr>
          <p:cNvPr id="12" name="Text 10"/>
          <p:cNvSpPr/>
          <p:nvPr/>
        </p:nvSpPr>
        <p:spPr>
          <a:xfrm>
            <a:off x="6248400" y="4183360"/>
            <a:ext cx="2485390" cy="52318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F4F6F8"/>
                </a:solidFill>
                <a:latin typeface="Inter" pitchFamily="34" charset="0"/>
                <a:ea typeface="Inter" pitchFamily="34" charset="-122"/>
                <a:cs typeface="Inter" pitchFamily="34" charset="-120"/>
              </a:rPr>
              <a:t>Show which products to invest in</a:t>
            </a:r>
            <a:endParaRPr lang="en-US" sz="1400" dirty="0"/>
          </a:p>
        </p:txBody>
      </p:sp>
      <p:sp>
        <p:nvSpPr>
          <p:cNvPr id="13" name="Shape 11"/>
          <p:cNvSpPr/>
          <p:nvPr/>
        </p:nvSpPr>
        <p:spPr>
          <a:xfrm>
            <a:off x="8966200" y="3728740"/>
            <a:ext cx="2413000" cy="0"/>
          </a:xfrm>
          <a:prstGeom prst="line">
            <a:avLst/>
          </a:prstGeom>
          <a:noFill/>
          <a:ln w="25400">
            <a:solidFill>
              <a:srgbClr val="00A9F4"/>
            </a:solidFill>
            <a:prstDash val="solid"/>
          </a:ln>
        </p:spPr>
      </p:sp>
      <p:sp>
        <p:nvSpPr>
          <p:cNvPr id="14" name="Text 12"/>
          <p:cNvSpPr/>
          <p:nvPr/>
        </p:nvSpPr>
        <p:spPr>
          <a:xfrm>
            <a:off x="8966200" y="3893840"/>
            <a:ext cx="2485390"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00A9F4"/>
                </a:solidFill>
                <a:latin typeface="Inter" pitchFamily="34" charset="0"/>
                <a:ea typeface="Inter" pitchFamily="34" charset="-122"/>
                <a:cs typeface="Inter" pitchFamily="34" charset="-120"/>
              </a:rPr>
              <a:t>04</a:t>
            </a:r>
            <a:endParaRPr lang="en-US" sz="1200" dirty="0"/>
          </a:p>
        </p:txBody>
      </p:sp>
      <p:sp>
        <p:nvSpPr>
          <p:cNvPr id="15" name="Text 13"/>
          <p:cNvSpPr/>
          <p:nvPr/>
        </p:nvSpPr>
        <p:spPr>
          <a:xfrm>
            <a:off x="8966200" y="4183360"/>
            <a:ext cx="2485390" cy="52318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F4F6F8"/>
                </a:solidFill>
                <a:latin typeface="Inter" pitchFamily="34" charset="0"/>
                <a:ea typeface="Inter" pitchFamily="34" charset="-122"/>
                <a:cs typeface="Inter" pitchFamily="34" charset="-120"/>
              </a:rPr>
              <a:t>Agents act; our people decide</a:t>
            </a:r>
            <a:endParaRPr lang="en-US" sz="14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BFBF9"/>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2251FF"/>
                </a:solidFill>
                <a:latin typeface="Inter" pitchFamily="34" charset="0"/>
                <a:ea typeface="Inter" pitchFamily="34" charset="-122"/>
                <a:cs typeface="Inter" pitchFamily="34" charset="-120"/>
              </a:rPr>
              <a:t>SEE IT IN ACTION · 1 OF 5</a:t>
            </a:r>
            <a:endParaRPr lang="en-US" sz="1200" dirty="0"/>
          </a:p>
        </p:txBody>
      </p:sp>
      <p:sp>
        <p:nvSpPr>
          <p:cNvPr id="3" name="Text 1"/>
          <p:cNvSpPr/>
          <p:nvPr>
            <p:ph type="title"/>
          </p:nvPr>
        </p:nvSpPr>
        <p:spPr>
          <a:xfrm>
            <a:off x="812800" y="1127720"/>
            <a:ext cx="10883392" cy="405110"/>
          </a:xfrm>
          <a:prstGeom prst="rect">
            <a:avLst/>
          </a:prstGeom>
          <a:noFill/>
          <a:ln/>
        </p:spPr>
        <p:txBody>
          <a:bodyPr wrap="square" lIns="0" tIns="0" rIns="0" bIns="0" rtlCol="0" anchor="t">
            <a:normAutofit/>
          </a:bodyPr>
          <a:lstStyle/>
          <a:p>
            <a:pPr algn="l" indent="0" marL="0">
              <a:lnSpc>
                <a:spcPts val="2990"/>
              </a:lnSpc>
              <a:buNone/>
            </a:pPr>
            <a:r>
              <a:rPr lang="en-US" sz="2600" b="0" i="0" dirty="0">
                <a:solidFill>
                  <a:srgbClr val="051C2C"/>
                </a:solidFill>
                <a:latin typeface="Source Serif 4" pitchFamily="18" charset="0"/>
                <a:ea typeface="Source Serif 4" pitchFamily="18" charset="-122"/>
                <a:cs typeface="Source Serif 4" pitchFamily="18" charset="-120"/>
              </a:rPr>
              <a:t>Renewal risk, flagged early, with the reason why.</a:t>
            </a:r>
            <a:endParaRPr lang="en-US" sz="2600" dirty="0"/>
          </a:p>
        </p:txBody>
      </p:sp>
      <p:sp>
        <p:nvSpPr>
          <p:cNvPr id="4" name="Shape 2"/>
          <p:cNvSpPr/>
          <p:nvPr/>
        </p:nvSpPr>
        <p:spPr>
          <a:xfrm>
            <a:off x="819150" y="1767780"/>
            <a:ext cx="7353300" cy="4067870"/>
          </a:xfrm>
          <a:prstGeom prst="roundRect">
            <a:avLst>
              <a:gd name="adj" fmla="val 1717"/>
            </a:avLst>
          </a:prstGeom>
          <a:solidFill>
            <a:srgbClr val="EEF1F4"/>
          </a:solidFill>
          <a:ln w="12700">
            <a:solidFill>
              <a:srgbClr val="A9BCCD"/>
            </a:solidFill>
            <a:prstDash val="dash"/>
          </a:ln>
        </p:spPr>
      </p:sp>
      <p:sp>
        <p:nvSpPr>
          <p:cNvPr id="5" name="Text 3"/>
          <p:cNvSpPr/>
          <p:nvPr/>
        </p:nvSpPr>
        <p:spPr>
          <a:xfrm>
            <a:off x="2403038" y="3545185"/>
            <a:ext cx="4185523" cy="274290"/>
          </a:xfrm>
          <a:prstGeom prst="rect">
            <a:avLst/>
          </a:prstGeom>
          <a:noFill/>
          <a:ln/>
        </p:spPr>
        <p:txBody>
          <a:bodyPr wrap="square" lIns="0" tIns="0" rIns="0" bIns="0" rtlCol="0" anchor="t">
            <a:normAutofit/>
          </a:bodyPr>
          <a:lstStyle/>
          <a:p>
            <a:pPr algn="ctr" indent="0" marL="0">
              <a:lnSpc>
                <a:spcPts val="1960"/>
              </a:lnSpc>
              <a:buNone/>
            </a:pPr>
            <a:r>
              <a:rPr lang="en-US" sz="1400" b="1" dirty="0">
                <a:solidFill>
                  <a:srgbClr val="6B7680"/>
                </a:solidFill>
                <a:latin typeface="Inter" pitchFamily="34" charset="0"/>
                <a:ea typeface="Inter" pitchFamily="34" charset="-122"/>
                <a:cs typeface="Inter" pitchFamily="34" charset="-120"/>
              </a:rPr>
              <a:t>Screenshot: renewal and churn risk view</a:t>
            </a:r>
            <a:endParaRPr lang="en-US" sz="1400" dirty="0"/>
          </a:p>
        </p:txBody>
      </p:sp>
      <p:sp>
        <p:nvSpPr>
          <p:cNvPr id="6" name="Text 4"/>
          <p:cNvSpPr/>
          <p:nvPr/>
        </p:nvSpPr>
        <p:spPr>
          <a:xfrm>
            <a:off x="3302084" y="3844875"/>
            <a:ext cx="2387382" cy="238720"/>
          </a:xfrm>
          <a:prstGeom prst="rect">
            <a:avLst/>
          </a:prstGeom>
          <a:noFill/>
          <a:ln/>
        </p:spPr>
        <p:txBody>
          <a:bodyPr wrap="square" lIns="0" tIns="0" rIns="0" bIns="0" rtlCol="0" anchor="t">
            <a:normAutofit/>
          </a:bodyPr>
          <a:lstStyle/>
          <a:p>
            <a:pPr algn="ctr" indent="0" marL="0">
              <a:lnSpc>
                <a:spcPts val="1680"/>
              </a:lnSpc>
              <a:buNone/>
            </a:pPr>
            <a:r>
              <a:rPr lang="en-US" sz="1200" dirty="0">
                <a:solidFill>
                  <a:srgbClr val="6B7680"/>
                </a:solidFill>
                <a:latin typeface="Inter" pitchFamily="34" charset="0"/>
                <a:ea typeface="Inter" pitchFamily="34" charset="-122"/>
                <a:cs typeface="Inter" pitchFamily="34" charset="-120"/>
              </a:rPr>
              <a:t>Use anonymised client data</a:t>
            </a:r>
            <a:endParaRPr lang="en-US" sz="1200" dirty="0"/>
          </a:p>
        </p:txBody>
      </p:sp>
      <p:sp>
        <p:nvSpPr>
          <p:cNvPr id="7" name="Text 5"/>
          <p:cNvSpPr/>
          <p:nvPr/>
        </p:nvSpPr>
        <p:spPr>
          <a:xfrm>
            <a:off x="8534400" y="2983954"/>
            <a:ext cx="279400" cy="279400"/>
          </a:xfrm>
          <a:custGeom>
            <a:avLst/>
            <a:gdLst/>
            <a:ahLst/>
            <a:cxnLst/>
            <a:rect l="l" t="t" r="r" b="b"/>
            <a:pathLst>
              <a:path w="279400" h="279400">
                <a:moveTo>
                  <a:pt x="139700" y="0"/>
                </a:moveTo>
                <a:lnTo>
                  <a:pt x="139700" y="0"/>
                </a:lnTo>
                <a:arcTo hR="139700" wR="139700" stAng="16200000" swAng="5400000"/>
                <a:lnTo>
                  <a:pt x="279400" y="139700"/>
                </a:lnTo>
                <a:arcTo hR="139700" wR="139700" stAng="0" swAng="5400000"/>
                <a:lnTo>
                  <a:pt x="139700" y="279400"/>
                </a:lnTo>
                <a:arcTo hR="139700" wR="139700" stAng="5400000" swAng="5400000"/>
                <a:lnTo>
                  <a:pt x="0" y="139700"/>
                </a:lnTo>
                <a:arcTo hR="139700" wR="139700" stAng="10800000" swAng="5400000"/>
                <a:close/>
              </a:path>
            </a:pathLst>
          </a:custGeom>
          <a:solidFill>
            <a:srgbClr val="2251FF"/>
          </a:solidFill>
          <a:ln/>
        </p:spPr>
        <p:txBody>
          <a:bodyPr wrap="square" lIns="0" tIns="0" rIns="0" bIns="0" rtlCol="0" anchor="t">
            <a:normAutofit/>
          </a:bodyPr>
          <a:lstStyle/>
          <a:p>
            <a:pPr algn="ctr" indent="0" marL="0">
              <a:lnSpc>
                <a:spcPts val="2220"/>
              </a:lnSpc>
              <a:buNone/>
            </a:pPr>
            <a:r>
              <a:rPr lang="en-US" sz="1200" b="1" dirty="0">
                <a:solidFill>
                  <a:srgbClr val="FFFFFF"/>
                </a:solidFill>
                <a:latin typeface="Inter" pitchFamily="34" charset="0"/>
                <a:ea typeface="Inter" pitchFamily="34" charset="-122"/>
                <a:cs typeface="Inter" pitchFamily="34" charset="-120"/>
              </a:rPr>
              <a:t>1</a:t>
            </a:r>
            <a:endParaRPr lang="en-US" sz="1200" dirty="0"/>
          </a:p>
        </p:txBody>
      </p:sp>
      <p:sp>
        <p:nvSpPr>
          <p:cNvPr id="8" name="Text 6"/>
          <p:cNvSpPr/>
          <p:nvPr/>
        </p:nvSpPr>
        <p:spPr>
          <a:xfrm>
            <a:off x="8991600" y="2983954"/>
            <a:ext cx="2459228" cy="452041"/>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24323D"/>
                </a:solidFill>
                <a:latin typeface="Inter" pitchFamily="34" charset="0"/>
                <a:ea typeface="Inter" pitchFamily="34" charset="-122"/>
                <a:cs typeface="Inter" pitchFamily="34" charset="-120"/>
              </a:rPr>
              <a:t>Risk score</a:t>
            </a:r>
            <a:r>
              <a:rPr lang="en-US" sz="1200" dirty="0">
                <a:solidFill>
                  <a:srgbClr val="24323D"/>
                </a:solidFill>
                <a:latin typeface="Inter" pitchFamily="34" charset="0"/>
                <a:ea typeface="Inter" pitchFamily="34" charset="-122"/>
                <a:cs typeface="Inter" pitchFamily="34" charset="-120"/>
              </a:rPr>
              <a:t> for each client, ahead of renewal</a:t>
            </a:r>
            <a:endParaRPr lang="en-US" sz="1200" dirty="0"/>
          </a:p>
        </p:txBody>
      </p:sp>
      <p:sp>
        <p:nvSpPr>
          <p:cNvPr id="9" name="Text 7"/>
          <p:cNvSpPr/>
          <p:nvPr/>
        </p:nvSpPr>
        <p:spPr>
          <a:xfrm>
            <a:off x="8534400" y="3588395"/>
            <a:ext cx="279400" cy="279400"/>
          </a:xfrm>
          <a:custGeom>
            <a:avLst/>
            <a:gdLst/>
            <a:ahLst/>
            <a:cxnLst/>
            <a:rect l="l" t="t" r="r" b="b"/>
            <a:pathLst>
              <a:path w="279400" h="279400">
                <a:moveTo>
                  <a:pt x="139700" y="0"/>
                </a:moveTo>
                <a:lnTo>
                  <a:pt x="139700" y="0"/>
                </a:lnTo>
                <a:arcTo hR="139700" wR="139700" stAng="16200000" swAng="5400000"/>
                <a:lnTo>
                  <a:pt x="279400" y="139700"/>
                </a:lnTo>
                <a:arcTo hR="139700" wR="139700" stAng="0" swAng="5400000"/>
                <a:lnTo>
                  <a:pt x="139700" y="279400"/>
                </a:lnTo>
                <a:arcTo hR="139700" wR="139700" stAng="5400000" swAng="5400000"/>
                <a:lnTo>
                  <a:pt x="0" y="139700"/>
                </a:lnTo>
                <a:arcTo hR="139700" wR="139700" stAng="10800000" swAng="5400000"/>
                <a:close/>
              </a:path>
            </a:pathLst>
          </a:custGeom>
          <a:solidFill>
            <a:srgbClr val="2251FF"/>
          </a:solidFill>
          <a:ln/>
        </p:spPr>
        <p:txBody>
          <a:bodyPr wrap="square" lIns="0" tIns="0" rIns="0" bIns="0" rtlCol="0" anchor="t">
            <a:normAutofit/>
          </a:bodyPr>
          <a:lstStyle/>
          <a:p>
            <a:pPr algn="ctr" indent="0" marL="0">
              <a:lnSpc>
                <a:spcPts val="2220"/>
              </a:lnSpc>
              <a:buNone/>
            </a:pPr>
            <a:r>
              <a:rPr lang="en-US" sz="1200" b="1" dirty="0">
                <a:solidFill>
                  <a:srgbClr val="FFFFFF"/>
                </a:solidFill>
                <a:latin typeface="Inter" pitchFamily="34" charset="0"/>
                <a:ea typeface="Inter" pitchFamily="34" charset="-122"/>
                <a:cs typeface="Inter" pitchFamily="34" charset="-120"/>
              </a:rPr>
              <a:t>2</a:t>
            </a:r>
            <a:endParaRPr lang="en-US" sz="1200" dirty="0"/>
          </a:p>
        </p:txBody>
      </p:sp>
      <p:sp>
        <p:nvSpPr>
          <p:cNvPr id="10" name="Text 8"/>
          <p:cNvSpPr/>
          <p:nvPr/>
        </p:nvSpPr>
        <p:spPr>
          <a:xfrm>
            <a:off x="8991600" y="3588395"/>
            <a:ext cx="2459228" cy="452041"/>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24323D"/>
                </a:solidFill>
                <a:latin typeface="Inter" pitchFamily="34" charset="0"/>
                <a:ea typeface="Inter" pitchFamily="34" charset="-122"/>
                <a:cs typeface="Inter" pitchFamily="34" charset="-120"/>
              </a:rPr>
              <a:t>The signals behind it:</a:t>
            </a:r>
            <a:r>
              <a:rPr lang="en-US" sz="1200" dirty="0">
                <a:solidFill>
                  <a:srgbClr val="24323D"/>
                </a:solidFill>
                <a:latin typeface="Inter" pitchFamily="34" charset="0"/>
                <a:ea typeface="Inter" pitchFamily="34" charset="-122"/>
                <a:cs typeface="Inter" pitchFamily="34" charset="-120"/>
              </a:rPr>
              <a:t> incidents, SLAs, tickets, surveys and usage</a:t>
            </a:r>
            <a:endParaRPr lang="en-US" sz="1200" dirty="0"/>
          </a:p>
        </p:txBody>
      </p:sp>
      <p:sp>
        <p:nvSpPr>
          <p:cNvPr id="11" name="Text 9"/>
          <p:cNvSpPr/>
          <p:nvPr/>
        </p:nvSpPr>
        <p:spPr>
          <a:xfrm>
            <a:off x="8534400" y="4192836"/>
            <a:ext cx="279400" cy="279400"/>
          </a:xfrm>
          <a:custGeom>
            <a:avLst/>
            <a:gdLst/>
            <a:ahLst/>
            <a:cxnLst/>
            <a:rect l="l" t="t" r="r" b="b"/>
            <a:pathLst>
              <a:path w="279400" h="279400">
                <a:moveTo>
                  <a:pt x="139700" y="0"/>
                </a:moveTo>
                <a:lnTo>
                  <a:pt x="139700" y="0"/>
                </a:lnTo>
                <a:arcTo hR="139700" wR="139700" stAng="16200000" swAng="5400000"/>
                <a:lnTo>
                  <a:pt x="279400" y="139700"/>
                </a:lnTo>
                <a:arcTo hR="139700" wR="139700" stAng="0" swAng="5400000"/>
                <a:lnTo>
                  <a:pt x="139700" y="279400"/>
                </a:lnTo>
                <a:arcTo hR="139700" wR="139700" stAng="5400000" swAng="5400000"/>
                <a:lnTo>
                  <a:pt x="0" y="139700"/>
                </a:lnTo>
                <a:arcTo hR="139700" wR="139700" stAng="10800000" swAng="5400000"/>
                <a:close/>
              </a:path>
            </a:pathLst>
          </a:custGeom>
          <a:solidFill>
            <a:srgbClr val="2251FF"/>
          </a:solidFill>
          <a:ln/>
        </p:spPr>
        <p:txBody>
          <a:bodyPr wrap="square" lIns="0" tIns="0" rIns="0" bIns="0" rtlCol="0" anchor="t">
            <a:normAutofit/>
          </a:bodyPr>
          <a:lstStyle/>
          <a:p>
            <a:pPr algn="ctr" indent="0" marL="0">
              <a:lnSpc>
                <a:spcPts val="2220"/>
              </a:lnSpc>
              <a:buNone/>
            </a:pPr>
            <a:r>
              <a:rPr lang="en-US" sz="1200" b="1" dirty="0">
                <a:solidFill>
                  <a:srgbClr val="FFFFFF"/>
                </a:solidFill>
                <a:latin typeface="Inter" pitchFamily="34" charset="0"/>
                <a:ea typeface="Inter" pitchFamily="34" charset="-122"/>
                <a:cs typeface="Inter" pitchFamily="34" charset="-120"/>
              </a:rPr>
              <a:t>3</a:t>
            </a:r>
            <a:endParaRPr lang="en-US" sz="1200" dirty="0"/>
          </a:p>
        </p:txBody>
      </p:sp>
      <p:sp>
        <p:nvSpPr>
          <p:cNvPr id="12" name="Text 10"/>
          <p:cNvSpPr/>
          <p:nvPr/>
        </p:nvSpPr>
        <p:spPr>
          <a:xfrm>
            <a:off x="8991600" y="4192836"/>
            <a:ext cx="2459228" cy="452041"/>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24323D"/>
                </a:solidFill>
                <a:latin typeface="Inter" pitchFamily="34" charset="0"/>
                <a:ea typeface="Inter" pitchFamily="34" charset="-122"/>
                <a:cs typeface="Inter" pitchFamily="34" charset="-120"/>
              </a:rPr>
              <a:t>Suggested intervention,</a:t>
            </a:r>
            <a:r>
              <a:rPr lang="en-US" sz="1200" dirty="0">
                <a:solidFill>
                  <a:srgbClr val="24323D"/>
                </a:solidFill>
                <a:latin typeface="Inter" pitchFamily="34" charset="0"/>
                <a:ea typeface="Inter" pitchFamily="34" charset="-122"/>
                <a:cs typeface="Inter" pitchFamily="34" charset="-120"/>
              </a:rPr>
              <a:t> ready for our people to approve</a:t>
            </a:r>
            <a:endParaRPr lang="en-US" sz="1200" dirty="0"/>
          </a:p>
        </p:txBody>
      </p:sp>
      <p:sp>
        <p:nvSpPr>
          <p:cNvPr id="13" name="Text 11"/>
          <p:cNvSpPr/>
          <p:nvPr/>
        </p:nvSpPr>
        <p:spPr>
          <a:xfrm>
            <a:off x="812800" y="6238280"/>
            <a:ext cx="2366546"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680"/>
                </a:solidFill>
                <a:latin typeface="Inter" pitchFamily="34" charset="0"/>
                <a:ea typeface="Inter" pitchFamily="34" charset="-122"/>
                <a:cs typeface="Inter" pitchFamily="34" charset="-120"/>
              </a:rPr>
              <a:t>Enterprise Intelligence | FIS</a:t>
            </a:r>
            <a:endParaRPr lang="en-US" sz="1200" dirty="0"/>
          </a:p>
        </p:txBody>
      </p:sp>
      <p:sp>
        <p:nvSpPr>
          <p:cNvPr id="14" name="Text 12"/>
          <p:cNvSpPr/>
          <p:nvPr/>
        </p:nvSpPr>
        <p:spPr>
          <a:xfrm>
            <a:off x="11172130" y="6238280"/>
            <a:ext cx="20707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B7680"/>
                </a:solidFill>
                <a:latin typeface="Inter" pitchFamily="34" charset="0"/>
                <a:ea typeface="Inter" pitchFamily="34" charset="-122"/>
                <a:cs typeface="Inter" pitchFamily="34" charset="-120"/>
              </a:rPr>
              <a:t>18</a:t>
            </a:r>
            <a:endParaRPr lang="en-US" sz="12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BFBF9"/>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2251FF"/>
                </a:solidFill>
                <a:latin typeface="Inter" pitchFamily="34" charset="0"/>
                <a:ea typeface="Inter" pitchFamily="34" charset="-122"/>
                <a:cs typeface="Inter" pitchFamily="34" charset="-120"/>
              </a:rPr>
              <a:t>SEE IT IN ACTION · 2 OF 5</a:t>
            </a:r>
            <a:endParaRPr lang="en-US" sz="1200" dirty="0"/>
          </a:p>
        </p:txBody>
      </p:sp>
      <p:sp>
        <p:nvSpPr>
          <p:cNvPr id="3" name="Text 1"/>
          <p:cNvSpPr/>
          <p:nvPr>
            <p:ph type="title"/>
          </p:nvPr>
        </p:nvSpPr>
        <p:spPr>
          <a:xfrm>
            <a:off x="812800" y="1127720"/>
            <a:ext cx="10883392" cy="405110"/>
          </a:xfrm>
          <a:prstGeom prst="rect">
            <a:avLst/>
          </a:prstGeom>
          <a:noFill/>
          <a:ln/>
        </p:spPr>
        <p:txBody>
          <a:bodyPr wrap="square" lIns="0" tIns="0" rIns="0" bIns="0" rtlCol="0" anchor="t">
            <a:normAutofit/>
          </a:bodyPr>
          <a:lstStyle/>
          <a:p>
            <a:pPr algn="l" indent="0" marL="0">
              <a:lnSpc>
                <a:spcPts val="2990"/>
              </a:lnSpc>
              <a:buNone/>
            </a:pPr>
            <a:r>
              <a:rPr lang="en-US" sz="2600" b="0" i="0" dirty="0">
                <a:solidFill>
                  <a:srgbClr val="051C2C"/>
                </a:solidFill>
                <a:latin typeface="Source Serif 4" pitchFamily="18" charset="0"/>
                <a:ea typeface="Source Serif 4" pitchFamily="18" charset="-122"/>
                <a:cs typeface="Source Serif 4" pitchFamily="18" charset="-120"/>
              </a:rPr>
              <a:t>Each client's next buy, backed by what similar clients bought.</a:t>
            </a:r>
            <a:endParaRPr lang="en-US" sz="2600" dirty="0"/>
          </a:p>
        </p:txBody>
      </p:sp>
      <p:sp>
        <p:nvSpPr>
          <p:cNvPr id="4" name="Shape 2"/>
          <p:cNvSpPr/>
          <p:nvPr/>
        </p:nvSpPr>
        <p:spPr>
          <a:xfrm>
            <a:off x="819150" y="1767780"/>
            <a:ext cx="7353300" cy="4067870"/>
          </a:xfrm>
          <a:prstGeom prst="roundRect">
            <a:avLst>
              <a:gd name="adj" fmla="val 1717"/>
            </a:avLst>
          </a:prstGeom>
          <a:solidFill>
            <a:srgbClr val="EEF1F4"/>
          </a:solidFill>
          <a:ln w="12700">
            <a:solidFill>
              <a:srgbClr val="A9BCCD"/>
            </a:solidFill>
            <a:prstDash val="dash"/>
          </a:ln>
        </p:spPr>
      </p:sp>
      <p:sp>
        <p:nvSpPr>
          <p:cNvPr id="5" name="Text 3"/>
          <p:cNvSpPr/>
          <p:nvPr/>
        </p:nvSpPr>
        <p:spPr>
          <a:xfrm>
            <a:off x="1970073" y="3545185"/>
            <a:ext cx="5051405" cy="274290"/>
          </a:xfrm>
          <a:prstGeom prst="rect">
            <a:avLst/>
          </a:prstGeom>
          <a:noFill/>
          <a:ln/>
        </p:spPr>
        <p:txBody>
          <a:bodyPr wrap="square" lIns="0" tIns="0" rIns="0" bIns="0" rtlCol="0" anchor="t">
            <a:normAutofit/>
          </a:bodyPr>
          <a:lstStyle/>
          <a:p>
            <a:pPr algn="ctr" indent="0" marL="0">
              <a:lnSpc>
                <a:spcPts val="1960"/>
              </a:lnSpc>
              <a:buNone/>
            </a:pPr>
            <a:r>
              <a:rPr lang="en-US" sz="1400" b="1" dirty="0">
                <a:solidFill>
                  <a:srgbClr val="6B7680"/>
                </a:solidFill>
                <a:latin typeface="Inter" pitchFamily="34" charset="0"/>
                <a:ea typeface="Inter" pitchFamily="34" charset="-122"/>
                <a:cs typeface="Inter" pitchFamily="34" charset="-120"/>
              </a:rPr>
              <a:t>Screenshot: next-buy recommendation and pitch</a:t>
            </a:r>
            <a:endParaRPr lang="en-US" sz="1400" dirty="0"/>
          </a:p>
        </p:txBody>
      </p:sp>
      <p:sp>
        <p:nvSpPr>
          <p:cNvPr id="6" name="Text 4"/>
          <p:cNvSpPr/>
          <p:nvPr/>
        </p:nvSpPr>
        <p:spPr>
          <a:xfrm>
            <a:off x="3302084" y="3844875"/>
            <a:ext cx="2387382" cy="238720"/>
          </a:xfrm>
          <a:prstGeom prst="rect">
            <a:avLst/>
          </a:prstGeom>
          <a:noFill/>
          <a:ln/>
        </p:spPr>
        <p:txBody>
          <a:bodyPr wrap="square" lIns="0" tIns="0" rIns="0" bIns="0" rtlCol="0" anchor="t">
            <a:normAutofit/>
          </a:bodyPr>
          <a:lstStyle/>
          <a:p>
            <a:pPr algn="ctr" indent="0" marL="0">
              <a:lnSpc>
                <a:spcPts val="1680"/>
              </a:lnSpc>
              <a:buNone/>
            </a:pPr>
            <a:r>
              <a:rPr lang="en-US" sz="1200" dirty="0">
                <a:solidFill>
                  <a:srgbClr val="6B7680"/>
                </a:solidFill>
                <a:latin typeface="Inter" pitchFamily="34" charset="0"/>
                <a:ea typeface="Inter" pitchFamily="34" charset="-122"/>
                <a:cs typeface="Inter" pitchFamily="34" charset="-120"/>
              </a:rPr>
              <a:t>Use anonymised client data</a:t>
            </a:r>
            <a:endParaRPr lang="en-US" sz="1200" dirty="0"/>
          </a:p>
        </p:txBody>
      </p:sp>
      <p:sp>
        <p:nvSpPr>
          <p:cNvPr id="7" name="Text 5"/>
          <p:cNvSpPr/>
          <p:nvPr/>
        </p:nvSpPr>
        <p:spPr>
          <a:xfrm>
            <a:off x="8534400" y="2983954"/>
            <a:ext cx="279400" cy="279400"/>
          </a:xfrm>
          <a:custGeom>
            <a:avLst/>
            <a:gdLst/>
            <a:ahLst/>
            <a:cxnLst/>
            <a:rect l="l" t="t" r="r" b="b"/>
            <a:pathLst>
              <a:path w="279400" h="279400">
                <a:moveTo>
                  <a:pt x="139700" y="0"/>
                </a:moveTo>
                <a:lnTo>
                  <a:pt x="139700" y="0"/>
                </a:lnTo>
                <a:arcTo hR="139700" wR="139700" stAng="16200000" swAng="5400000"/>
                <a:lnTo>
                  <a:pt x="279400" y="139700"/>
                </a:lnTo>
                <a:arcTo hR="139700" wR="139700" stAng="0" swAng="5400000"/>
                <a:lnTo>
                  <a:pt x="139700" y="279400"/>
                </a:lnTo>
                <a:arcTo hR="139700" wR="139700" stAng="5400000" swAng="5400000"/>
                <a:lnTo>
                  <a:pt x="0" y="139700"/>
                </a:lnTo>
                <a:arcTo hR="139700" wR="139700" stAng="10800000" swAng="5400000"/>
                <a:close/>
              </a:path>
            </a:pathLst>
          </a:custGeom>
          <a:solidFill>
            <a:srgbClr val="2251FF"/>
          </a:solidFill>
          <a:ln/>
        </p:spPr>
        <p:txBody>
          <a:bodyPr wrap="square" lIns="0" tIns="0" rIns="0" bIns="0" rtlCol="0" anchor="t">
            <a:normAutofit/>
          </a:bodyPr>
          <a:lstStyle/>
          <a:p>
            <a:pPr algn="ctr" indent="0" marL="0">
              <a:lnSpc>
                <a:spcPts val="2220"/>
              </a:lnSpc>
              <a:buNone/>
            </a:pPr>
            <a:r>
              <a:rPr lang="en-US" sz="1200" b="1" dirty="0">
                <a:solidFill>
                  <a:srgbClr val="FFFFFF"/>
                </a:solidFill>
                <a:latin typeface="Inter" pitchFamily="34" charset="0"/>
                <a:ea typeface="Inter" pitchFamily="34" charset="-122"/>
                <a:cs typeface="Inter" pitchFamily="34" charset="-120"/>
              </a:rPr>
              <a:t>1</a:t>
            </a:r>
            <a:endParaRPr lang="en-US" sz="1200" dirty="0"/>
          </a:p>
        </p:txBody>
      </p:sp>
      <p:sp>
        <p:nvSpPr>
          <p:cNvPr id="8" name="Text 6"/>
          <p:cNvSpPr/>
          <p:nvPr/>
        </p:nvSpPr>
        <p:spPr>
          <a:xfrm>
            <a:off x="8991600" y="2983954"/>
            <a:ext cx="2459228" cy="452041"/>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24323D"/>
                </a:solidFill>
                <a:latin typeface="Inter" pitchFamily="34" charset="0"/>
                <a:ea typeface="Inter" pitchFamily="34" charset="-122"/>
                <a:cs typeface="Inter" pitchFamily="34" charset="-120"/>
              </a:rPr>
              <a:t>Recommended product</a:t>
            </a:r>
            <a:r>
              <a:rPr lang="en-US" sz="1200" dirty="0">
                <a:solidFill>
                  <a:srgbClr val="24323D"/>
                </a:solidFill>
                <a:latin typeface="Inter" pitchFamily="34" charset="0"/>
                <a:ea typeface="Inter" pitchFamily="34" charset="-122"/>
                <a:cs typeface="Inter" pitchFamily="34" charset="-120"/>
              </a:rPr>
              <a:t> for this client</a:t>
            </a:r>
            <a:endParaRPr lang="en-US" sz="1200" dirty="0"/>
          </a:p>
        </p:txBody>
      </p:sp>
      <p:sp>
        <p:nvSpPr>
          <p:cNvPr id="9" name="Text 7"/>
          <p:cNvSpPr/>
          <p:nvPr/>
        </p:nvSpPr>
        <p:spPr>
          <a:xfrm>
            <a:off x="8534400" y="3588395"/>
            <a:ext cx="279400" cy="279400"/>
          </a:xfrm>
          <a:custGeom>
            <a:avLst/>
            <a:gdLst/>
            <a:ahLst/>
            <a:cxnLst/>
            <a:rect l="l" t="t" r="r" b="b"/>
            <a:pathLst>
              <a:path w="279400" h="279400">
                <a:moveTo>
                  <a:pt x="139700" y="0"/>
                </a:moveTo>
                <a:lnTo>
                  <a:pt x="139700" y="0"/>
                </a:lnTo>
                <a:arcTo hR="139700" wR="139700" stAng="16200000" swAng="5400000"/>
                <a:lnTo>
                  <a:pt x="279400" y="139700"/>
                </a:lnTo>
                <a:arcTo hR="139700" wR="139700" stAng="0" swAng="5400000"/>
                <a:lnTo>
                  <a:pt x="139700" y="279400"/>
                </a:lnTo>
                <a:arcTo hR="139700" wR="139700" stAng="5400000" swAng="5400000"/>
                <a:lnTo>
                  <a:pt x="0" y="139700"/>
                </a:lnTo>
                <a:arcTo hR="139700" wR="139700" stAng="10800000" swAng="5400000"/>
                <a:close/>
              </a:path>
            </a:pathLst>
          </a:custGeom>
          <a:solidFill>
            <a:srgbClr val="2251FF"/>
          </a:solidFill>
          <a:ln/>
        </p:spPr>
        <p:txBody>
          <a:bodyPr wrap="square" lIns="0" tIns="0" rIns="0" bIns="0" rtlCol="0" anchor="t">
            <a:normAutofit/>
          </a:bodyPr>
          <a:lstStyle/>
          <a:p>
            <a:pPr algn="ctr" indent="0" marL="0">
              <a:lnSpc>
                <a:spcPts val="2220"/>
              </a:lnSpc>
              <a:buNone/>
            </a:pPr>
            <a:r>
              <a:rPr lang="en-US" sz="1200" b="1" dirty="0">
                <a:solidFill>
                  <a:srgbClr val="FFFFFF"/>
                </a:solidFill>
                <a:latin typeface="Inter" pitchFamily="34" charset="0"/>
                <a:ea typeface="Inter" pitchFamily="34" charset="-122"/>
                <a:cs typeface="Inter" pitchFamily="34" charset="-120"/>
              </a:rPr>
              <a:t>2</a:t>
            </a:r>
            <a:endParaRPr lang="en-US" sz="1200" dirty="0"/>
          </a:p>
        </p:txBody>
      </p:sp>
      <p:sp>
        <p:nvSpPr>
          <p:cNvPr id="10" name="Text 8"/>
          <p:cNvSpPr/>
          <p:nvPr/>
        </p:nvSpPr>
        <p:spPr>
          <a:xfrm>
            <a:off x="8991600" y="3588395"/>
            <a:ext cx="2459228" cy="452041"/>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24323D"/>
                </a:solidFill>
                <a:latin typeface="Inter" pitchFamily="34" charset="0"/>
                <a:ea typeface="Inter" pitchFamily="34" charset="-122"/>
                <a:cs typeface="Inter" pitchFamily="34" charset="-120"/>
              </a:rPr>
              <a:t>Peer evidence:</a:t>
            </a:r>
            <a:r>
              <a:rPr lang="en-US" sz="1200" dirty="0">
                <a:solidFill>
                  <a:srgbClr val="24323D"/>
                </a:solidFill>
                <a:latin typeface="Inter" pitchFamily="34" charset="0"/>
                <a:ea typeface="Inter" pitchFamily="34" charset="-122"/>
                <a:cs typeface="Inter" pitchFamily="34" charset="-120"/>
              </a:rPr>
              <a:t> similar clients who already use it</a:t>
            </a:r>
            <a:endParaRPr lang="en-US" sz="1200" dirty="0"/>
          </a:p>
        </p:txBody>
      </p:sp>
      <p:sp>
        <p:nvSpPr>
          <p:cNvPr id="11" name="Text 9"/>
          <p:cNvSpPr/>
          <p:nvPr/>
        </p:nvSpPr>
        <p:spPr>
          <a:xfrm>
            <a:off x="8534400" y="4192836"/>
            <a:ext cx="279400" cy="279400"/>
          </a:xfrm>
          <a:custGeom>
            <a:avLst/>
            <a:gdLst/>
            <a:ahLst/>
            <a:cxnLst/>
            <a:rect l="l" t="t" r="r" b="b"/>
            <a:pathLst>
              <a:path w="279400" h="279400">
                <a:moveTo>
                  <a:pt x="139700" y="0"/>
                </a:moveTo>
                <a:lnTo>
                  <a:pt x="139700" y="0"/>
                </a:lnTo>
                <a:arcTo hR="139700" wR="139700" stAng="16200000" swAng="5400000"/>
                <a:lnTo>
                  <a:pt x="279400" y="139700"/>
                </a:lnTo>
                <a:arcTo hR="139700" wR="139700" stAng="0" swAng="5400000"/>
                <a:lnTo>
                  <a:pt x="139700" y="279400"/>
                </a:lnTo>
                <a:arcTo hR="139700" wR="139700" stAng="5400000" swAng="5400000"/>
                <a:lnTo>
                  <a:pt x="0" y="139700"/>
                </a:lnTo>
                <a:arcTo hR="139700" wR="139700" stAng="10800000" swAng="5400000"/>
                <a:close/>
              </a:path>
            </a:pathLst>
          </a:custGeom>
          <a:solidFill>
            <a:srgbClr val="2251FF"/>
          </a:solidFill>
          <a:ln/>
        </p:spPr>
        <p:txBody>
          <a:bodyPr wrap="square" lIns="0" tIns="0" rIns="0" bIns="0" rtlCol="0" anchor="t">
            <a:normAutofit/>
          </a:bodyPr>
          <a:lstStyle/>
          <a:p>
            <a:pPr algn="ctr" indent="0" marL="0">
              <a:lnSpc>
                <a:spcPts val="2220"/>
              </a:lnSpc>
              <a:buNone/>
            </a:pPr>
            <a:r>
              <a:rPr lang="en-US" sz="1200" b="1" dirty="0">
                <a:solidFill>
                  <a:srgbClr val="FFFFFF"/>
                </a:solidFill>
                <a:latin typeface="Inter" pitchFamily="34" charset="0"/>
                <a:ea typeface="Inter" pitchFamily="34" charset="-122"/>
                <a:cs typeface="Inter" pitchFamily="34" charset="-120"/>
              </a:rPr>
              <a:t>3</a:t>
            </a:r>
            <a:endParaRPr lang="en-US" sz="1200" dirty="0"/>
          </a:p>
        </p:txBody>
      </p:sp>
      <p:sp>
        <p:nvSpPr>
          <p:cNvPr id="12" name="Text 10"/>
          <p:cNvSpPr/>
          <p:nvPr/>
        </p:nvSpPr>
        <p:spPr>
          <a:xfrm>
            <a:off x="8991600" y="4192836"/>
            <a:ext cx="2459228" cy="452041"/>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24323D"/>
                </a:solidFill>
                <a:latin typeface="Inter" pitchFamily="34" charset="0"/>
                <a:ea typeface="Inter" pitchFamily="34" charset="-122"/>
                <a:cs typeface="Inter" pitchFamily="34" charset="-120"/>
              </a:rPr>
              <a:t>Draft pitch,</a:t>
            </a:r>
            <a:r>
              <a:rPr lang="en-US" sz="1200" dirty="0">
                <a:solidFill>
                  <a:srgbClr val="24323D"/>
                </a:solidFill>
                <a:latin typeface="Inter" pitchFamily="34" charset="0"/>
                <a:ea typeface="Inter" pitchFamily="34" charset="-122"/>
                <a:cs typeface="Inter" pitchFamily="34" charset="-120"/>
              </a:rPr>
              <a:t> ready for the account team</a:t>
            </a:r>
            <a:endParaRPr lang="en-US" sz="1200" dirty="0"/>
          </a:p>
        </p:txBody>
      </p:sp>
      <p:sp>
        <p:nvSpPr>
          <p:cNvPr id="13" name="Text 11"/>
          <p:cNvSpPr/>
          <p:nvPr/>
        </p:nvSpPr>
        <p:spPr>
          <a:xfrm>
            <a:off x="812800" y="6238280"/>
            <a:ext cx="2366546"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680"/>
                </a:solidFill>
                <a:latin typeface="Inter" pitchFamily="34" charset="0"/>
                <a:ea typeface="Inter" pitchFamily="34" charset="-122"/>
                <a:cs typeface="Inter" pitchFamily="34" charset="-120"/>
              </a:rPr>
              <a:t>Enterprise Intelligence | FIS</a:t>
            </a:r>
            <a:endParaRPr lang="en-US" sz="1200" dirty="0"/>
          </a:p>
        </p:txBody>
      </p:sp>
      <p:sp>
        <p:nvSpPr>
          <p:cNvPr id="14" name="Text 12"/>
          <p:cNvSpPr/>
          <p:nvPr/>
        </p:nvSpPr>
        <p:spPr>
          <a:xfrm>
            <a:off x="11171882" y="6238280"/>
            <a:ext cx="207318"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B7680"/>
                </a:solidFill>
                <a:latin typeface="Inter" pitchFamily="34" charset="0"/>
                <a:ea typeface="Inter" pitchFamily="34" charset="-122"/>
                <a:cs typeface="Inter" pitchFamily="34" charset="-120"/>
              </a:rPr>
              <a:t>19</a:t>
            </a:r>
            <a:endParaRPr lang="en-US" sz="12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BFBF9"/>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2251FF"/>
                </a:solidFill>
                <a:latin typeface="Inter" pitchFamily="34" charset="0"/>
                <a:ea typeface="Inter" pitchFamily="34" charset="-122"/>
                <a:cs typeface="Inter" pitchFamily="34" charset="-120"/>
              </a:rPr>
              <a:t>SEE IT IN ACTION · 3 OF 5</a:t>
            </a:r>
            <a:endParaRPr lang="en-US" sz="1200" dirty="0"/>
          </a:p>
        </p:txBody>
      </p:sp>
      <p:sp>
        <p:nvSpPr>
          <p:cNvPr id="3" name="Text 1"/>
          <p:cNvSpPr/>
          <p:nvPr>
            <p:ph type="title"/>
          </p:nvPr>
        </p:nvSpPr>
        <p:spPr>
          <a:xfrm>
            <a:off x="812800" y="1127720"/>
            <a:ext cx="10883392" cy="784820"/>
          </a:xfrm>
          <a:prstGeom prst="rect">
            <a:avLst/>
          </a:prstGeom>
          <a:noFill/>
          <a:ln/>
        </p:spPr>
        <p:txBody>
          <a:bodyPr wrap="square" lIns="0" tIns="0" rIns="0" bIns="0" rtlCol="0" anchor="t">
            <a:normAutofit/>
          </a:bodyPr>
          <a:lstStyle/>
          <a:p>
            <a:pPr algn="l" indent="0" marL="0">
              <a:lnSpc>
                <a:spcPts val="2990"/>
              </a:lnSpc>
              <a:buNone/>
            </a:pPr>
            <a:r>
              <a:rPr lang="en-US" sz="2600" b="0" i="0" dirty="0">
                <a:solidFill>
                  <a:srgbClr val="051C2C"/>
                </a:solidFill>
                <a:latin typeface="Source Serif 4" pitchFamily="18" charset="0"/>
                <a:ea typeface="Source Serif 4" pitchFamily="18" charset="-122"/>
                <a:cs typeface="Source Serif 4" pitchFamily="18" charset="-120"/>
              </a:rPr>
              <a:t>Which products to invest in, with true margin and growth side by side.</a:t>
            </a:r>
            <a:endParaRPr lang="en-US" sz="2600" dirty="0"/>
          </a:p>
        </p:txBody>
      </p:sp>
      <p:sp>
        <p:nvSpPr>
          <p:cNvPr id="4" name="Shape 2"/>
          <p:cNvSpPr/>
          <p:nvPr/>
        </p:nvSpPr>
        <p:spPr>
          <a:xfrm>
            <a:off x="819150" y="2147491"/>
            <a:ext cx="7353300" cy="3688159"/>
          </a:xfrm>
          <a:prstGeom prst="roundRect">
            <a:avLst>
              <a:gd name="adj" fmla="val 1894"/>
            </a:avLst>
          </a:prstGeom>
          <a:solidFill>
            <a:srgbClr val="EEF1F4"/>
          </a:solidFill>
          <a:ln w="12700">
            <a:solidFill>
              <a:srgbClr val="A9BCCD"/>
            </a:solidFill>
            <a:prstDash val="dash"/>
          </a:ln>
        </p:spPr>
      </p:sp>
      <p:sp>
        <p:nvSpPr>
          <p:cNvPr id="5" name="Text 3"/>
          <p:cNvSpPr/>
          <p:nvPr/>
        </p:nvSpPr>
        <p:spPr>
          <a:xfrm>
            <a:off x="1994773" y="3735040"/>
            <a:ext cx="5002054" cy="274290"/>
          </a:xfrm>
          <a:prstGeom prst="rect">
            <a:avLst/>
          </a:prstGeom>
          <a:noFill/>
          <a:ln/>
        </p:spPr>
        <p:txBody>
          <a:bodyPr wrap="square" lIns="0" tIns="0" rIns="0" bIns="0" rtlCol="0" anchor="t">
            <a:normAutofit/>
          </a:bodyPr>
          <a:lstStyle/>
          <a:p>
            <a:pPr algn="ctr" indent="0" marL="0">
              <a:lnSpc>
                <a:spcPts val="1960"/>
              </a:lnSpc>
              <a:buNone/>
            </a:pPr>
            <a:r>
              <a:rPr lang="en-US" sz="1400" b="1" dirty="0">
                <a:solidFill>
                  <a:srgbClr val="6B7680"/>
                </a:solidFill>
                <a:latin typeface="Inter" pitchFamily="34" charset="0"/>
                <a:ea typeface="Inter" pitchFamily="34" charset="-122"/>
                <a:cs typeface="Inter" pitchFamily="34" charset="-120"/>
              </a:rPr>
              <a:t>Screenshot: product portfolio, margin vs. growth</a:t>
            </a:r>
            <a:endParaRPr lang="en-US" sz="1400" dirty="0"/>
          </a:p>
        </p:txBody>
      </p:sp>
      <p:sp>
        <p:nvSpPr>
          <p:cNvPr id="6" name="Text 4"/>
          <p:cNvSpPr/>
          <p:nvPr/>
        </p:nvSpPr>
        <p:spPr>
          <a:xfrm>
            <a:off x="3561581" y="4034730"/>
            <a:ext cx="1868388" cy="238720"/>
          </a:xfrm>
          <a:prstGeom prst="rect">
            <a:avLst/>
          </a:prstGeom>
          <a:noFill/>
          <a:ln/>
        </p:spPr>
        <p:txBody>
          <a:bodyPr wrap="square" lIns="0" tIns="0" rIns="0" bIns="0" rtlCol="0" anchor="t">
            <a:normAutofit/>
          </a:bodyPr>
          <a:lstStyle/>
          <a:p>
            <a:pPr algn="ctr" indent="0" marL="0">
              <a:lnSpc>
                <a:spcPts val="1680"/>
              </a:lnSpc>
              <a:buNone/>
            </a:pPr>
            <a:r>
              <a:rPr lang="en-US" sz="1200" dirty="0">
                <a:solidFill>
                  <a:srgbClr val="6B7680"/>
                </a:solidFill>
                <a:latin typeface="Inter" pitchFamily="34" charset="0"/>
                <a:ea typeface="Inter" pitchFamily="34" charset="-122"/>
                <a:cs typeface="Inter" pitchFamily="34" charset="-120"/>
              </a:rPr>
              <a:t>Use anonymised data</a:t>
            </a:r>
            <a:endParaRPr lang="en-US" sz="1200" dirty="0"/>
          </a:p>
        </p:txBody>
      </p:sp>
      <p:sp>
        <p:nvSpPr>
          <p:cNvPr id="7" name="Text 5"/>
          <p:cNvSpPr/>
          <p:nvPr/>
        </p:nvSpPr>
        <p:spPr>
          <a:xfrm>
            <a:off x="8534400" y="3067149"/>
            <a:ext cx="279400" cy="279400"/>
          </a:xfrm>
          <a:custGeom>
            <a:avLst/>
            <a:gdLst/>
            <a:ahLst/>
            <a:cxnLst/>
            <a:rect l="l" t="t" r="r" b="b"/>
            <a:pathLst>
              <a:path w="279400" h="279400">
                <a:moveTo>
                  <a:pt x="139700" y="0"/>
                </a:moveTo>
                <a:lnTo>
                  <a:pt x="139700" y="0"/>
                </a:lnTo>
                <a:arcTo hR="139700" wR="139700" stAng="16200000" swAng="5400000"/>
                <a:lnTo>
                  <a:pt x="279400" y="139700"/>
                </a:lnTo>
                <a:arcTo hR="139700" wR="139700" stAng="0" swAng="5400000"/>
                <a:lnTo>
                  <a:pt x="139700" y="279400"/>
                </a:lnTo>
                <a:arcTo hR="139700" wR="139700" stAng="5400000" swAng="5400000"/>
                <a:lnTo>
                  <a:pt x="0" y="139700"/>
                </a:lnTo>
                <a:arcTo hR="139700" wR="139700" stAng="10800000" swAng="5400000"/>
                <a:close/>
              </a:path>
            </a:pathLst>
          </a:custGeom>
          <a:solidFill>
            <a:srgbClr val="2251FF"/>
          </a:solidFill>
          <a:ln/>
        </p:spPr>
        <p:txBody>
          <a:bodyPr wrap="square" lIns="0" tIns="0" rIns="0" bIns="0" rtlCol="0" anchor="t">
            <a:normAutofit/>
          </a:bodyPr>
          <a:lstStyle/>
          <a:p>
            <a:pPr algn="ctr" indent="0" marL="0">
              <a:lnSpc>
                <a:spcPts val="2220"/>
              </a:lnSpc>
              <a:buNone/>
            </a:pPr>
            <a:r>
              <a:rPr lang="en-US" sz="1200" b="1" dirty="0">
                <a:solidFill>
                  <a:srgbClr val="FFFFFF"/>
                </a:solidFill>
                <a:latin typeface="Inter" pitchFamily="34" charset="0"/>
                <a:ea typeface="Inter" pitchFamily="34" charset="-122"/>
                <a:cs typeface="Inter" pitchFamily="34" charset="-120"/>
              </a:rPr>
              <a:t>1</a:t>
            </a:r>
            <a:endParaRPr lang="en-US" sz="1200" dirty="0"/>
          </a:p>
        </p:txBody>
      </p:sp>
      <p:sp>
        <p:nvSpPr>
          <p:cNvPr id="8" name="Text 6"/>
          <p:cNvSpPr/>
          <p:nvPr/>
        </p:nvSpPr>
        <p:spPr>
          <a:xfrm>
            <a:off x="8991600" y="3067149"/>
            <a:ext cx="2459228" cy="452041"/>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24323D"/>
                </a:solidFill>
                <a:latin typeface="Inter" pitchFamily="34" charset="0"/>
                <a:ea typeface="Inter" pitchFamily="34" charset="-122"/>
                <a:cs typeface="Inter" pitchFamily="34" charset="-120"/>
              </a:rPr>
              <a:t>True margin</a:t>
            </a:r>
            <a:r>
              <a:rPr lang="en-US" sz="1200" dirty="0">
                <a:solidFill>
                  <a:srgbClr val="24323D"/>
                </a:solidFill>
                <a:latin typeface="Inter" pitchFamily="34" charset="0"/>
                <a:ea typeface="Inter" pitchFamily="34" charset="-122"/>
                <a:cs typeface="Inter" pitchFamily="34" charset="-120"/>
              </a:rPr>
              <a:t> for each product, after the real cost to serve</a:t>
            </a:r>
            <a:endParaRPr lang="en-US" sz="1200" dirty="0"/>
          </a:p>
        </p:txBody>
      </p:sp>
      <p:sp>
        <p:nvSpPr>
          <p:cNvPr id="9" name="Text 7"/>
          <p:cNvSpPr/>
          <p:nvPr/>
        </p:nvSpPr>
        <p:spPr>
          <a:xfrm>
            <a:off x="8534400" y="3671590"/>
            <a:ext cx="279400" cy="279400"/>
          </a:xfrm>
          <a:custGeom>
            <a:avLst/>
            <a:gdLst/>
            <a:ahLst/>
            <a:cxnLst/>
            <a:rect l="l" t="t" r="r" b="b"/>
            <a:pathLst>
              <a:path w="279400" h="279400">
                <a:moveTo>
                  <a:pt x="139700" y="0"/>
                </a:moveTo>
                <a:lnTo>
                  <a:pt x="139700" y="0"/>
                </a:lnTo>
                <a:arcTo hR="139700" wR="139700" stAng="16200000" swAng="5400000"/>
                <a:lnTo>
                  <a:pt x="279400" y="139700"/>
                </a:lnTo>
                <a:arcTo hR="139700" wR="139700" stAng="0" swAng="5400000"/>
                <a:lnTo>
                  <a:pt x="139700" y="279400"/>
                </a:lnTo>
                <a:arcTo hR="139700" wR="139700" stAng="5400000" swAng="5400000"/>
                <a:lnTo>
                  <a:pt x="0" y="139700"/>
                </a:lnTo>
                <a:arcTo hR="139700" wR="139700" stAng="10800000" swAng="5400000"/>
                <a:close/>
              </a:path>
            </a:pathLst>
          </a:custGeom>
          <a:solidFill>
            <a:srgbClr val="2251FF"/>
          </a:solidFill>
          <a:ln/>
        </p:spPr>
        <p:txBody>
          <a:bodyPr wrap="square" lIns="0" tIns="0" rIns="0" bIns="0" rtlCol="0" anchor="t">
            <a:normAutofit/>
          </a:bodyPr>
          <a:lstStyle/>
          <a:p>
            <a:pPr algn="ctr" indent="0" marL="0">
              <a:lnSpc>
                <a:spcPts val="2220"/>
              </a:lnSpc>
              <a:buNone/>
            </a:pPr>
            <a:r>
              <a:rPr lang="en-US" sz="1200" b="1" dirty="0">
                <a:solidFill>
                  <a:srgbClr val="FFFFFF"/>
                </a:solidFill>
                <a:latin typeface="Inter" pitchFamily="34" charset="0"/>
                <a:ea typeface="Inter" pitchFamily="34" charset="-122"/>
                <a:cs typeface="Inter" pitchFamily="34" charset="-120"/>
              </a:rPr>
              <a:t>2</a:t>
            </a:r>
            <a:endParaRPr lang="en-US" sz="1200" dirty="0"/>
          </a:p>
        </p:txBody>
      </p:sp>
      <p:sp>
        <p:nvSpPr>
          <p:cNvPr id="10" name="Text 8"/>
          <p:cNvSpPr/>
          <p:nvPr/>
        </p:nvSpPr>
        <p:spPr>
          <a:xfrm>
            <a:off x="8991600" y="3671590"/>
            <a:ext cx="2459228" cy="665361"/>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24323D"/>
                </a:solidFill>
                <a:latin typeface="Inter" pitchFamily="34" charset="0"/>
                <a:ea typeface="Inter" pitchFamily="34" charset="-122"/>
                <a:cs typeface="Inter" pitchFamily="34" charset="-120"/>
              </a:rPr>
              <a:t>Growth and renewal strength:</a:t>
            </a:r>
            <a:r>
              <a:rPr lang="en-US" sz="1200" dirty="0">
                <a:solidFill>
                  <a:srgbClr val="24323D"/>
                </a:solidFill>
                <a:latin typeface="Inter" pitchFamily="34" charset="0"/>
                <a:ea typeface="Inter" pitchFamily="34" charset="-122"/>
                <a:cs typeface="Inter" pitchFamily="34" charset="-120"/>
              </a:rPr>
              <a:t> where demand is rising or slipping</a:t>
            </a:r>
            <a:endParaRPr lang="en-US" sz="1200" dirty="0"/>
          </a:p>
        </p:txBody>
      </p:sp>
      <p:sp>
        <p:nvSpPr>
          <p:cNvPr id="11" name="Text 9"/>
          <p:cNvSpPr/>
          <p:nvPr/>
        </p:nvSpPr>
        <p:spPr>
          <a:xfrm>
            <a:off x="8534400" y="4489351"/>
            <a:ext cx="279400" cy="279400"/>
          </a:xfrm>
          <a:custGeom>
            <a:avLst/>
            <a:gdLst/>
            <a:ahLst/>
            <a:cxnLst/>
            <a:rect l="l" t="t" r="r" b="b"/>
            <a:pathLst>
              <a:path w="279400" h="279400">
                <a:moveTo>
                  <a:pt x="139700" y="0"/>
                </a:moveTo>
                <a:lnTo>
                  <a:pt x="139700" y="0"/>
                </a:lnTo>
                <a:arcTo hR="139700" wR="139700" stAng="16200000" swAng="5400000"/>
                <a:lnTo>
                  <a:pt x="279400" y="139700"/>
                </a:lnTo>
                <a:arcTo hR="139700" wR="139700" stAng="0" swAng="5400000"/>
                <a:lnTo>
                  <a:pt x="139700" y="279400"/>
                </a:lnTo>
                <a:arcTo hR="139700" wR="139700" stAng="5400000" swAng="5400000"/>
                <a:lnTo>
                  <a:pt x="0" y="139700"/>
                </a:lnTo>
                <a:arcTo hR="139700" wR="139700" stAng="10800000" swAng="5400000"/>
                <a:close/>
              </a:path>
            </a:pathLst>
          </a:custGeom>
          <a:solidFill>
            <a:srgbClr val="2251FF"/>
          </a:solidFill>
          <a:ln/>
        </p:spPr>
        <p:txBody>
          <a:bodyPr wrap="square" lIns="0" tIns="0" rIns="0" bIns="0" rtlCol="0" anchor="t">
            <a:normAutofit/>
          </a:bodyPr>
          <a:lstStyle/>
          <a:p>
            <a:pPr algn="ctr" indent="0" marL="0">
              <a:lnSpc>
                <a:spcPts val="2220"/>
              </a:lnSpc>
              <a:buNone/>
            </a:pPr>
            <a:r>
              <a:rPr lang="en-US" sz="1200" b="1" dirty="0">
                <a:solidFill>
                  <a:srgbClr val="FFFFFF"/>
                </a:solidFill>
                <a:latin typeface="Inter" pitchFamily="34" charset="0"/>
                <a:ea typeface="Inter" pitchFamily="34" charset="-122"/>
                <a:cs typeface="Inter" pitchFamily="34" charset="-120"/>
              </a:rPr>
              <a:t>3</a:t>
            </a:r>
            <a:endParaRPr lang="en-US" sz="1200" dirty="0"/>
          </a:p>
        </p:txBody>
      </p:sp>
      <p:sp>
        <p:nvSpPr>
          <p:cNvPr id="12" name="Text 10"/>
          <p:cNvSpPr/>
          <p:nvPr/>
        </p:nvSpPr>
        <p:spPr>
          <a:xfrm>
            <a:off x="8991600" y="4489351"/>
            <a:ext cx="2459228" cy="452041"/>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24323D"/>
                </a:solidFill>
                <a:latin typeface="Inter" pitchFamily="34" charset="0"/>
                <a:ea typeface="Inter" pitchFamily="34" charset="-122"/>
                <a:cs typeface="Inter" pitchFamily="34" charset="-120"/>
              </a:rPr>
              <a:t>Grow, sustain or fix:</a:t>
            </a:r>
            <a:r>
              <a:rPr lang="en-US" sz="1200" dirty="0">
                <a:solidFill>
                  <a:srgbClr val="24323D"/>
                </a:solidFill>
                <a:latin typeface="Inter" pitchFamily="34" charset="0"/>
                <a:ea typeface="Inter" pitchFamily="34" charset="-122"/>
                <a:cs typeface="Inter" pitchFamily="34" charset="-120"/>
              </a:rPr>
              <a:t> a clear call for each product</a:t>
            </a:r>
            <a:endParaRPr lang="en-US" sz="1200" dirty="0"/>
          </a:p>
        </p:txBody>
      </p:sp>
      <p:sp>
        <p:nvSpPr>
          <p:cNvPr id="13" name="Text 11"/>
          <p:cNvSpPr/>
          <p:nvPr/>
        </p:nvSpPr>
        <p:spPr>
          <a:xfrm>
            <a:off x="812800" y="6238280"/>
            <a:ext cx="2366546"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680"/>
                </a:solidFill>
                <a:latin typeface="Inter" pitchFamily="34" charset="0"/>
                <a:ea typeface="Inter" pitchFamily="34" charset="-122"/>
                <a:cs typeface="Inter" pitchFamily="34" charset="-120"/>
              </a:rPr>
              <a:t>Enterprise Intelligence | FIS</a:t>
            </a:r>
            <a:endParaRPr lang="en-US" sz="1200" dirty="0"/>
          </a:p>
        </p:txBody>
      </p:sp>
      <p:sp>
        <p:nvSpPr>
          <p:cNvPr id="14" name="Text 12"/>
          <p:cNvSpPr/>
          <p:nvPr/>
        </p:nvSpPr>
        <p:spPr>
          <a:xfrm>
            <a:off x="11139289" y="6238280"/>
            <a:ext cx="239911"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B7680"/>
                </a:solidFill>
                <a:latin typeface="Inter" pitchFamily="34" charset="0"/>
                <a:ea typeface="Inter" pitchFamily="34" charset="-122"/>
                <a:cs typeface="Inter" pitchFamily="34" charset="-120"/>
              </a:rPr>
              <a:t>20</a:t>
            </a:r>
            <a:endParaRPr lang="en-US" sz="12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BFBF9"/>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2251FF"/>
                </a:solidFill>
                <a:latin typeface="Inter" pitchFamily="34" charset="0"/>
                <a:ea typeface="Inter" pitchFamily="34" charset="-122"/>
                <a:cs typeface="Inter" pitchFamily="34" charset="-120"/>
              </a:rPr>
              <a:t>SEE IT IN ACTION · 4 OF 5</a:t>
            </a:r>
            <a:endParaRPr lang="en-US" sz="1200" dirty="0"/>
          </a:p>
        </p:txBody>
      </p:sp>
      <p:sp>
        <p:nvSpPr>
          <p:cNvPr id="3" name="Text 1"/>
          <p:cNvSpPr/>
          <p:nvPr>
            <p:ph type="title"/>
          </p:nvPr>
        </p:nvSpPr>
        <p:spPr>
          <a:xfrm>
            <a:off x="812800" y="1127720"/>
            <a:ext cx="10883392" cy="405110"/>
          </a:xfrm>
          <a:prstGeom prst="rect">
            <a:avLst/>
          </a:prstGeom>
          <a:noFill/>
          <a:ln/>
        </p:spPr>
        <p:txBody>
          <a:bodyPr wrap="square" lIns="0" tIns="0" rIns="0" bIns="0" rtlCol="0" anchor="t">
            <a:normAutofit/>
          </a:bodyPr>
          <a:lstStyle/>
          <a:p>
            <a:pPr algn="l" indent="0" marL="0">
              <a:lnSpc>
                <a:spcPts val="2990"/>
              </a:lnSpc>
              <a:buNone/>
            </a:pPr>
            <a:r>
              <a:rPr lang="en-US" sz="2600" b="0" i="0" dirty="0">
                <a:solidFill>
                  <a:srgbClr val="051C2C"/>
                </a:solidFill>
                <a:latin typeface="Source Serif 4" pitchFamily="18" charset="0"/>
                <a:ea typeface="Source Serif 4" pitchFamily="18" charset="-122"/>
                <a:cs typeface="Source Serif 4" pitchFamily="18" charset="-120"/>
              </a:rPr>
              <a:t>Where to invest next: the gaps in our products and markets.</a:t>
            </a:r>
            <a:endParaRPr lang="en-US" sz="2600" dirty="0"/>
          </a:p>
        </p:txBody>
      </p:sp>
      <p:sp>
        <p:nvSpPr>
          <p:cNvPr id="4" name="Shape 2"/>
          <p:cNvSpPr/>
          <p:nvPr/>
        </p:nvSpPr>
        <p:spPr>
          <a:xfrm>
            <a:off x="819150" y="1767780"/>
            <a:ext cx="7353300" cy="4067870"/>
          </a:xfrm>
          <a:prstGeom prst="roundRect">
            <a:avLst>
              <a:gd name="adj" fmla="val 1717"/>
            </a:avLst>
          </a:prstGeom>
          <a:solidFill>
            <a:srgbClr val="EEF1F4"/>
          </a:solidFill>
          <a:ln w="12700">
            <a:solidFill>
              <a:srgbClr val="A9BCCD"/>
            </a:solidFill>
            <a:prstDash val="dash"/>
          </a:ln>
        </p:spPr>
      </p:sp>
      <p:sp>
        <p:nvSpPr>
          <p:cNvPr id="5" name="Text 3"/>
          <p:cNvSpPr/>
          <p:nvPr/>
        </p:nvSpPr>
        <p:spPr>
          <a:xfrm>
            <a:off x="1581631" y="3545185"/>
            <a:ext cx="5828288" cy="274290"/>
          </a:xfrm>
          <a:prstGeom prst="rect">
            <a:avLst/>
          </a:prstGeom>
          <a:noFill/>
          <a:ln/>
        </p:spPr>
        <p:txBody>
          <a:bodyPr wrap="square" lIns="0" tIns="0" rIns="0" bIns="0" rtlCol="0" anchor="t">
            <a:normAutofit/>
          </a:bodyPr>
          <a:lstStyle/>
          <a:p>
            <a:pPr algn="ctr" indent="0" marL="0">
              <a:lnSpc>
                <a:spcPts val="1960"/>
              </a:lnSpc>
              <a:buNone/>
            </a:pPr>
            <a:r>
              <a:rPr lang="en-US" sz="1400" b="1" dirty="0">
                <a:solidFill>
                  <a:srgbClr val="6B7680"/>
                </a:solidFill>
                <a:latin typeface="Inter" pitchFamily="34" charset="0"/>
                <a:ea typeface="Inter" pitchFamily="34" charset="-122"/>
                <a:cs typeface="Inter" pitchFamily="34" charset="-120"/>
              </a:rPr>
              <a:t>Screenshot: whitespace by segment, region and product</a:t>
            </a:r>
            <a:endParaRPr lang="en-US" sz="1400" dirty="0"/>
          </a:p>
        </p:txBody>
      </p:sp>
      <p:sp>
        <p:nvSpPr>
          <p:cNvPr id="6" name="Text 4"/>
          <p:cNvSpPr/>
          <p:nvPr/>
        </p:nvSpPr>
        <p:spPr>
          <a:xfrm>
            <a:off x="3561581" y="3844875"/>
            <a:ext cx="1868388" cy="238720"/>
          </a:xfrm>
          <a:prstGeom prst="rect">
            <a:avLst/>
          </a:prstGeom>
          <a:noFill/>
          <a:ln/>
        </p:spPr>
        <p:txBody>
          <a:bodyPr wrap="square" lIns="0" tIns="0" rIns="0" bIns="0" rtlCol="0" anchor="t">
            <a:normAutofit/>
          </a:bodyPr>
          <a:lstStyle/>
          <a:p>
            <a:pPr algn="ctr" indent="0" marL="0">
              <a:lnSpc>
                <a:spcPts val="1680"/>
              </a:lnSpc>
              <a:buNone/>
            </a:pPr>
            <a:r>
              <a:rPr lang="en-US" sz="1200" dirty="0">
                <a:solidFill>
                  <a:srgbClr val="6B7680"/>
                </a:solidFill>
                <a:latin typeface="Inter" pitchFamily="34" charset="0"/>
                <a:ea typeface="Inter" pitchFamily="34" charset="-122"/>
                <a:cs typeface="Inter" pitchFamily="34" charset="-120"/>
              </a:rPr>
              <a:t>Use anonymised data</a:t>
            </a:r>
            <a:endParaRPr lang="en-US" sz="1200" dirty="0"/>
          </a:p>
        </p:txBody>
      </p:sp>
      <p:sp>
        <p:nvSpPr>
          <p:cNvPr id="7" name="Text 5"/>
          <p:cNvSpPr/>
          <p:nvPr/>
        </p:nvSpPr>
        <p:spPr>
          <a:xfrm>
            <a:off x="8534400" y="2983954"/>
            <a:ext cx="279400" cy="279400"/>
          </a:xfrm>
          <a:custGeom>
            <a:avLst/>
            <a:gdLst/>
            <a:ahLst/>
            <a:cxnLst/>
            <a:rect l="l" t="t" r="r" b="b"/>
            <a:pathLst>
              <a:path w="279400" h="279400">
                <a:moveTo>
                  <a:pt x="139700" y="0"/>
                </a:moveTo>
                <a:lnTo>
                  <a:pt x="139700" y="0"/>
                </a:lnTo>
                <a:arcTo hR="139700" wR="139700" stAng="16200000" swAng="5400000"/>
                <a:lnTo>
                  <a:pt x="279400" y="139700"/>
                </a:lnTo>
                <a:arcTo hR="139700" wR="139700" stAng="0" swAng="5400000"/>
                <a:lnTo>
                  <a:pt x="139700" y="279400"/>
                </a:lnTo>
                <a:arcTo hR="139700" wR="139700" stAng="5400000" swAng="5400000"/>
                <a:lnTo>
                  <a:pt x="0" y="139700"/>
                </a:lnTo>
                <a:arcTo hR="139700" wR="139700" stAng="10800000" swAng="5400000"/>
                <a:close/>
              </a:path>
            </a:pathLst>
          </a:custGeom>
          <a:solidFill>
            <a:srgbClr val="2251FF"/>
          </a:solidFill>
          <a:ln/>
        </p:spPr>
        <p:txBody>
          <a:bodyPr wrap="square" lIns="0" tIns="0" rIns="0" bIns="0" rtlCol="0" anchor="t">
            <a:normAutofit/>
          </a:bodyPr>
          <a:lstStyle/>
          <a:p>
            <a:pPr algn="ctr" indent="0" marL="0">
              <a:lnSpc>
                <a:spcPts val="2220"/>
              </a:lnSpc>
              <a:buNone/>
            </a:pPr>
            <a:r>
              <a:rPr lang="en-US" sz="1200" b="1" dirty="0">
                <a:solidFill>
                  <a:srgbClr val="FFFFFF"/>
                </a:solidFill>
                <a:latin typeface="Inter" pitchFamily="34" charset="0"/>
                <a:ea typeface="Inter" pitchFamily="34" charset="-122"/>
                <a:cs typeface="Inter" pitchFamily="34" charset="-120"/>
              </a:rPr>
              <a:t>1</a:t>
            </a:r>
            <a:endParaRPr lang="en-US" sz="1200" dirty="0"/>
          </a:p>
        </p:txBody>
      </p:sp>
      <p:sp>
        <p:nvSpPr>
          <p:cNvPr id="8" name="Text 6"/>
          <p:cNvSpPr/>
          <p:nvPr/>
        </p:nvSpPr>
        <p:spPr>
          <a:xfrm>
            <a:off x="8991600" y="2983954"/>
            <a:ext cx="2459228" cy="452041"/>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24323D"/>
                </a:solidFill>
                <a:latin typeface="Inter" pitchFamily="34" charset="0"/>
                <a:ea typeface="Inter" pitchFamily="34" charset="-122"/>
                <a:cs typeface="Inter" pitchFamily="34" charset="-120"/>
              </a:rPr>
              <a:t>Product reach</a:t>
            </a:r>
            <a:r>
              <a:rPr lang="en-US" sz="1200" dirty="0">
                <a:solidFill>
                  <a:srgbClr val="24323D"/>
                </a:solidFill>
                <a:latin typeface="Inter" pitchFamily="34" charset="0"/>
                <a:ea typeface="Inter" pitchFamily="34" charset="-122"/>
                <a:cs typeface="Inter" pitchFamily="34" charset="-120"/>
              </a:rPr>
              <a:t> by segment and region</a:t>
            </a:r>
            <a:endParaRPr lang="en-US" sz="1200" dirty="0"/>
          </a:p>
        </p:txBody>
      </p:sp>
      <p:sp>
        <p:nvSpPr>
          <p:cNvPr id="9" name="Text 7"/>
          <p:cNvSpPr/>
          <p:nvPr/>
        </p:nvSpPr>
        <p:spPr>
          <a:xfrm>
            <a:off x="8534400" y="3588395"/>
            <a:ext cx="279400" cy="279400"/>
          </a:xfrm>
          <a:custGeom>
            <a:avLst/>
            <a:gdLst/>
            <a:ahLst/>
            <a:cxnLst/>
            <a:rect l="l" t="t" r="r" b="b"/>
            <a:pathLst>
              <a:path w="279400" h="279400">
                <a:moveTo>
                  <a:pt x="139700" y="0"/>
                </a:moveTo>
                <a:lnTo>
                  <a:pt x="139700" y="0"/>
                </a:lnTo>
                <a:arcTo hR="139700" wR="139700" stAng="16200000" swAng="5400000"/>
                <a:lnTo>
                  <a:pt x="279400" y="139700"/>
                </a:lnTo>
                <a:arcTo hR="139700" wR="139700" stAng="0" swAng="5400000"/>
                <a:lnTo>
                  <a:pt x="139700" y="279400"/>
                </a:lnTo>
                <a:arcTo hR="139700" wR="139700" stAng="5400000" swAng="5400000"/>
                <a:lnTo>
                  <a:pt x="0" y="139700"/>
                </a:lnTo>
                <a:arcTo hR="139700" wR="139700" stAng="10800000" swAng="5400000"/>
                <a:close/>
              </a:path>
            </a:pathLst>
          </a:custGeom>
          <a:solidFill>
            <a:srgbClr val="2251FF"/>
          </a:solidFill>
          <a:ln/>
        </p:spPr>
        <p:txBody>
          <a:bodyPr wrap="square" lIns="0" tIns="0" rIns="0" bIns="0" rtlCol="0" anchor="t">
            <a:normAutofit/>
          </a:bodyPr>
          <a:lstStyle/>
          <a:p>
            <a:pPr algn="ctr" indent="0" marL="0">
              <a:lnSpc>
                <a:spcPts val="2220"/>
              </a:lnSpc>
              <a:buNone/>
            </a:pPr>
            <a:r>
              <a:rPr lang="en-US" sz="1200" b="1" dirty="0">
                <a:solidFill>
                  <a:srgbClr val="FFFFFF"/>
                </a:solidFill>
                <a:latin typeface="Inter" pitchFamily="34" charset="0"/>
                <a:ea typeface="Inter" pitchFamily="34" charset="-122"/>
                <a:cs typeface="Inter" pitchFamily="34" charset="-120"/>
              </a:rPr>
              <a:t>2</a:t>
            </a:r>
            <a:endParaRPr lang="en-US" sz="1200" dirty="0"/>
          </a:p>
        </p:txBody>
      </p:sp>
      <p:sp>
        <p:nvSpPr>
          <p:cNvPr id="10" name="Text 8"/>
          <p:cNvSpPr/>
          <p:nvPr/>
        </p:nvSpPr>
        <p:spPr>
          <a:xfrm>
            <a:off x="8991600" y="3588395"/>
            <a:ext cx="2459228" cy="452041"/>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24323D"/>
                </a:solidFill>
                <a:latin typeface="Inter" pitchFamily="34" charset="0"/>
                <a:ea typeface="Inter" pitchFamily="34" charset="-122"/>
                <a:cs typeface="Inter" pitchFamily="34" charset="-120"/>
              </a:rPr>
              <a:t>The gaps:</a:t>
            </a:r>
            <a:r>
              <a:rPr lang="en-US" sz="1200" dirty="0">
                <a:solidFill>
                  <a:srgbClr val="24323D"/>
                </a:solidFill>
                <a:latin typeface="Inter" pitchFamily="34" charset="0"/>
                <a:ea typeface="Inter" pitchFamily="34" charset="-122"/>
                <a:cs typeface="Inter" pitchFamily="34" charset="-120"/>
              </a:rPr>
              <a:t> where similar clients buy and these don't</a:t>
            </a:r>
            <a:endParaRPr lang="en-US" sz="1200" dirty="0"/>
          </a:p>
        </p:txBody>
      </p:sp>
      <p:sp>
        <p:nvSpPr>
          <p:cNvPr id="11" name="Text 9"/>
          <p:cNvSpPr/>
          <p:nvPr/>
        </p:nvSpPr>
        <p:spPr>
          <a:xfrm>
            <a:off x="8534400" y="4192836"/>
            <a:ext cx="279400" cy="279400"/>
          </a:xfrm>
          <a:custGeom>
            <a:avLst/>
            <a:gdLst/>
            <a:ahLst/>
            <a:cxnLst/>
            <a:rect l="l" t="t" r="r" b="b"/>
            <a:pathLst>
              <a:path w="279400" h="279400">
                <a:moveTo>
                  <a:pt x="139700" y="0"/>
                </a:moveTo>
                <a:lnTo>
                  <a:pt x="139700" y="0"/>
                </a:lnTo>
                <a:arcTo hR="139700" wR="139700" stAng="16200000" swAng="5400000"/>
                <a:lnTo>
                  <a:pt x="279400" y="139700"/>
                </a:lnTo>
                <a:arcTo hR="139700" wR="139700" stAng="0" swAng="5400000"/>
                <a:lnTo>
                  <a:pt x="139700" y="279400"/>
                </a:lnTo>
                <a:arcTo hR="139700" wR="139700" stAng="5400000" swAng="5400000"/>
                <a:lnTo>
                  <a:pt x="0" y="139700"/>
                </a:lnTo>
                <a:arcTo hR="139700" wR="139700" stAng="10800000" swAng="5400000"/>
                <a:close/>
              </a:path>
            </a:pathLst>
          </a:custGeom>
          <a:solidFill>
            <a:srgbClr val="2251FF"/>
          </a:solidFill>
          <a:ln/>
        </p:spPr>
        <p:txBody>
          <a:bodyPr wrap="square" lIns="0" tIns="0" rIns="0" bIns="0" rtlCol="0" anchor="t">
            <a:normAutofit/>
          </a:bodyPr>
          <a:lstStyle/>
          <a:p>
            <a:pPr algn="ctr" indent="0" marL="0">
              <a:lnSpc>
                <a:spcPts val="2220"/>
              </a:lnSpc>
              <a:buNone/>
            </a:pPr>
            <a:r>
              <a:rPr lang="en-US" sz="1200" b="1" dirty="0">
                <a:solidFill>
                  <a:srgbClr val="FFFFFF"/>
                </a:solidFill>
                <a:latin typeface="Inter" pitchFamily="34" charset="0"/>
                <a:ea typeface="Inter" pitchFamily="34" charset="-122"/>
                <a:cs typeface="Inter" pitchFamily="34" charset="-120"/>
              </a:rPr>
              <a:t>3</a:t>
            </a:r>
            <a:endParaRPr lang="en-US" sz="1200" dirty="0"/>
          </a:p>
        </p:txBody>
      </p:sp>
      <p:sp>
        <p:nvSpPr>
          <p:cNvPr id="12" name="Text 10"/>
          <p:cNvSpPr/>
          <p:nvPr/>
        </p:nvSpPr>
        <p:spPr>
          <a:xfrm>
            <a:off x="8991600" y="4192836"/>
            <a:ext cx="2459228" cy="452041"/>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24323D"/>
                </a:solidFill>
                <a:latin typeface="Inter" pitchFamily="34" charset="0"/>
                <a:ea typeface="Inter" pitchFamily="34" charset="-122"/>
                <a:cs typeface="Inter" pitchFamily="34" charset="-120"/>
              </a:rPr>
              <a:t>Size of each gap,</a:t>
            </a:r>
            <a:r>
              <a:rPr lang="en-US" sz="1200" dirty="0">
                <a:solidFill>
                  <a:srgbClr val="24323D"/>
                </a:solidFill>
                <a:latin typeface="Inter" pitchFamily="34" charset="0"/>
                <a:ea typeface="Inter" pitchFamily="34" charset="-122"/>
                <a:cs typeface="Inter" pitchFamily="34" charset="-120"/>
              </a:rPr>
              <a:t> to decide whether to build, partner or buy</a:t>
            </a:r>
            <a:endParaRPr lang="en-US" sz="1200" dirty="0"/>
          </a:p>
        </p:txBody>
      </p:sp>
      <p:sp>
        <p:nvSpPr>
          <p:cNvPr id="13" name="Text 11"/>
          <p:cNvSpPr/>
          <p:nvPr/>
        </p:nvSpPr>
        <p:spPr>
          <a:xfrm>
            <a:off x="812800" y="6238280"/>
            <a:ext cx="2366546"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680"/>
                </a:solidFill>
                <a:latin typeface="Inter" pitchFamily="34" charset="0"/>
                <a:ea typeface="Inter" pitchFamily="34" charset="-122"/>
                <a:cs typeface="Inter" pitchFamily="34" charset="-120"/>
              </a:rPr>
              <a:t>Enterprise Intelligence | FIS</a:t>
            </a:r>
            <a:endParaRPr lang="en-US" sz="1200" dirty="0"/>
          </a:p>
        </p:txBody>
      </p:sp>
      <p:sp>
        <p:nvSpPr>
          <p:cNvPr id="14" name="Text 12"/>
          <p:cNvSpPr/>
          <p:nvPr/>
        </p:nvSpPr>
        <p:spPr>
          <a:xfrm>
            <a:off x="11173470" y="6238280"/>
            <a:ext cx="20573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B7680"/>
                </a:solidFill>
                <a:latin typeface="Inter" pitchFamily="34" charset="0"/>
                <a:ea typeface="Inter" pitchFamily="34" charset="-122"/>
                <a:cs typeface="Inter" pitchFamily="34" charset="-120"/>
              </a:rPr>
              <a:t>21</a:t>
            </a:r>
            <a:endParaRPr lang="en-US" sz="12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BFBF9"/>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2251FF"/>
                </a:solidFill>
                <a:latin typeface="Inter" pitchFamily="34" charset="0"/>
                <a:ea typeface="Inter" pitchFamily="34" charset="-122"/>
                <a:cs typeface="Inter" pitchFamily="34" charset="-120"/>
              </a:rPr>
              <a:t>SEE IT IN ACTION · 5 OF 5</a:t>
            </a:r>
            <a:endParaRPr lang="en-US" sz="1200" dirty="0"/>
          </a:p>
        </p:txBody>
      </p:sp>
      <p:sp>
        <p:nvSpPr>
          <p:cNvPr id="3" name="Text 1"/>
          <p:cNvSpPr/>
          <p:nvPr>
            <p:ph type="title"/>
          </p:nvPr>
        </p:nvSpPr>
        <p:spPr>
          <a:xfrm>
            <a:off x="812800" y="1127720"/>
            <a:ext cx="10883392" cy="405110"/>
          </a:xfrm>
          <a:prstGeom prst="rect">
            <a:avLst/>
          </a:prstGeom>
          <a:noFill/>
          <a:ln/>
        </p:spPr>
        <p:txBody>
          <a:bodyPr wrap="square" lIns="0" tIns="0" rIns="0" bIns="0" rtlCol="0" anchor="t">
            <a:normAutofit/>
          </a:bodyPr>
          <a:lstStyle/>
          <a:p>
            <a:pPr algn="l" indent="0" marL="0">
              <a:lnSpc>
                <a:spcPts val="2990"/>
              </a:lnSpc>
              <a:buNone/>
            </a:pPr>
            <a:r>
              <a:rPr lang="en-US" sz="2600" b="0" i="0" dirty="0">
                <a:solidFill>
                  <a:srgbClr val="051C2C"/>
                </a:solidFill>
                <a:latin typeface="Source Serif 4" pitchFamily="18" charset="0"/>
                <a:ea typeface="Source Serif 4" pitchFamily="18" charset="-122"/>
                <a:cs typeface="Source Serif 4" pitchFamily="18" charset="-120"/>
              </a:rPr>
              <a:t>An agent's recommendation, waiting for one-click approval.</a:t>
            </a:r>
            <a:endParaRPr lang="en-US" sz="2600" dirty="0"/>
          </a:p>
        </p:txBody>
      </p:sp>
      <p:sp>
        <p:nvSpPr>
          <p:cNvPr id="4" name="Shape 2"/>
          <p:cNvSpPr/>
          <p:nvPr/>
        </p:nvSpPr>
        <p:spPr>
          <a:xfrm>
            <a:off x="819150" y="1767780"/>
            <a:ext cx="7353300" cy="4067870"/>
          </a:xfrm>
          <a:prstGeom prst="roundRect">
            <a:avLst>
              <a:gd name="adj" fmla="val 1717"/>
            </a:avLst>
          </a:prstGeom>
          <a:solidFill>
            <a:srgbClr val="EEF1F4"/>
          </a:solidFill>
          <a:ln w="12700">
            <a:solidFill>
              <a:srgbClr val="A9BCCD"/>
            </a:solidFill>
            <a:prstDash val="dash"/>
          </a:ln>
        </p:spPr>
      </p:sp>
      <p:sp>
        <p:nvSpPr>
          <p:cNvPr id="5" name="Text 3"/>
          <p:cNvSpPr/>
          <p:nvPr/>
        </p:nvSpPr>
        <p:spPr>
          <a:xfrm>
            <a:off x="1954947" y="3545185"/>
            <a:ext cx="5081707" cy="274290"/>
          </a:xfrm>
          <a:prstGeom prst="rect">
            <a:avLst/>
          </a:prstGeom>
          <a:noFill/>
          <a:ln/>
        </p:spPr>
        <p:txBody>
          <a:bodyPr wrap="square" lIns="0" tIns="0" rIns="0" bIns="0" rtlCol="0" anchor="t">
            <a:normAutofit/>
          </a:bodyPr>
          <a:lstStyle/>
          <a:p>
            <a:pPr algn="ctr" indent="0" marL="0">
              <a:lnSpc>
                <a:spcPts val="1960"/>
              </a:lnSpc>
              <a:buNone/>
            </a:pPr>
            <a:r>
              <a:rPr lang="en-US" sz="1400" b="1" dirty="0">
                <a:solidFill>
                  <a:srgbClr val="6B7680"/>
                </a:solidFill>
                <a:latin typeface="Inter" pitchFamily="34" charset="0"/>
                <a:ea typeface="Inter" pitchFamily="34" charset="-122"/>
                <a:cs typeface="Inter" pitchFamily="34" charset="-120"/>
              </a:rPr>
              <a:t>Screenshot: agent recommendation and approval</a:t>
            </a:r>
            <a:endParaRPr lang="en-US" sz="1400" dirty="0"/>
          </a:p>
        </p:txBody>
      </p:sp>
      <p:sp>
        <p:nvSpPr>
          <p:cNvPr id="6" name="Text 4"/>
          <p:cNvSpPr/>
          <p:nvPr/>
        </p:nvSpPr>
        <p:spPr>
          <a:xfrm>
            <a:off x="3302084" y="3844875"/>
            <a:ext cx="2387382" cy="238720"/>
          </a:xfrm>
          <a:prstGeom prst="rect">
            <a:avLst/>
          </a:prstGeom>
          <a:noFill/>
          <a:ln/>
        </p:spPr>
        <p:txBody>
          <a:bodyPr wrap="square" lIns="0" tIns="0" rIns="0" bIns="0" rtlCol="0" anchor="t">
            <a:normAutofit/>
          </a:bodyPr>
          <a:lstStyle/>
          <a:p>
            <a:pPr algn="ctr" indent="0" marL="0">
              <a:lnSpc>
                <a:spcPts val="1680"/>
              </a:lnSpc>
              <a:buNone/>
            </a:pPr>
            <a:r>
              <a:rPr lang="en-US" sz="1200" dirty="0">
                <a:solidFill>
                  <a:srgbClr val="6B7680"/>
                </a:solidFill>
                <a:latin typeface="Inter" pitchFamily="34" charset="0"/>
                <a:ea typeface="Inter" pitchFamily="34" charset="-122"/>
                <a:cs typeface="Inter" pitchFamily="34" charset="-120"/>
              </a:rPr>
              <a:t>Use anonymised client data</a:t>
            </a:r>
            <a:endParaRPr lang="en-US" sz="1200" dirty="0"/>
          </a:p>
        </p:txBody>
      </p:sp>
      <p:sp>
        <p:nvSpPr>
          <p:cNvPr id="7" name="Text 5"/>
          <p:cNvSpPr/>
          <p:nvPr/>
        </p:nvSpPr>
        <p:spPr>
          <a:xfrm>
            <a:off x="8534400" y="2615059"/>
            <a:ext cx="279400" cy="279400"/>
          </a:xfrm>
          <a:custGeom>
            <a:avLst/>
            <a:gdLst/>
            <a:ahLst/>
            <a:cxnLst/>
            <a:rect l="l" t="t" r="r" b="b"/>
            <a:pathLst>
              <a:path w="279400" h="279400">
                <a:moveTo>
                  <a:pt x="139700" y="0"/>
                </a:moveTo>
                <a:lnTo>
                  <a:pt x="139700" y="0"/>
                </a:lnTo>
                <a:arcTo hR="139700" wR="139700" stAng="16200000" swAng="5400000"/>
                <a:lnTo>
                  <a:pt x="279400" y="139700"/>
                </a:lnTo>
                <a:arcTo hR="139700" wR="139700" stAng="0" swAng="5400000"/>
                <a:lnTo>
                  <a:pt x="139700" y="279400"/>
                </a:lnTo>
                <a:arcTo hR="139700" wR="139700" stAng="5400000" swAng="5400000"/>
                <a:lnTo>
                  <a:pt x="0" y="139700"/>
                </a:lnTo>
                <a:arcTo hR="139700" wR="139700" stAng="10800000" swAng="5400000"/>
                <a:close/>
              </a:path>
            </a:pathLst>
          </a:custGeom>
          <a:solidFill>
            <a:srgbClr val="2251FF"/>
          </a:solidFill>
          <a:ln/>
        </p:spPr>
        <p:txBody>
          <a:bodyPr wrap="square" lIns="0" tIns="0" rIns="0" bIns="0" rtlCol="0" anchor="t">
            <a:normAutofit/>
          </a:bodyPr>
          <a:lstStyle/>
          <a:p>
            <a:pPr algn="ctr" indent="0" marL="0">
              <a:lnSpc>
                <a:spcPts val="2220"/>
              </a:lnSpc>
              <a:buNone/>
            </a:pPr>
            <a:r>
              <a:rPr lang="en-US" sz="1200" b="1" dirty="0">
                <a:solidFill>
                  <a:srgbClr val="FFFFFF"/>
                </a:solidFill>
                <a:latin typeface="Inter" pitchFamily="34" charset="0"/>
                <a:ea typeface="Inter" pitchFamily="34" charset="-122"/>
                <a:cs typeface="Inter" pitchFamily="34" charset="-120"/>
              </a:rPr>
              <a:t>1</a:t>
            </a:r>
            <a:endParaRPr lang="en-US" sz="1200" dirty="0"/>
          </a:p>
        </p:txBody>
      </p:sp>
      <p:sp>
        <p:nvSpPr>
          <p:cNvPr id="8" name="Text 6"/>
          <p:cNvSpPr/>
          <p:nvPr/>
        </p:nvSpPr>
        <p:spPr>
          <a:xfrm>
            <a:off x="8991600" y="2615059"/>
            <a:ext cx="2459228" cy="452041"/>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24323D"/>
                </a:solidFill>
                <a:latin typeface="Inter" pitchFamily="34" charset="0"/>
                <a:ea typeface="Inter" pitchFamily="34" charset="-122"/>
                <a:cs typeface="Inter" pitchFamily="34" charset="-120"/>
              </a:rPr>
              <a:t>What the agent found</a:t>
            </a:r>
            <a:r>
              <a:rPr lang="en-US" sz="1200" dirty="0">
                <a:solidFill>
                  <a:srgbClr val="24323D"/>
                </a:solidFill>
                <a:latin typeface="Inter" pitchFamily="34" charset="0"/>
                <a:ea typeface="Inter" pitchFamily="34" charset="-122"/>
                <a:cs typeface="Inter" pitchFamily="34" charset="-120"/>
              </a:rPr>
              <a:t> and what it suggests</a:t>
            </a:r>
            <a:endParaRPr lang="en-US" sz="1200" dirty="0"/>
          </a:p>
        </p:txBody>
      </p:sp>
      <p:sp>
        <p:nvSpPr>
          <p:cNvPr id="9" name="Text 7"/>
          <p:cNvSpPr/>
          <p:nvPr/>
        </p:nvSpPr>
        <p:spPr>
          <a:xfrm>
            <a:off x="8534400" y="3219500"/>
            <a:ext cx="279400" cy="279400"/>
          </a:xfrm>
          <a:custGeom>
            <a:avLst/>
            <a:gdLst/>
            <a:ahLst/>
            <a:cxnLst/>
            <a:rect l="l" t="t" r="r" b="b"/>
            <a:pathLst>
              <a:path w="279400" h="279400">
                <a:moveTo>
                  <a:pt x="139700" y="0"/>
                </a:moveTo>
                <a:lnTo>
                  <a:pt x="139700" y="0"/>
                </a:lnTo>
                <a:arcTo hR="139700" wR="139700" stAng="16200000" swAng="5400000"/>
                <a:lnTo>
                  <a:pt x="279400" y="139700"/>
                </a:lnTo>
                <a:arcTo hR="139700" wR="139700" stAng="0" swAng="5400000"/>
                <a:lnTo>
                  <a:pt x="139700" y="279400"/>
                </a:lnTo>
                <a:arcTo hR="139700" wR="139700" stAng="5400000" swAng="5400000"/>
                <a:lnTo>
                  <a:pt x="0" y="139700"/>
                </a:lnTo>
                <a:arcTo hR="139700" wR="139700" stAng="10800000" swAng="5400000"/>
                <a:close/>
              </a:path>
            </a:pathLst>
          </a:custGeom>
          <a:solidFill>
            <a:srgbClr val="2251FF"/>
          </a:solidFill>
          <a:ln/>
        </p:spPr>
        <p:txBody>
          <a:bodyPr wrap="square" lIns="0" tIns="0" rIns="0" bIns="0" rtlCol="0" anchor="t">
            <a:normAutofit/>
          </a:bodyPr>
          <a:lstStyle/>
          <a:p>
            <a:pPr algn="ctr" indent="0" marL="0">
              <a:lnSpc>
                <a:spcPts val="2220"/>
              </a:lnSpc>
              <a:buNone/>
            </a:pPr>
            <a:r>
              <a:rPr lang="en-US" sz="1200" b="1" dirty="0">
                <a:solidFill>
                  <a:srgbClr val="FFFFFF"/>
                </a:solidFill>
                <a:latin typeface="Inter" pitchFamily="34" charset="0"/>
                <a:ea typeface="Inter" pitchFamily="34" charset="-122"/>
                <a:cs typeface="Inter" pitchFamily="34" charset="-120"/>
              </a:rPr>
              <a:t>2</a:t>
            </a:r>
            <a:endParaRPr lang="en-US" sz="1200" dirty="0"/>
          </a:p>
        </p:txBody>
      </p:sp>
      <p:sp>
        <p:nvSpPr>
          <p:cNvPr id="10" name="Text 8"/>
          <p:cNvSpPr/>
          <p:nvPr/>
        </p:nvSpPr>
        <p:spPr>
          <a:xfrm>
            <a:off x="8991600" y="3219500"/>
            <a:ext cx="2459228" cy="452041"/>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24323D"/>
                </a:solidFill>
                <a:latin typeface="Inter" pitchFamily="34" charset="0"/>
                <a:ea typeface="Inter" pitchFamily="34" charset="-122"/>
                <a:cs typeface="Inter" pitchFamily="34" charset="-120"/>
              </a:rPr>
              <a:t>Evidence and confidence,</a:t>
            </a:r>
            <a:r>
              <a:rPr lang="en-US" sz="1200" dirty="0">
                <a:solidFill>
                  <a:srgbClr val="24323D"/>
                </a:solidFill>
                <a:latin typeface="Inter" pitchFamily="34" charset="0"/>
                <a:ea typeface="Inter" pitchFamily="34" charset="-122"/>
                <a:cs typeface="Inter" pitchFamily="34" charset="-120"/>
              </a:rPr>
              <a:t> in plain view</a:t>
            </a:r>
            <a:endParaRPr lang="en-US" sz="1200" dirty="0"/>
          </a:p>
        </p:txBody>
      </p:sp>
      <p:sp>
        <p:nvSpPr>
          <p:cNvPr id="11" name="Text 9"/>
          <p:cNvSpPr/>
          <p:nvPr/>
        </p:nvSpPr>
        <p:spPr>
          <a:xfrm>
            <a:off x="8534400" y="3823940"/>
            <a:ext cx="279400" cy="279400"/>
          </a:xfrm>
          <a:custGeom>
            <a:avLst/>
            <a:gdLst/>
            <a:ahLst/>
            <a:cxnLst/>
            <a:rect l="l" t="t" r="r" b="b"/>
            <a:pathLst>
              <a:path w="279400" h="279400">
                <a:moveTo>
                  <a:pt x="139700" y="0"/>
                </a:moveTo>
                <a:lnTo>
                  <a:pt x="139700" y="0"/>
                </a:lnTo>
                <a:arcTo hR="139700" wR="139700" stAng="16200000" swAng="5400000"/>
                <a:lnTo>
                  <a:pt x="279400" y="139700"/>
                </a:lnTo>
                <a:arcTo hR="139700" wR="139700" stAng="0" swAng="5400000"/>
                <a:lnTo>
                  <a:pt x="139700" y="279400"/>
                </a:lnTo>
                <a:arcTo hR="139700" wR="139700" stAng="5400000" swAng="5400000"/>
                <a:lnTo>
                  <a:pt x="0" y="139700"/>
                </a:lnTo>
                <a:arcTo hR="139700" wR="139700" stAng="10800000" swAng="5400000"/>
                <a:close/>
              </a:path>
            </a:pathLst>
          </a:custGeom>
          <a:solidFill>
            <a:srgbClr val="2251FF"/>
          </a:solidFill>
          <a:ln/>
        </p:spPr>
        <p:txBody>
          <a:bodyPr wrap="square" lIns="0" tIns="0" rIns="0" bIns="0" rtlCol="0" anchor="t">
            <a:normAutofit/>
          </a:bodyPr>
          <a:lstStyle/>
          <a:p>
            <a:pPr algn="ctr" indent="0" marL="0">
              <a:lnSpc>
                <a:spcPts val="2220"/>
              </a:lnSpc>
              <a:buNone/>
            </a:pPr>
            <a:r>
              <a:rPr lang="en-US" sz="1200" b="1" dirty="0">
                <a:solidFill>
                  <a:srgbClr val="FFFFFF"/>
                </a:solidFill>
                <a:latin typeface="Inter" pitchFamily="34" charset="0"/>
                <a:ea typeface="Inter" pitchFamily="34" charset="-122"/>
                <a:cs typeface="Inter" pitchFamily="34" charset="-120"/>
              </a:rPr>
              <a:t>3</a:t>
            </a:r>
            <a:endParaRPr lang="en-US" sz="1200" dirty="0"/>
          </a:p>
        </p:txBody>
      </p:sp>
      <p:sp>
        <p:nvSpPr>
          <p:cNvPr id="12" name="Text 10"/>
          <p:cNvSpPr/>
          <p:nvPr/>
        </p:nvSpPr>
        <p:spPr>
          <a:xfrm>
            <a:off x="8991600" y="3823940"/>
            <a:ext cx="2459228" cy="452041"/>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24323D"/>
                </a:solidFill>
                <a:latin typeface="Inter" pitchFamily="34" charset="0"/>
                <a:ea typeface="Inter" pitchFamily="34" charset="-122"/>
                <a:cs typeface="Inter" pitchFamily="34" charset="-120"/>
              </a:rPr>
              <a:t>Approve, edit or decline:</a:t>
            </a:r>
            <a:r>
              <a:rPr lang="en-US" sz="1200" dirty="0">
                <a:solidFill>
                  <a:srgbClr val="24323D"/>
                </a:solidFill>
                <a:latin typeface="Inter" pitchFamily="34" charset="0"/>
                <a:ea typeface="Inter" pitchFamily="34" charset="-122"/>
                <a:cs typeface="Inter" pitchFamily="34" charset="-120"/>
              </a:rPr>
              <a:t> our people decide</a:t>
            </a:r>
            <a:endParaRPr lang="en-US" sz="1200" dirty="0"/>
          </a:p>
        </p:txBody>
      </p:sp>
      <p:sp>
        <p:nvSpPr>
          <p:cNvPr id="13" name="Shape 11"/>
          <p:cNvSpPr/>
          <p:nvPr/>
        </p:nvSpPr>
        <p:spPr>
          <a:xfrm>
            <a:off x="8534400" y="4431556"/>
            <a:ext cx="2844800" cy="0"/>
          </a:xfrm>
          <a:prstGeom prst="line">
            <a:avLst/>
          </a:prstGeom>
          <a:noFill/>
          <a:ln w="6350">
            <a:solidFill>
              <a:srgbClr val="D5DCE2"/>
            </a:solidFill>
            <a:prstDash val="solid"/>
          </a:ln>
        </p:spPr>
      </p:sp>
      <p:sp>
        <p:nvSpPr>
          <p:cNvPr id="14" name="Text 12"/>
          <p:cNvSpPr/>
          <p:nvPr/>
        </p:nvSpPr>
        <p:spPr>
          <a:xfrm>
            <a:off x="8534400" y="4561731"/>
            <a:ext cx="2930144" cy="452041"/>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2251FF"/>
                </a:solidFill>
                <a:latin typeface="Inter" pitchFamily="34" charset="0"/>
                <a:ea typeface="Inter" pitchFamily="34" charset="-122"/>
                <a:cs typeface="Inter" pitchFamily="34" charset="-120"/>
              </a:rPr>
              <a:t>What we need next: a sponsor, a pilot line of business and data access.</a:t>
            </a:r>
            <a:endParaRPr lang="en-US" sz="1200" dirty="0"/>
          </a:p>
        </p:txBody>
      </p:sp>
      <p:sp>
        <p:nvSpPr>
          <p:cNvPr id="15" name="Text 13"/>
          <p:cNvSpPr/>
          <p:nvPr/>
        </p:nvSpPr>
        <p:spPr>
          <a:xfrm>
            <a:off x="812800" y="6238280"/>
            <a:ext cx="2366546"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680"/>
                </a:solidFill>
                <a:latin typeface="Inter" pitchFamily="34" charset="0"/>
                <a:ea typeface="Inter" pitchFamily="34" charset="-122"/>
                <a:cs typeface="Inter" pitchFamily="34" charset="-120"/>
              </a:rPr>
              <a:t>Enterprise Intelligence | FIS</a:t>
            </a:r>
            <a:endParaRPr lang="en-US" sz="1200" dirty="0"/>
          </a:p>
        </p:txBody>
      </p:sp>
      <p:sp>
        <p:nvSpPr>
          <p:cNvPr id="16" name="Text 14"/>
          <p:cNvSpPr/>
          <p:nvPr/>
        </p:nvSpPr>
        <p:spPr>
          <a:xfrm>
            <a:off x="11142514" y="6238280"/>
            <a:ext cx="236686"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B7680"/>
                </a:solidFill>
                <a:latin typeface="Inter" pitchFamily="34" charset="0"/>
                <a:ea typeface="Inter" pitchFamily="34" charset="-122"/>
                <a:cs typeface="Inter" pitchFamily="34" charset="-120"/>
              </a:rPr>
              <a:t>22</a:t>
            </a:r>
            <a:endParaRPr lang="en-US" sz="1200" dirty="0"/>
          </a:p>
        </p:txBody>
      </p:sp>
    </p:spTree>
  </p:cSld>
  <p:clrMapOvr>
    <a:masterClrMapping/>
  </p:clrMapOvr>
</p:sld>
</file>

<file path=ppt/theme/theme1.xml><?xml version="1.0" encoding="utf-8"?>
<a:theme xmlns:a="http://schemas.openxmlformats.org/drawingml/2006/main" name="Enterprise Intelligence: From Aggregated to Orchestrated">
  <a:themeElements>
    <a:clrScheme name="Enterprise Intelligence: From Aggregated to Orchestrated">
      <a:dk1>
        <a:srgbClr val="051C2C"/>
      </a:dk1>
      <a:lt1>
        <a:srgbClr val="FBFBF9"/>
      </a:lt1>
      <a:dk2>
        <a:srgbClr val="43545F"/>
      </a:dk2>
      <a:lt2>
        <a:srgbClr val="E2E5E5"/>
      </a:lt2>
      <a:accent1>
        <a:srgbClr val="2251FF"/>
      </a:accent1>
      <a:accent2>
        <a:srgbClr val="00A9F4"/>
      </a:accent2>
      <a:accent3>
        <a:srgbClr val="5F86B0"/>
      </a:accent3>
      <a:accent4>
        <a:srgbClr val="7F9DB8"/>
      </a:accent4>
      <a:accent5>
        <a:srgbClr val="6B7680"/>
      </a:accent5>
      <a:accent6>
        <a:srgbClr val="3C4A55"/>
      </a:accent6>
      <a:hlink>
        <a:srgbClr val="0563C1"/>
      </a:hlink>
      <a:folHlink>
        <a:srgbClr val="954F72"/>
      </a:folHlink>
    </a:clrScheme>
    <a:fontScheme name="Enterprise Intelligence: From Aggregated to Orchestrated">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Enterprise Intelligence: From Aggregated to Orchestrated</dc:title>
  <dc:subject/>
  <dc:description>The font files embedded in this presentation (stored inside it under ppt/fonts/) are files Google Fonts served when the presentation was exported, unpacked from WOFF2 to TrueType and wrapped as Embedded OpenType, the form PowerPoint reads. A file that named another cut of its family, unless it reserves that name, was also changed where it could be, so that PowerPoint matches it to this presentation’s text: its family and style names and the weight and style it declares were rewritten, and any digital signature, which no longer matched, was removed. Google Fonts serves each family in parts, one file per range of characters, so these may not be a family’s complete files. Each family’s copyright lines and license follow, and each family stays under its own license; if you pass this file on, keep these notices with it.
Inter
Copyright 2020 The Inter Project Authors (https://github.com/rsms/inter)
This Font Software is licensed under the SIL Open Font License, Version 1.1.
This license is copied below, and is also available with a FAQ at:
https://scripts.sil.org/OFL
-----------------------------------------------------------
SIL OPEN FONT LICENSE Version 1.1 - 26 February 2007
-----------------------------------------------------------
PREAMBLE
The goals of the Open Font License (OFL) are to stimulate worldwide
development of collaborative font projects, to support the font creation
efforts of academic and linguistic communities, and to provide a free and
open framework in which fonts may be shared and improved in partnership
with others.
The OFL allows the licensed fonts to be used, studied, modified and
redistributed freely as long as they are not sold by themselves. The
fonts, including any derivative works, can be bundled, embedded,
redistributed and/or sold with any software provided that any reserved
names are not used by derivative works. The fonts and derivatives,
however, cannot be released under any other type of license. The
requirement for fonts to remain under this license does not apply
to any document created using the fonts or their derivatives.
DEFINITIONS
"Font Software" refers to the set of files released by the Copyright
Holder(s) under this license and clearly marked as such. This may
include source files, build scripts and documentation.
"Reserved Font Name" refers to any names specified as such after the
copyright statement(s).
"Original Version" refers to the collection of Font Software components as
distributed by the Copyright Holder(s).
"Modified Version" refers to any derivative made by adding to, deleting,
or substituting -- in part or in whole -- any of the components of the
Original Version, by changing formats or by porting the Font Software to a
new environment.
"Author" refers to any designer, engineer, programmer, technical
writer or other person who contributed to the Font Software.
PERMISSION &amp; CONDITIONS
Permission is hereby granted, free of charge, to any person obtaining
a copy of the Font Software, to use, study, copy, merge, embed, modify,
redistribute, and sell modified and unmodified copies of the Font
Software, subject to the following conditions:
1) Neither the Font Software nor any of its individual components,
in Original or Modified Versions, may be sold by itself.
2) Original or Modified Versions of the Font Software may be bundled,
redistributed and/or sold with any software, provided that each copy
contains the above copyright notice and this license. These can be
included either as stand-alone text files, human-readable headers or
in the appropriate machine-readable metadata fields within text or
binary files as long as those fields can be easily viewed by the user.
3) No Modified Version of the Font Software may use the Reserved Font
Name(s) unless explicit written permission is granted by the corresponding
Copyright Holder. This restriction only applies to the primary font name as
presented to the users.
4) The name(s) of the Copyright Holder(s) or the Author(s) of the Font
Software shall not be used to promote, endorse or advertise any
Modified Version, except to acknowledge the contribution(s) of the
Copyright Holder(s) and the Author(s) or with their explicit written
permission.
5) The Font Software, modified or unmodified, in part or in whole,
must be distributed entirely under this license, and must not be
distributed under any other license. The requirement for fonts to
remain under this license does not apply to any document created
using the Font Software.
TERMINATION
This license becomes null and void if any of the above conditions are
not met.
DISCLAIMER
THE FONT SOFTWARE IS PROVIDED "AS IS", WITHOUT WARRANTY OF ANY KIND,
EXPRESS OR IMPLIED, INCLUDING BUT NOT LIMITED TO ANY WARRANTIES OF
MERCHANTABILITY, FITNESS FOR A PARTICULAR PURPOSE AND NONINFRINGEMENT
OF COPYRIGHT, PATENT, TRADEMARK, OR OTHER RIGHT. IN NO EVENT SHALL THE
COPYRIGHT HOLDER BE LIABLE FOR ANY CLAIM, DAMAGES OR OTHER LIABILITY,
INCLUDING ANY GENERAL, SPECIAL, INDIRECT, INCIDENTAL, OR CONSEQUENTIAL
DAMAGES, WHETHER IN AN ACTION OF CONTRACT, TORT OR OTHERWISE, ARISING
FROM, OUT OF THE USE OR INABILITY TO USE THE FONT SOFTWARE OR FROM
OTHER DEALINGS IN THE FONT SOFTWARE.
</dc:description>
  <dc:creator/>
  <cp:lastModifiedBy/>
  <cp:revision>1</cp:revision>
  <dcterms:created xsi:type="dcterms:W3CDTF">2026-10-29T12:32:16Z</dcterms:created>
  <dcterms:modified xsi:type="dcterms:W3CDTF">2026-10-29T12:32:16Z</dcterms:modified>
</cp:coreProperties>
</file>